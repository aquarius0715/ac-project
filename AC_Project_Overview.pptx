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Thank you for your time today. I'd like to report on the AC Project — specifically, the frontend design documentation I've been working on. I'll walk through the Prepare Document, the Requirements, the Design, the UI/UX Specification, and the AI agent process used to produce them. This is a summary of the key points; I'm happy to go into more detail on anything you'd like.
日本語台本:
本日はお時間をいただき、ありがとうございます。私が取り組んでいるACプロジェクトについて、フロントエンド設計ドキュメントの進捗をご報告させていただきます。PrepareDocument、要件定義書、設計書、UI/UX仕様書、そしてこれらを作成する際に用いたAIエージェントによる開発プロセスについて、順にご説明します。本日は要点のみをまとめておりますので、詳細が必要な部分があれば随時ご質問いただければ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First, let me explain what this project is about. The goal is a platform that lets customers monitor and remotely control air conditioning units, manage maintenance, and track energy savings and environmental impact — including payment management for rent-to-own contracts and carbon offset tracking. There are four types of users: clients, contractors, technicians, and HQ administrators. One important point I want to highlight is that what I'm presenting today is frontend design only — a clickable demo with simulated data, not a real device connection or backend.
日本語台本:
まず、本プロジェクトの概要についてご説明します。目的は、お客様がエアコンの状態を監視・遠隔操作でき、メンテナンスを管理し、省エネと環境負荷を追跡できるプラットフォームを構築することです。RTO(分割払い後に所有権が移転する契約)の支払管理や、カーボンオフセットの追跡も含まれます。利用者は「顧客」「請負業者」「技術者」「本社管理者」の4種類を想定しています。ここで強調しておきたいのは、今回ご説明するのはフロントエンドの設計のみであり、実機接続や実際のバックエンドは含まれていない、合成データによるクリック可能なデモであるという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Next, I'll explain the scope of what I'm covering today. The project is planned in three stages. Phase 1A, which is where I currently am, is a clickable frontend demo for split AC units only, using synthetic data. Phase 1B would build the complete solution with real devices, firmware, and production API integration. Phase 2 would then expand to HVAC systems and additional brands. The documents I'm presenting today cover Phase 1A only.
日本語台本:
続いて、今回の発表の対象範囲についてご説明します。本プロジェクトは3段階で計画されています。現在私が取り組んでいるフェーズ1Aは、スプリットタイプのエアコンのみを対象とした、合成データによるクリック可能なフロントエンドデモです。フェーズ1Bでは、実機・ファームウェア・本番APIとの連携を含む完全なソリューションを構築する予定です。フェーズ2では、HVAC(セントラル空調)やその他のブランドへ対象を拡大します。本日ご説明するドキュメントは、フェーズ1Aのみを対象と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This platform assumes four types of users. Clients monitor their own units, adjust temperature, request maintenance, and manage payments. Contractors accept job offers from HQ and manage their own technicians. Technicians — both internal staff and external contractors' staff — carry out inspections, diagnostics, and submit work reports. And HQ administrators manage the whole operation. One thing I should mention is that the contractor role was something I added during the design process — it isn't explicitly stated in the original requirements from the company, so I've marked it as an open item that still needs confirmation.
日本語台本:
本プラットフォームでは4種類の利用者を想定しています。顧客(Client)は自分のユニットの状態確認・温度調整・メンテナンス依頼・支払い管理を行います。請負業者(Contractor)は本社からの案件を受託し、自社の技術者を管理します。技術者(Technician)は社内・社外を問わず、点検・診断・作業報告書の提出を行います。そして本社管理者(Administrator/HQ)が全体を管理します。1点補足させていただくと、請負業者という役割は、設計を進める中で私が追加したもので、会社側の原文の要件には明記されていません。そのため、今後確認が必要な未解決事項として扱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Now I'd like to summarize the requirements at a high level, before going into the requirement documents themselves. I grouped them into six areas: monitoring and alerts, remote control and automation, the maintenance workflow, payments and restrictions, energy and air quality, and IoT and carbon reporting. I'll go into the actual requirement documents in the next two slides.
日本語台本:
要件定義書そのものに入る前に、要件全体を俯瞰できるよう、6つの領域に大きく分類しました。監視とアラート、遠隔操作と自動化、メンテナンスワークフロー、支払いと制限、省エネと空気質、そしてIoTとカーボン報告です。次の2枚のスライドで、実際の要件定義書の内容についてご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This is the common requirements document, which applies to all four roles. It defines seven platform-level rules: sign-in and language selection, the voice and text assistant, how severity and data quality are displayed, permission and scope enforcement, shared demo data behavior, capability-aware controls, and notifications with audit history. I treated these as foundational rules that every screen must follow, rather than user-facing features on their own.
日本語台本:
これは4つの役割すべてに共通して適用される、共通要件定義書の内容です。認証と言語選択、音声・テキストアシスタント、重要度とデータ品質の表示方法、権限とスコープの制御、共有デモデータの挙動、機能対応可否に応じた操作制御、そして通知と監査履歴という7つのプラットフォーム共通ルールを定義しています。これらは個別の機能というより、すべての画面が従うべき基盤的なルールとして位置づけ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Beyond the common rules, I wrote a separate requirements document for each role. Clients have thirteen requirements covering monitoring, control, payments, and environmental data. Contractors have eight, focused on accepting and managing outsourced work. Technicians have twelve, covering inspections, diagnostics, and work reports. And administrators have sixteen — the largest set — covering company-wide management. In total, that's fifty-six functional requirements, and every one of them traces back to a specific request in the original company document, which I think is important for showing this isn't something I invented arbitrarily.
日本語台本:
共通ルールに加えて、各役割ごとに個別の要件定義書を作成しました。顧客(Client)は監視・制御・支払い・環境データにまたがる13件、請負業者(Contractor)は委託業務の受託・管理を中心とした8件、技術者(Technician)は点検・診断・作業報告を含む12件、そして管理者(Administrator)は登録からポリシー、請求、省エネ、監査までを含む最も多い16件です。合計56件の機能要件があり、そのすべてが会社から提示された原文の要件のどこかに対応づけられるようにしています。この点は、自分の判断だけで機能を追加したわけではないことを示す上で重要だ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Next, I'll explain the architecture I designed. I followed a strict layered pattern: pages call feature hooks, which call a repository interface, which is currently implemented by a mock adapter using in-memory data. The reason I designed it this way is so that the UI never touches data access directly — when a real backend becomes available later, I can just swap in a new adapter without rewriting the screens. I also made sure all four roles share one consistent mock dataset with a fixed seed, so switching roles in the demo doesn't show inconsistent data.
日本語台本:
続いて、私が設計したアーキテクチャについてご説明します。Page(画面)がFeature Hookを呼び出し、それがRepositoryインターフェースを呼び出し、現時点ではメモリ上のモックデータを使うMock Adapterがそれを実装する、という厳格なレイヤー構造を採用しました。このように設計した理由は、UI層がデータ取得処理に直接触れないようにするためです。将来実際のバックエンドが用意された際も、画面側のコードを書き換えることなく、アダプターを差し替えるだけで対応できます。また、4つの役割すべてが同じ固定シード値のモックデータを共有するようにしており、デモ内で役割を切り替えてもデータに矛盾が生じないよう配慮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There are three principles I kept in mind throughout the design. First, strict permission scoping — every action rechecks tenant, role, assignment, and valid time period, not just what's shown in a menu. Second, honest state and data quality — I made sure missing data is never silently shown as zero, and that a command isn't shown as successful until the device actually confirms it. Third, full traceability — every requirement can be traced back to the original company request. I set these three principles for myself early on, and tried to apply them consistently across the entire design.
日本語台本:
設計全体を通して、私が意識した原則が3つあります。1つ目は「厳格な権限スコープ管理」で、メニュー表示だけでなく、すべての操作においてテナント・役割・担当範囲・有効期間を都度再チェックするようにしました。2つ目は「誠実な状態表示とデータ品質」で、欠損データを勝手に0として表示せず、デバイスからの確認応答があるまで操作を「成功」として表示しないようにしています。3つ目は「完全なトレーサビリティ」で、すべての要件を元の会社要件まで遡って追跡できるようにしました。この3つの原則は設計の初期段階で自分なりに設定し、全体を通して一貫して適用するよう心がけ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For the visual design, I based the appearance on a reference design the company provided — their existing Loyalty page. I extracted its colors, fonts, spacing, and card shapes into a reusable set of design tokens, which you can see summarized here: the primary blue, a soft background, dark navy text, and clear color coding for success, warning, and critical states. I used Plus Jakarta Sans for body text and a monospace font for IDs like serial numbers, to keep those easy to scan.
日本語台本:
ビジュアルデザインについては、会社から提供された参考デザイン、既存のLoyaltyページを基にしました。その配色・フォント・余白・カードの形状を、こちらにまとめたような再利用可能なデザイントークンとして抽出しています。プライマリカラーの青、淡い背景色、濃紺のテキスト、そして成功・警告・重大それぞれの状態を示す色分けです。本文にはPlus Jakarta Sansを、シリアル番号などのIDには等幅フォントを使用し、視認性を高めるようにしました。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Rather than designing every screen individually, I defined six reusable page patterns — overview dashboards, lists, detail pages, forms, analysis views with charts, and timelines for history. Every role's screens are built by combining these same six patterns with a shared component library, which I listed at the bottom here. I took this approach mainly to keep the four roles visually and behaviorally consistent, and to reduce the amount of design work needed as the project grows.
日本語台本:
すべての画面を個別に設計するのではなく、6つの再利用可能なページパターンを定義しました。ダッシュボード、一覧、詳細、フォーム、グラフ付きの分析画面、そして履歴用のタイムラインです。各役割の画面は、これら6つのパターンと、下部に記載した共通コンポーネントライブラリを組み合わせて構成しています。このようにした主な理由は、4つの役割間で見た目と操作性の一貫性を保つことと、プロジェクトが大きくなっても設計の手間を抑え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Finally, I'd like to explain the Agentic SDLC — the AI-agent-based process I defined for how this project should be built and reviewed. To be precise, this defines five agent roles — orchestration, design, implementation, test, and review — and six quality gates from G0 through G5, but I want to be clear that this is a defined framework, not something all five roles have actually executed. In practice, only the design and review roles have actually been used to produce these documents: across versions 0.7.0 through 0.21.0, I went through repeated rounds of drafting and independent review, and each round left behind concrete evidence — gate records, findings files, and a traceability matrix — which I then used to make corrections. The implementation and test roles, and the gates beyond G1, are defined in the framework but haven't been carried out yet, since actual coding hasn't started.
日本語台本:
最後に、Agentic SDLCについてご説明します。これは、本プロジェクトをどのように構築・レビューしていくかを定義した、AIエージェントを用いたプロセスです。正確には、Orchestration(統括)、Design(設計)、Implementation(実装)、Test(検証)、Review(レビュー)という5つのエージェントの役割と、G0からG5までの6つの品質ゲートを定義したものであり、この5つすべてが実際に動いたわけではない、という点は明確にしておきたいと思います。実際にドキュメント作成に使われたのはDesignとReviewの役割のみで、バージョン0.7.0から0.21.0にかけて、ドラフト作成と独立レビューを繰り返し、その都度ゲート記録・指摘事項ファイル・トレーサビリティマトリクスという具体的な証跡を残しながら修正を重ねてきました。ImplementationとTestの役割、そしてG1より先のゲートについては、フレームワークとしては定義していますが、実際のコーディングがまだ始まっていないため、まだ実行し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SCRIPT:
To summarize where things stand: the current version, 0.21.0, is the English translation of the finalized specification baseline, and it has already been through multiple rounds of independent AI review and correction. As for next steps, I plan to have an independent reviewer reassess this English version, then get a formal acceptance decision, and only after that would actual implementation begin. That's everything I wanted to report today — the full detail, including every acceptance test and edge case, is in the five source documents if you'd like to look further. Thank you very much for listening, and I'd appreciate any feedback or guidance you might have.
日本語台本:
最後に、現状を整理します。現在のバージョン0.21.0は、確定した仕様書のベースラインを英語に翻訳したもので、既に複数回の独立AIレビューと修正を経ています。今後は、この英語版について独立レビューによる再評価を行い、その後正式な受け入れ判断を経て、実際の実装に着手する予定です。本日ご報告したかった内容は以上になります。すべての受け入れテストやエッジケースを含む詳細は、5つの元ドキュメントに記載しておりますので、ご興味があればご覧いただければと思います。ご清聴いただき、ありがとうございました。ご指摘・ご指導のほど、何卒よろしくお願いいた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6.png"/><Relationship Id="rId8" Type="http://schemas.openxmlformats.org/officeDocument/2006/relationships/image" Target="../media/image-8-6.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238"/>
        </a:solidFill>
      </p:bgPr>
    </p:bg>
    <p:spTree>
      <p:nvGrpSpPr>
        <p:cNvPr id="1" name=""/>
        <p:cNvGrpSpPr/>
        <p:nvPr/>
      </p:nvGrpSpPr>
      <p:grpSpPr>
        <a:xfrm>
          <a:off x="0" y="0"/>
          <a:ext cx="0" cy="0"/>
          <a:chOff x="0" y="0"/>
          <a:chExt cx="0" cy="0"/>
        </a:xfrm>
      </p:grpSpPr>
      <p:pic>
        <p:nvPicPr>
          <p:cNvPr id="2" name="Image 0" descr="/private/tmp/claude-501/-Users-ji1wxs-PraditaProjects-AC-Project/3c2d6cf5-1769-4cbb-8b1c-24143069dbcc/scratchpad/icons/FiWind_9DB4CE_300.png">    </p:cNvPr>
          <p:cNvPicPr>
            <a:picLocks noChangeAspect="1"/>
          </p:cNvPicPr>
          <p:nvPr/>
        </p:nvPicPr>
        <p:blipFill>
          <a:blip r:embed="rId1">
            <a:alphaModFix amt="22000"/>
          </a:blip>
          <a:stretch>
            <a:fillRect/>
          </a:stretch>
        </p:blipFill>
        <p:spPr>
          <a:xfrm>
            <a:off x="7955280" y="1005840"/>
            <a:ext cx="3749040" cy="3749040"/>
          </a:xfrm>
          <a:prstGeom prst="rect">
            <a:avLst/>
          </a:prstGeom>
        </p:spPr>
      </p:pic>
      <p:sp>
        <p:nvSpPr>
          <p:cNvPr id="3" name="Text 0"/>
          <p:cNvSpPr txBox="1"/>
          <p:nvPr/>
        </p:nvSpPr>
        <p:spPr>
          <a:xfrm>
            <a:off x="822960" y="1783080"/>
            <a:ext cx="8229600" cy="320040"/>
          </a:xfrm>
          <a:prstGeom prst="rect">
            <a:avLst/>
          </a:prstGeom>
          <a:noFill/>
          <a:ln/>
        </p:spPr>
        <p:txBody>
          <a:bodyPr wrap="square" lIns="0" tIns="0" rIns="0" bIns="0" rtlCol="0" anchor="ctr"/>
          <a:lstStyle/>
          <a:p>
            <a:pPr indent="0" marL="0">
              <a:buNone/>
            </a:pPr>
            <a:r>
              <a:rPr lang="en-US" sz="1300" b="1" spc="250" kern="0" dirty="0">
                <a:solidFill>
                  <a:srgbClr val="8FB3EA"/>
                </a:solidFill>
                <a:latin typeface="Calibri" pitchFamily="34" charset="0"/>
                <a:ea typeface="Calibri" pitchFamily="34" charset="-122"/>
                <a:cs typeface="Calibri" pitchFamily="34" charset="-120"/>
              </a:rPr>
              <a:t>FRONTEND DESIGN DOCUMENTATION OVERVIEW</a:t>
            </a:r>
            <a:endParaRPr lang="en-US" sz="1300" dirty="0"/>
          </a:p>
        </p:txBody>
      </p:sp>
      <p:sp>
        <p:nvSpPr>
          <p:cNvPr id="4" name="Text 1"/>
          <p:cNvSpPr txBox="1"/>
          <p:nvPr/>
        </p:nvSpPr>
        <p:spPr>
          <a:xfrm>
            <a:off x="777240" y="2148840"/>
            <a:ext cx="8686800" cy="114300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AC Project</a:t>
            </a:r>
            <a:endParaRPr lang="en-US" sz="5600" dirty="0"/>
          </a:p>
        </p:txBody>
      </p:sp>
      <p:sp>
        <p:nvSpPr>
          <p:cNvPr id="5" name="Text 2"/>
          <p:cNvSpPr txBox="1"/>
          <p:nvPr/>
        </p:nvSpPr>
        <p:spPr>
          <a:xfrm>
            <a:off x="822960" y="3246120"/>
            <a:ext cx="8229600" cy="457200"/>
          </a:xfrm>
          <a:prstGeom prst="rect">
            <a:avLst/>
          </a:prstGeom>
          <a:noFill/>
          <a:ln/>
        </p:spPr>
        <p:txBody>
          <a:bodyPr wrap="square" lIns="0" tIns="0" rIns="0" bIns="0" rtlCol="0" anchor="ctr"/>
          <a:lstStyle/>
          <a:p>
            <a:pPr indent="0" marL="0">
              <a:buNone/>
            </a:pPr>
            <a:r>
              <a:rPr lang="en-US" sz="2000" dirty="0">
                <a:solidFill>
                  <a:srgbClr val="C7DAF2"/>
                </a:solidFill>
                <a:latin typeface="Calibri" pitchFamily="34" charset="0"/>
                <a:ea typeface="Calibri" pitchFamily="34" charset="-122"/>
                <a:cs typeface="Calibri" pitchFamily="34" charset="-120"/>
              </a:rPr>
              <a:t>Smart AC Monitoring, Control &amp; Maintenance Platform</a:t>
            </a:r>
            <a:endParaRPr lang="en-US" sz="2000" dirty="0"/>
          </a:p>
        </p:txBody>
      </p:sp>
      <p:sp>
        <p:nvSpPr>
          <p:cNvPr id="6" name="Text 3"/>
          <p:cNvSpPr txBox="1"/>
          <p:nvPr/>
        </p:nvSpPr>
        <p:spPr>
          <a:xfrm>
            <a:off x="822960" y="3977640"/>
            <a:ext cx="9326880" cy="365760"/>
          </a:xfrm>
          <a:prstGeom prst="rect">
            <a:avLst/>
          </a:prstGeom>
          <a:noFill/>
          <a:ln/>
        </p:spPr>
        <p:txBody>
          <a:bodyPr wrap="square" lIns="0" tIns="0" rIns="0" bIns="0" rtlCol="0" anchor="ctr"/>
          <a:lstStyle/>
          <a:p>
            <a:pPr indent="0" marL="0">
              <a:buNone/>
            </a:pPr>
            <a:r>
              <a:rPr lang="en-US" sz="1350" i="1" dirty="0">
                <a:solidFill>
                  <a:srgbClr val="7C93AC"/>
                </a:solidFill>
                <a:latin typeface="Calibri" pitchFamily="34" charset="0"/>
                <a:ea typeface="Calibri" pitchFamily="34" charset="-122"/>
                <a:cs typeface="Calibri" pitchFamily="34" charset="-120"/>
              </a:rPr>
              <a:t>PrepareDocument  ·  Requirements  ·  Design  ·  UI/UX Specification  ·  Agentic SDLC</a:t>
            </a:r>
            <a:endParaRPr lang="en-US" sz="1350" dirty="0"/>
          </a:p>
        </p:txBody>
      </p:sp>
      <p:sp>
        <p:nvSpPr>
          <p:cNvPr id="7" name="Shape 4"/>
          <p:cNvSpPr/>
          <p:nvPr/>
        </p:nvSpPr>
        <p:spPr>
          <a:xfrm>
            <a:off x="841248" y="5989320"/>
            <a:ext cx="2926080" cy="0"/>
          </a:xfrm>
          <a:prstGeom prst="line">
            <a:avLst/>
          </a:prstGeom>
          <a:noFill/>
          <a:ln w="12700">
            <a:solidFill>
              <a:srgbClr val="24405E"/>
            </a:solidFill>
            <a:prstDash val="solid"/>
          </a:ln>
        </p:spPr>
      </p:sp>
      <p:sp>
        <p:nvSpPr>
          <p:cNvPr id="8" name="Text 5"/>
          <p:cNvSpPr txBox="1"/>
          <p:nvPr/>
        </p:nvSpPr>
        <p:spPr>
          <a:xfrm>
            <a:off x="822960" y="6126480"/>
            <a:ext cx="9601200" cy="320040"/>
          </a:xfrm>
          <a:prstGeom prst="rect">
            <a:avLst/>
          </a:prstGeom>
          <a:noFill/>
          <a:ln/>
        </p:spPr>
        <p:txBody>
          <a:bodyPr wrap="square" lIns="0" tIns="0" rIns="0" bIns="0" rtlCol="0" anchor="ctr"/>
          <a:lstStyle/>
          <a:p>
            <a:pPr indent="0" marL="0">
              <a:buNone/>
            </a:pPr>
            <a:r>
              <a:rPr lang="en-US" sz="1200" dirty="0">
                <a:solidFill>
                  <a:srgbClr val="6E86A0"/>
                </a:solidFill>
                <a:latin typeface="Calibri" pitchFamily="34" charset="0"/>
                <a:ea typeface="Calibri" pitchFamily="34" charset="-122"/>
                <a:cs typeface="Calibri" pitchFamily="34" charset="-120"/>
              </a:rPr>
              <a:t>Version 0.21.0  ·  Phase 1A — Clickable Frontend Demo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01 · PROJECT OVERVIEW</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What We're Building</a:t>
            </a:r>
            <a:endParaRPr lang="en-US" sz="3000" dirty="0"/>
          </a:p>
        </p:txBody>
      </p:sp>
      <p:sp>
        <p:nvSpPr>
          <p:cNvPr id="4" name="Text 2"/>
          <p:cNvSpPr txBox="1"/>
          <p:nvPr/>
        </p:nvSpPr>
        <p:spPr>
          <a:xfrm>
            <a:off x="640080" y="1536192"/>
            <a:ext cx="10908792" cy="777240"/>
          </a:xfrm>
          <a:prstGeom prst="rect">
            <a:avLst/>
          </a:prstGeom>
          <a:noFill/>
          <a:ln/>
        </p:spPr>
        <p:txBody>
          <a:bodyPr wrap="square" lIns="0" tIns="0" rIns="0" bIns="0" rtlCol="0" anchor="ctr"/>
          <a:lstStyle/>
          <a:p>
            <a:pPr indent="0" marL="0">
              <a:lnSpc>
                <a:spcPct val="125000"/>
              </a:lnSpc>
              <a:buNone/>
            </a:pPr>
            <a:r>
              <a:rPr lang="en-US" sz="1500" dirty="0">
                <a:solidFill>
                  <a:srgbClr val="5C6E82"/>
                </a:solidFill>
                <a:latin typeface="Calibri" pitchFamily="34" charset="0"/>
                <a:ea typeface="Calibri" pitchFamily="34" charset="-122"/>
                <a:cs typeface="Calibri" pitchFamily="34" charset="-120"/>
              </a:rPr>
              <a:t>A platform for AC monitoring, remote control, and maintenance — extending to energy savings, air quality, RTO payment management, and carbon tracking. Built for four groups of users: clients, contractors, technicians, and HQ administrators.</a:t>
            </a:r>
            <a:endParaRPr lang="en-US" sz="1500" dirty="0"/>
          </a:p>
        </p:txBody>
      </p:sp>
      <p:sp>
        <p:nvSpPr>
          <p:cNvPr id="5" name="Shape 3"/>
          <p:cNvSpPr/>
          <p:nvPr/>
        </p:nvSpPr>
        <p:spPr>
          <a:xfrm>
            <a:off x="640080" y="2514600"/>
            <a:ext cx="2542032" cy="1920240"/>
          </a:xfrm>
          <a:prstGeom prst="roundRect">
            <a:avLst>
              <a:gd name="adj" fmla="val 476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6" name="Shape 4"/>
          <p:cNvSpPr/>
          <p:nvPr/>
        </p:nvSpPr>
        <p:spPr>
          <a:xfrm>
            <a:off x="1600200" y="2752344"/>
            <a:ext cx="621792" cy="621792"/>
          </a:xfrm>
          <a:prstGeom prst="ellipse">
            <a:avLst/>
          </a:prstGeom>
          <a:solidFill>
            <a:srgbClr val="005BEA"/>
          </a:solidFill>
          <a:ln/>
        </p:spPr>
      </p:sp>
      <p:pic>
        <p:nvPicPr>
          <p:cNvPr id="7" name="Image 0" descr="/private/tmp/claude-501/-Users-ji1wxs-PraditaProjects-AC-Project/3c2d6cf5-1769-4cbb-8b1c-24143069dbcc/scratchpad/icons/FiMonitor_FFFFFF_300.png">    </p:cNvPr>
          <p:cNvPicPr>
            <a:picLocks noChangeAspect="1"/>
          </p:cNvPicPr>
          <p:nvPr/>
        </p:nvPicPr>
        <p:blipFill>
          <a:blip r:embed="rId1"/>
          <a:stretch>
            <a:fillRect/>
          </a:stretch>
        </p:blipFill>
        <p:spPr>
          <a:xfrm>
            <a:off x="1749430" y="2901574"/>
            <a:ext cx="323332" cy="323332"/>
          </a:xfrm>
          <a:prstGeom prst="rect">
            <a:avLst/>
          </a:prstGeom>
        </p:spPr>
      </p:pic>
      <p:sp>
        <p:nvSpPr>
          <p:cNvPr id="8" name="Text 5"/>
          <p:cNvSpPr txBox="1"/>
          <p:nvPr/>
        </p:nvSpPr>
        <p:spPr>
          <a:xfrm>
            <a:off x="749808" y="3465576"/>
            <a:ext cx="2322576" cy="320040"/>
          </a:xfrm>
          <a:prstGeom prst="rect">
            <a:avLst/>
          </a:prstGeom>
          <a:noFill/>
          <a:ln/>
        </p:spPr>
        <p:txBody>
          <a:bodyPr wrap="square" lIns="0" tIns="0" rIns="0" bIns="0" rtlCol="0" anchor="ctr"/>
          <a:lstStyle/>
          <a:p>
            <a:pPr algn="ctr" indent="0" marL="0">
              <a:buNone/>
            </a:pPr>
            <a:r>
              <a:rPr lang="en-US" sz="1600" b="1" dirty="0">
                <a:solidFill>
                  <a:srgbClr val="0D2238"/>
                </a:solidFill>
                <a:latin typeface="Cambria" pitchFamily="34" charset="0"/>
                <a:ea typeface="Cambria" pitchFamily="34" charset="-122"/>
                <a:cs typeface="Cambria" pitchFamily="34" charset="-120"/>
              </a:rPr>
              <a:t>Monitor</a:t>
            </a:r>
            <a:endParaRPr lang="en-US" sz="1600" dirty="0"/>
          </a:p>
        </p:txBody>
      </p:sp>
      <p:sp>
        <p:nvSpPr>
          <p:cNvPr id="9" name="Text 6"/>
          <p:cNvSpPr txBox="1"/>
          <p:nvPr/>
        </p:nvSpPr>
        <p:spPr>
          <a:xfrm>
            <a:off x="804672" y="3794760"/>
            <a:ext cx="2212848" cy="566928"/>
          </a:xfrm>
          <a:prstGeom prst="rect">
            <a:avLst/>
          </a:prstGeom>
          <a:noFill/>
          <a:ln/>
        </p:spPr>
        <p:txBody>
          <a:bodyPr wrap="square" lIns="0" tIns="0" rIns="0" bIns="0" rtlCol="0" anchor="ctr"/>
          <a:lstStyle/>
          <a:p>
            <a:pPr algn="ctr" indent="0" marL="0">
              <a:lnSpc>
                <a:spcPct val="115000"/>
              </a:lnSpc>
              <a:buNone/>
            </a:pPr>
            <a:r>
              <a:rPr lang="en-US" sz="1050" dirty="0">
                <a:solidFill>
                  <a:srgbClr val="5C6E82"/>
                </a:solidFill>
                <a:latin typeface="Calibri" pitchFamily="34" charset="0"/>
                <a:ea typeface="Calibri" pitchFamily="34" charset="-122"/>
                <a:cs typeface="Calibri" pitchFamily="34" charset="-120"/>
              </a:rPr>
              <a:t>Real-time status for every unit and location</a:t>
            </a:r>
            <a:endParaRPr lang="en-US" sz="1050" dirty="0"/>
          </a:p>
        </p:txBody>
      </p:sp>
      <p:sp>
        <p:nvSpPr>
          <p:cNvPr id="10" name="Shape 7"/>
          <p:cNvSpPr/>
          <p:nvPr/>
        </p:nvSpPr>
        <p:spPr>
          <a:xfrm>
            <a:off x="3438144" y="2514600"/>
            <a:ext cx="2542032" cy="1920240"/>
          </a:xfrm>
          <a:prstGeom prst="roundRect">
            <a:avLst>
              <a:gd name="adj" fmla="val 476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1" name="Shape 8"/>
          <p:cNvSpPr/>
          <p:nvPr/>
        </p:nvSpPr>
        <p:spPr>
          <a:xfrm>
            <a:off x="4398264" y="2752344"/>
            <a:ext cx="621792" cy="621792"/>
          </a:xfrm>
          <a:prstGeom prst="ellipse">
            <a:avLst/>
          </a:prstGeom>
          <a:solidFill>
            <a:srgbClr val="005BEA"/>
          </a:solidFill>
          <a:ln/>
        </p:spPr>
      </p:sp>
      <p:pic>
        <p:nvPicPr>
          <p:cNvPr id="12" name="Image 1" descr="/private/tmp/claude-501/-Users-ji1wxs-PraditaProjects-AC-Project/3c2d6cf5-1769-4cbb-8b1c-24143069dbcc/scratchpad/icons/FiSliders_FFFFFF_300.png">    </p:cNvPr>
          <p:cNvPicPr>
            <a:picLocks noChangeAspect="1"/>
          </p:cNvPicPr>
          <p:nvPr/>
        </p:nvPicPr>
        <p:blipFill>
          <a:blip r:embed="rId2"/>
          <a:stretch>
            <a:fillRect/>
          </a:stretch>
        </p:blipFill>
        <p:spPr>
          <a:xfrm>
            <a:off x="4547494" y="2901574"/>
            <a:ext cx="323332" cy="323332"/>
          </a:xfrm>
          <a:prstGeom prst="rect">
            <a:avLst/>
          </a:prstGeom>
        </p:spPr>
      </p:pic>
      <p:sp>
        <p:nvSpPr>
          <p:cNvPr id="13" name="Text 9"/>
          <p:cNvSpPr txBox="1"/>
          <p:nvPr/>
        </p:nvSpPr>
        <p:spPr>
          <a:xfrm>
            <a:off x="3547872" y="3465576"/>
            <a:ext cx="2322576" cy="320040"/>
          </a:xfrm>
          <a:prstGeom prst="rect">
            <a:avLst/>
          </a:prstGeom>
          <a:noFill/>
          <a:ln/>
        </p:spPr>
        <p:txBody>
          <a:bodyPr wrap="square" lIns="0" tIns="0" rIns="0" bIns="0" rtlCol="0" anchor="ctr"/>
          <a:lstStyle/>
          <a:p>
            <a:pPr algn="ctr" indent="0" marL="0">
              <a:buNone/>
            </a:pPr>
            <a:r>
              <a:rPr lang="en-US" sz="1600" b="1" dirty="0">
                <a:solidFill>
                  <a:srgbClr val="0D2238"/>
                </a:solidFill>
                <a:latin typeface="Cambria" pitchFamily="34" charset="0"/>
                <a:ea typeface="Cambria" pitchFamily="34" charset="-122"/>
                <a:cs typeface="Cambria" pitchFamily="34" charset="-120"/>
              </a:rPr>
              <a:t>Control</a:t>
            </a:r>
            <a:endParaRPr lang="en-US" sz="1600" dirty="0"/>
          </a:p>
        </p:txBody>
      </p:sp>
      <p:sp>
        <p:nvSpPr>
          <p:cNvPr id="14" name="Text 10"/>
          <p:cNvSpPr txBox="1"/>
          <p:nvPr/>
        </p:nvSpPr>
        <p:spPr>
          <a:xfrm>
            <a:off x="3602736" y="3794760"/>
            <a:ext cx="2212848" cy="566928"/>
          </a:xfrm>
          <a:prstGeom prst="rect">
            <a:avLst/>
          </a:prstGeom>
          <a:noFill/>
          <a:ln/>
        </p:spPr>
        <p:txBody>
          <a:bodyPr wrap="square" lIns="0" tIns="0" rIns="0" bIns="0" rtlCol="0" anchor="ctr"/>
          <a:lstStyle/>
          <a:p>
            <a:pPr algn="ctr" indent="0" marL="0">
              <a:lnSpc>
                <a:spcPct val="115000"/>
              </a:lnSpc>
              <a:buNone/>
            </a:pPr>
            <a:r>
              <a:rPr lang="en-US" sz="1050" dirty="0">
                <a:solidFill>
                  <a:srgbClr val="5C6E82"/>
                </a:solidFill>
                <a:latin typeface="Calibri" pitchFamily="34" charset="0"/>
                <a:ea typeface="Calibri" pitchFamily="34" charset="-122"/>
                <a:cs typeface="Calibri" pitchFamily="34" charset="-120"/>
              </a:rPr>
              <a:t>Temperature, schedules, and automation</a:t>
            </a:r>
            <a:endParaRPr lang="en-US" sz="1050" dirty="0"/>
          </a:p>
        </p:txBody>
      </p:sp>
      <p:sp>
        <p:nvSpPr>
          <p:cNvPr id="15" name="Shape 11"/>
          <p:cNvSpPr/>
          <p:nvPr/>
        </p:nvSpPr>
        <p:spPr>
          <a:xfrm>
            <a:off x="6236208" y="2514600"/>
            <a:ext cx="2542032" cy="1920240"/>
          </a:xfrm>
          <a:prstGeom prst="roundRect">
            <a:avLst>
              <a:gd name="adj" fmla="val 476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6" name="Shape 12"/>
          <p:cNvSpPr/>
          <p:nvPr/>
        </p:nvSpPr>
        <p:spPr>
          <a:xfrm>
            <a:off x="7196328" y="2752344"/>
            <a:ext cx="621792" cy="621792"/>
          </a:xfrm>
          <a:prstGeom prst="ellipse">
            <a:avLst/>
          </a:prstGeom>
          <a:solidFill>
            <a:srgbClr val="005BEA"/>
          </a:solidFill>
          <a:ln/>
        </p:spPr>
      </p:sp>
      <p:pic>
        <p:nvPicPr>
          <p:cNvPr id="17" name="Image 2" descr="/private/tmp/claude-501/-Users-ji1wxs-PraditaProjects-AC-Project/3c2d6cf5-1769-4cbb-8b1c-24143069dbcc/scratchpad/icons/FiTool_FFFFFF_300.png">    </p:cNvPr>
          <p:cNvPicPr>
            <a:picLocks noChangeAspect="1"/>
          </p:cNvPicPr>
          <p:nvPr/>
        </p:nvPicPr>
        <p:blipFill>
          <a:blip r:embed="rId3"/>
          <a:stretch>
            <a:fillRect/>
          </a:stretch>
        </p:blipFill>
        <p:spPr>
          <a:xfrm>
            <a:off x="7345558" y="2901574"/>
            <a:ext cx="323332" cy="323332"/>
          </a:xfrm>
          <a:prstGeom prst="rect">
            <a:avLst/>
          </a:prstGeom>
        </p:spPr>
      </p:pic>
      <p:sp>
        <p:nvSpPr>
          <p:cNvPr id="18" name="Text 13"/>
          <p:cNvSpPr txBox="1"/>
          <p:nvPr/>
        </p:nvSpPr>
        <p:spPr>
          <a:xfrm>
            <a:off x="6345936" y="3465576"/>
            <a:ext cx="2322576" cy="320040"/>
          </a:xfrm>
          <a:prstGeom prst="rect">
            <a:avLst/>
          </a:prstGeom>
          <a:noFill/>
          <a:ln/>
        </p:spPr>
        <p:txBody>
          <a:bodyPr wrap="square" lIns="0" tIns="0" rIns="0" bIns="0" rtlCol="0" anchor="ctr"/>
          <a:lstStyle/>
          <a:p>
            <a:pPr algn="ctr" indent="0" marL="0">
              <a:buNone/>
            </a:pPr>
            <a:r>
              <a:rPr lang="en-US" sz="1600" b="1" dirty="0">
                <a:solidFill>
                  <a:srgbClr val="0D2238"/>
                </a:solidFill>
                <a:latin typeface="Cambria" pitchFamily="34" charset="0"/>
                <a:ea typeface="Cambria" pitchFamily="34" charset="-122"/>
                <a:cs typeface="Cambria" pitchFamily="34" charset="-120"/>
              </a:rPr>
              <a:t>Maintain</a:t>
            </a:r>
            <a:endParaRPr lang="en-US" sz="1600" dirty="0"/>
          </a:p>
        </p:txBody>
      </p:sp>
      <p:sp>
        <p:nvSpPr>
          <p:cNvPr id="19" name="Text 14"/>
          <p:cNvSpPr txBox="1"/>
          <p:nvPr/>
        </p:nvSpPr>
        <p:spPr>
          <a:xfrm>
            <a:off x="6400800" y="3794760"/>
            <a:ext cx="2212848" cy="566928"/>
          </a:xfrm>
          <a:prstGeom prst="rect">
            <a:avLst/>
          </a:prstGeom>
          <a:noFill/>
          <a:ln/>
        </p:spPr>
        <p:txBody>
          <a:bodyPr wrap="square" lIns="0" tIns="0" rIns="0" bIns="0" rtlCol="0" anchor="ctr"/>
          <a:lstStyle/>
          <a:p>
            <a:pPr algn="ctr" indent="0" marL="0">
              <a:lnSpc>
                <a:spcPct val="115000"/>
              </a:lnSpc>
              <a:buNone/>
            </a:pPr>
            <a:r>
              <a:rPr lang="en-US" sz="1050" dirty="0">
                <a:solidFill>
                  <a:srgbClr val="5C6E82"/>
                </a:solidFill>
                <a:latin typeface="Calibri" pitchFamily="34" charset="0"/>
                <a:ea typeface="Calibri" pitchFamily="34" charset="-122"/>
                <a:cs typeface="Calibri" pitchFamily="34" charset="-120"/>
              </a:rPr>
              <a:t>Inspections, requests, and work reports</a:t>
            </a:r>
            <a:endParaRPr lang="en-US" sz="1050" dirty="0"/>
          </a:p>
        </p:txBody>
      </p:sp>
      <p:sp>
        <p:nvSpPr>
          <p:cNvPr id="20" name="Shape 15"/>
          <p:cNvSpPr/>
          <p:nvPr/>
        </p:nvSpPr>
        <p:spPr>
          <a:xfrm>
            <a:off x="9034272" y="2514600"/>
            <a:ext cx="2542032" cy="1920240"/>
          </a:xfrm>
          <a:prstGeom prst="roundRect">
            <a:avLst>
              <a:gd name="adj" fmla="val 476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1" name="Shape 16"/>
          <p:cNvSpPr/>
          <p:nvPr/>
        </p:nvSpPr>
        <p:spPr>
          <a:xfrm>
            <a:off x="9994392" y="2752344"/>
            <a:ext cx="621792" cy="621792"/>
          </a:xfrm>
          <a:prstGeom prst="ellipse">
            <a:avLst/>
          </a:prstGeom>
          <a:solidFill>
            <a:srgbClr val="005BEA"/>
          </a:solidFill>
          <a:ln/>
        </p:spPr>
      </p:sp>
      <p:pic>
        <p:nvPicPr>
          <p:cNvPr id="22" name="Image 3" descr="/private/tmp/claude-501/-Users-ji1wxs-PraditaProjects-AC-Project/3c2d6cf5-1769-4cbb-8b1c-24143069dbcc/scratchpad/icons/FiZap_FFFFFF_300.png">    </p:cNvPr>
          <p:cNvPicPr>
            <a:picLocks noChangeAspect="1"/>
          </p:cNvPicPr>
          <p:nvPr/>
        </p:nvPicPr>
        <p:blipFill>
          <a:blip r:embed="rId4"/>
          <a:stretch>
            <a:fillRect/>
          </a:stretch>
        </p:blipFill>
        <p:spPr>
          <a:xfrm>
            <a:off x="10143622" y="2901574"/>
            <a:ext cx="323332" cy="323332"/>
          </a:xfrm>
          <a:prstGeom prst="rect">
            <a:avLst/>
          </a:prstGeom>
        </p:spPr>
      </p:pic>
      <p:sp>
        <p:nvSpPr>
          <p:cNvPr id="23" name="Text 17"/>
          <p:cNvSpPr txBox="1"/>
          <p:nvPr/>
        </p:nvSpPr>
        <p:spPr>
          <a:xfrm>
            <a:off x="9144000" y="3465576"/>
            <a:ext cx="2322576" cy="320040"/>
          </a:xfrm>
          <a:prstGeom prst="rect">
            <a:avLst/>
          </a:prstGeom>
          <a:noFill/>
          <a:ln/>
        </p:spPr>
        <p:txBody>
          <a:bodyPr wrap="square" lIns="0" tIns="0" rIns="0" bIns="0" rtlCol="0" anchor="ctr"/>
          <a:lstStyle/>
          <a:p>
            <a:pPr algn="ctr" indent="0" marL="0">
              <a:buNone/>
            </a:pPr>
            <a:r>
              <a:rPr lang="en-US" sz="1600" b="1" dirty="0">
                <a:solidFill>
                  <a:srgbClr val="0D2238"/>
                </a:solidFill>
                <a:latin typeface="Cambria" pitchFamily="34" charset="0"/>
                <a:ea typeface="Cambria" pitchFamily="34" charset="-122"/>
                <a:cs typeface="Cambria" pitchFamily="34" charset="-120"/>
              </a:rPr>
              <a:t>Save Energy</a:t>
            </a:r>
            <a:endParaRPr lang="en-US" sz="1600" dirty="0"/>
          </a:p>
        </p:txBody>
      </p:sp>
      <p:sp>
        <p:nvSpPr>
          <p:cNvPr id="24" name="Text 18"/>
          <p:cNvSpPr txBox="1"/>
          <p:nvPr/>
        </p:nvSpPr>
        <p:spPr>
          <a:xfrm>
            <a:off x="9198864" y="3794760"/>
            <a:ext cx="2212848" cy="566928"/>
          </a:xfrm>
          <a:prstGeom prst="rect">
            <a:avLst/>
          </a:prstGeom>
          <a:noFill/>
          <a:ln/>
        </p:spPr>
        <p:txBody>
          <a:bodyPr wrap="square" lIns="0" tIns="0" rIns="0" bIns="0" rtlCol="0" anchor="ctr"/>
          <a:lstStyle/>
          <a:p>
            <a:pPr algn="ctr" indent="0" marL="0">
              <a:lnSpc>
                <a:spcPct val="115000"/>
              </a:lnSpc>
              <a:buNone/>
            </a:pPr>
            <a:r>
              <a:rPr lang="en-US" sz="1050" dirty="0">
                <a:solidFill>
                  <a:srgbClr val="5C6E82"/>
                </a:solidFill>
                <a:latin typeface="Calibri" pitchFamily="34" charset="0"/>
                <a:ea typeface="Calibri" pitchFamily="34" charset="-122"/>
                <a:cs typeface="Calibri" pitchFamily="34" charset="-120"/>
              </a:rPr>
              <a:t>Cost, air quality, and carbon impact</a:t>
            </a:r>
            <a:endParaRPr lang="en-US" sz="1050" dirty="0"/>
          </a:p>
        </p:txBody>
      </p:sp>
      <p:sp>
        <p:nvSpPr>
          <p:cNvPr id="25" name="Shape 19"/>
          <p:cNvSpPr/>
          <p:nvPr/>
        </p:nvSpPr>
        <p:spPr>
          <a:xfrm>
            <a:off x="640080" y="4828032"/>
            <a:ext cx="10908792" cy="777240"/>
          </a:xfrm>
          <a:prstGeom prst="roundRect">
            <a:avLst>
              <a:gd name="adj" fmla="val 11765"/>
            </a:avLst>
          </a:prstGeom>
          <a:solidFill>
            <a:srgbClr val="E6F0FF"/>
          </a:solidFill>
          <a:ln/>
          <a:effectLst>
            <a:outerShdw sx="100000" sy="100000" kx="0" ky="0" algn="bl" rotWithShape="0" blurRad="114300" dist="38100" dir="5400000">
              <a:srgbClr val="0D2238">
                <a:alpha val="16000"/>
              </a:srgbClr>
            </a:outerShdw>
          </a:effectLst>
        </p:spPr>
      </p:sp>
      <p:sp>
        <p:nvSpPr>
          <p:cNvPr id="26" name="Text 20"/>
          <p:cNvSpPr txBox="1"/>
          <p:nvPr/>
        </p:nvSpPr>
        <p:spPr>
          <a:xfrm>
            <a:off x="960120" y="4828032"/>
            <a:ext cx="10268712" cy="777240"/>
          </a:xfrm>
          <a:prstGeom prst="rect">
            <a:avLst/>
          </a:prstGeom>
          <a:noFill/>
          <a:ln/>
        </p:spPr>
        <p:txBody>
          <a:bodyPr wrap="square" lIns="0" tIns="0" rIns="0" bIns="0" rtlCol="0" anchor="ctr"/>
          <a:lstStyle/>
          <a:p>
            <a:pPr indent="0" marL="0">
              <a:buNone/>
            </a:pPr>
            <a:r>
              <a:rPr lang="en-US" sz="1400" i="1" dirty="0">
                <a:solidFill>
                  <a:srgbClr val="0D2238"/>
                </a:solidFill>
                <a:latin typeface="Calibri" pitchFamily="34" charset="0"/>
                <a:ea typeface="Calibri" pitchFamily="34" charset="-122"/>
                <a:cs typeface="Calibri" pitchFamily="34" charset="-120"/>
              </a:rPr>
              <a:t>Current phase: frontend design &amp; clickable demo only — synthetic data, no real device, API, or payment connections yet.</a:t>
            </a:r>
            <a:endParaRPr lang="en-US" sz="1400" dirty="0"/>
          </a:p>
        </p:txBody>
      </p:sp>
      <p:sp>
        <p:nvSpPr>
          <p:cNvPr id="27" name="Text 21"/>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28" name="Text 22"/>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02 · SCOPE &amp; ROADMAP</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Phased Delivery Approach</a:t>
            </a:r>
            <a:endParaRPr lang="en-US" sz="3000" dirty="0"/>
          </a:p>
        </p:txBody>
      </p:sp>
      <p:sp>
        <p:nvSpPr>
          <p:cNvPr id="4" name="Shape 2"/>
          <p:cNvSpPr/>
          <p:nvPr/>
        </p:nvSpPr>
        <p:spPr>
          <a:xfrm>
            <a:off x="640080" y="1874520"/>
            <a:ext cx="3291840" cy="3246120"/>
          </a:xfrm>
          <a:prstGeom prst="roundRect">
            <a:avLst>
              <a:gd name="adj" fmla="val 2817"/>
            </a:avLst>
          </a:prstGeom>
          <a:solidFill>
            <a:srgbClr val="005BEA"/>
          </a:solidFill>
          <a:ln/>
          <a:effectLst>
            <a:outerShdw sx="100000" sy="100000" kx="0" ky="0" algn="bl" rotWithShape="0" blurRad="114300" dist="38100" dir="5400000">
              <a:srgbClr val="0D2238">
                <a:alpha val="16000"/>
              </a:srgbClr>
            </a:outerShdw>
          </a:effectLst>
        </p:spPr>
      </p:sp>
      <p:sp>
        <p:nvSpPr>
          <p:cNvPr id="5" name="Shape 3"/>
          <p:cNvSpPr/>
          <p:nvPr/>
        </p:nvSpPr>
        <p:spPr>
          <a:xfrm>
            <a:off x="1897380" y="2194560"/>
            <a:ext cx="777240" cy="777240"/>
          </a:xfrm>
          <a:prstGeom prst="ellipse">
            <a:avLst/>
          </a:prstGeom>
          <a:solidFill>
            <a:srgbClr val="FFFFFF"/>
          </a:solidFill>
          <a:ln/>
        </p:spPr>
      </p:sp>
      <p:pic>
        <p:nvPicPr>
          <p:cNvPr id="6" name="Image 0" descr="/private/tmp/claude-501/-Users-ji1wxs-PraditaProjects-AC-Project/3c2d6cf5-1769-4cbb-8b1c-24143069dbcc/scratchpad/icons/FiMousePointer_005BEA_300.png">    </p:cNvPr>
          <p:cNvPicPr>
            <a:picLocks noChangeAspect="1"/>
          </p:cNvPicPr>
          <p:nvPr/>
        </p:nvPicPr>
        <p:blipFill>
          <a:blip r:embed="rId1"/>
          <a:stretch>
            <a:fillRect/>
          </a:stretch>
        </p:blipFill>
        <p:spPr>
          <a:xfrm>
            <a:off x="2083918" y="2381098"/>
            <a:ext cx="404165" cy="404165"/>
          </a:xfrm>
          <a:prstGeom prst="rect">
            <a:avLst/>
          </a:prstGeom>
        </p:spPr>
      </p:pic>
      <p:sp>
        <p:nvSpPr>
          <p:cNvPr id="7" name="Text 4"/>
          <p:cNvSpPr txBox="1"/>
          <p:nvPr/>
        </p:nvSpPr>
        <p:spPr>
          <a:xfrm>
            <a:off x="822960" y="3108960"/>
            <a:ext cx="2926080" cy="274320"/>
          </a:xfrm>
          <a:prstGeom prst="rect">
            <a:avLst/>
          </a:prstGeom>
          <a:noFill/>
          <a:ln/>
        </p:spPr>
        <p:txBody>
          <a:bodyPr wrap="square" lIns="0" tIns="0" rIns="0" bIns="0" rtlCol="0" anchor="ctr"/>
          <a:lstStyle/>
          <a:p>
            <a:pPr algn="ctr" indent="0" marL="0">
              <a:buNone/>
            </a:pPr>
            <a:r>
              <a:rPr lang="en-US" sz="1100" b="1" spc="100" kern="0" dirty="0">
                <a:solidFill>
                  <a:srgbClr val="C7DAF2"/>
                </a:solidFill>
                <a:latin typeface="Calibri" pitchFamily="34" charset="0"/>
                <a:ea typeface="Calibri" pitchFamily="34" charset="-122"/>
                <a:cs typeface="Calibri" pitchFamily="34" charset="-120"/>
              </a:rPr>
              <a:t>PHASE 1A — CURRENT</a:t>
            </a:r>
            <a:endParaRPr lang="en-US" sz="1100" dirty="0"/>
          </a:p>
        </p:txBody>
      </p:sp>
      <p:sp>
        <p:nvSpPr>
          <p:cNvPr id="8" name="Text 5"/>
          <p:cNvSpPr txBox="1"/>
          <p:nvPr/>
        </p:nvSpPr>
        <p:spPr>
          <a:xfrm>
            <a:off x="777240" y="3410712"/>
            <a:ext cx="301752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Clickable Demo</a:t>
            </a:r>
            <a:endParaRPr lang="en-US" sz="1900" dirty="0"/>
          </a:p>
        </p:txBody>
      </p:sp>
      <p:sp>
        <p:nvSpPr>
          <p:cNvPr id="9" name="Text 6"/>
          <p:cNvSpPr txBox="1"/>
          <p:nvPr/>
        </p:nvSpPr>
        <p:spPr>
          <a:xfrm>
            <a:off x="932688" y="3904488"/>
            <a:ext cx="2706624" cy="1051560"/>
          </a:xfrm>
          <a:prstGeom prst="rect">
            <a:avLst/>
          </a:prstGeom>
          <a:noFill/>
          <a:ln/>
        </p:spPr>
        <p:txBody>
          <a:bodyPr wrap="square" lIns="0" tIns="0" rIns="0" bIns="0" rtlCol="0" anchor="ctr"/>
          <a:lstStyle/>
          <a:p>
            <a:pPr algn="ctr" indent="0" marL="0">
              <a:lnSpc>
                <a:spcPct val="125000"/>
              </a:lnSpc>
              <a:buNone/>
            </a:pPr>
            <a:r>
              <a:rPr lang="en-US" sz="1250" dirty="0">
                <a:solidFill>
                  <a:srgbClr val="E6F0FF"/>
                </a:solidFill>
                <a:latin typeface="Calibri" pitchFamily="34" charset="0"/>
                <a:ea typeface="Calibri" pitchFamily="34" charset="-122"/>
                <a:cs typeface="Calibri" pitchFamily="34" charset="-120"/>
              </a:rPr>
              <a:t>Split AC units only. Synthetic data — no real device or payment connections.</a:t>
            </a:r>
            <a:endParaRPr lang="en-US" sz="1250" dirty="0"/>
          </a:p>
        </p:txBody>
      </p:sp>
      <p:sp>
        <p:nvSpPr>
          <p:cNvPr id="10" name="Text 7"/>
          <p:cNvSpPr txBox="1"/>
          <p:nvPr/>
        </p:nvSpPr>
        <p:spPr>
          <a:xfrm>
            <a:off x="3959352" y="3314700"/>
            <a:ext cx="461772" cy="365760"/>
          </a:xfrm>
          <a:prstGeom prst="rect">
            <a:avLst/>
          </a:prstGeom>
          <a:noFill/>
          <a:ln/>
        </p:spPr>
        <p:txBody>
          <a:bodyPr wrap="square" lIns="0" tIns="0" rIns="0" bIns="0" rtlCol="0" anchor="ctr"/>
          <a:lstStyle/>
          <a:p>
            <a:pPr algn="ctr" indent="0" marL="0">
              <a:buNone/>
            </a:pPr>
            <a:r>
              <a:rPr lang="en-US" sz="2000" b="1" dirty="0">
                <a:solidFill>
                  <a:srgbClr val="9DB4CE"/>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4448556" y="1874520"/>
            <a:ext cx="3291840" cy="3246120"/>
          </a:xfrm>
          <a:prstGeom prst="roundRect">
            <a:avLst>
              <a:gd name="adj" fmla="val 2817"/>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2" name="Shape 9"/>
          <p:cNvSpPr/>
          <p:nvPr/>
        </p:nvSpPr>
        <p:spPr>
          <a:xfrm>
            <a:off x="5705856" y="2194560"/>
            <a:ext cx="777240" cy="777240"/>
          </a:xfrm>
          <a:prstGeom prst="ellipse">
            <a:avLst/>
          </a:prstGeom>
          <a:solidFill>
            <a:srgbClr val="005BEA"/>
          </a:solidFill>
          <a:ln/>
        </p:spPr>
      </p:sp>
      <p:pic>
        <p:nvPicPr>
          <p:cNvPr id="13" name="Image 1" descr="/private/tmp/claude-501/-Users-ji1wxs-PraditaProjects-AC-Project/3c2d6cf5-1769-4cbb-8b1c-24143069dbcc/scratchpad/icons/FiCpu_FFFFFF_300.png">    </p:cNvPr>
          <p:cNvPicPr>
            <a:picLocks noChangeAspect="1"/>
          </p:cNvPicPr>
          <p:nvPr/>
        </p:nvPicPr>
        <p:blipFill>
          <a:blip r:embed="rId2"/>
          <a:stretch>
            <a:fillRect/>
          </a:stretch>
        </p:blipFill>
        <p:spPr>
          <a:xfrm>
            <a:off x="5892394" y="2381098"/>
            <a:ext cx="404165" cy="404165"/>
          </a:xfrm>
          <a:prstGeom prst="rect">
            <a:avLst/>
          </a:prstGeom>
        </p:spPr>
      </p:pic>
      <p:sp>
        <p:nvSpPr>
          <p:cNvPr id="14" name="Text 10"/>
          <p:cNvSpPr txBox="1"/>
          <p:nvPr/>
        </p:nvSpPr>
        <p:spPr>
          <a:xfrm>
            <a:off x="4631436" y="3108960"/>
            <a:ext cx="2926080" cy="274320"/>
          </a:xfrm>
          <a:prstGeom prst="rect">
            <a:avLst/>
          </a:prstGeom>
          <a:noFill/>
          <a:ln/>
        </p:spPr>
        <p:txBody>
          <a:bodyPr wrap="square" lIns="0" tIns="0" rIns="0" bIns="0" rtlCol="0" anchor="ctr"/>
          <a:lstStyle/>
          <a:p>
            <a:pPr algn="ctr" indent="0" marL="0">
              <a:buNone/>
            </a:pPr>
            <a:r>
              <a:rPr lang="en-US" sz="1100" b="1" spc="100" kern="0" dirty="0">
                <a:solidFill>
                  <a:srgbClr val="005BEA"/>
                </a:solidFill>
                <a:latin typeface="Calibri" pitchFamily="34" charset="0"/>
                <a:ea typeface="Calibri" pitchFamily="34" charset="-122"/>
                <a:cs typeface="Calibri" pitchFamily="34" charset="-120"/>
              </a:rPr>
              <a:t>PHASE 1B</a:t>
            </a:r>
            <a:endParaRPr lang="en-US" sz="1100" dirty="0"/>
          </a:p>
        </p:txBody>
      </p:sp>
      <p:sp>
        <p:nvSpPr>
          <p:cNvPr id="15" name="Text 11"/>
          <p:cNvSpPr txBox="1"/>
          <p:nvPr/>
        </p:nvSpPr>
        <p:spPr>
          <a:xfrm>
            <a:off x="4585716" y="3410712"/>
            <a:ext cx="3017520" cy="411480"/>
          </a:xfrm>
          <a:prstGeom prst="rect">
            <a:avLst/>
          </a:prstGeom>
          <a:noFill/>
          <a:ln/>
        </p:spPr>
        <p:txBody>
          <a:bodyPr wrap="square" lIns="0" tIns="0" rIns="0" bIns="0" rtlCol="0" anchor="ctr"/>
          <a:lstStyle/>
          <a:p>
            <a:pPr algn="ctr" indent="0" marL="0">
              <a:buNone/>
            </a:pPr>
            <a:r>
              <a:rPr lang="en-US" sz="1900" b="1" dirty="0">
                <a:solidFill>
                  <a:srgbClr val="0D2238"/>
                </a:solidFill>
                <a:latin typeface="Cambria" pitchFamily="34" charset="0"/>
                <a:ea typeface="Cambria" pitchFamily="34" charset="-122"/>
                <a:cs typeface="Cambria" pitchFamily="34" charset="-120"/>
              </a:rPr>
              <a:t>Full Solution</a:t>
            </a:r>
            <a:endParaRPr lang="en-US" sz="1900" dirty="0"/>
          </a:p>
        </p:txBody>
      </p:sp>
      <p:sp>
        <p:nvSpPr>
          <p:cNvPr id="16" name="Text 12"/>
          <p:cNvSpPr txBox="1"/>
          <p:nvPr/>
        </p:nvSpPr>
        <p:spPr>
          <a:xfrm>
            <a:off x="4741164" y="3904488"/>
            <a:ext cx="2706624" cy="1051560"/>
          </a:xfrm>
          <a:prstGeom prst="rect">
            <a:avLst/>
          </a:prstGeom>
          <a:noFill/>
          <a:ln/>
        </p:spPr>
        <p:txBody>
          <a:bodyPr wrap="square" lIns="0" tIns="0" rIns="0" bIns="0" rtlCol="0" anchor="ctr"/>
          <a:lstStyle/>
          <a:p>
            <a:pPr algn="ctr" indent="0" marL="0">
              <a:lnSpc>
                <a:spcPct val="125000"/>
              </a:lnSpc>
              <a:buNone/>
            </a:pPr>
            <a:r>
              <a:rPr lang="en-US" sz="1250" dirty="0">
                <a:solidFill>
                  <a:srgbClr val="5C6E82"/>
                </a:solidFill>
                <a:latin typeface="Calibri" pitchFamily="34" charset="0"/>
                <a:ea typeface="Calibri" pitchFamily="34" charset="-122"/>
                <a:cs typeface="Calibri" pitchFamily="34" charset="-120"/>
              </a:rPr>
              <a:t>Real devices, firmware, and production API integration.</a:t>
            </a:r>
            <a:endParaRPr lang="en-US" sz="1250" dirty="0"/>
          </a:p>
        </p:txBody>
      </p:sp>
      <p:sp>
        <p:nvSpPr>
          <p:cNvPr id="17" name="Text 13"/>
          <p:cNvSpPr txBox="1"/>
          <p:nvPr/>
        </p:nvSpPr>
        <p:spPr>
          <a:xfrm>
            <a:off x="7767828" y="3314700"/>
            <a:ext cx="461772" cy="365760"/>
          </a:xfrm>
          <a:prstGeom prst="rect">
            <a:avLst/>
          </a:prstGeom>
          <a:noFill/>
          <a:ln/>
        </p:spPr>
        <p:txBody>
          <a:bodyPr wrap="square" lIns="0" tIns="0" rIns="0" bIns="0" rtlCol="0" anchor="ctr"/>
          <a:lstStyle/>
          <a:p>
            <a:pPr algn="ctr" indent="0" marL="0">
              <a:buNone/>
            </a:pPr>
            <a:r>
              <a:rPr lang="en-US" sz="2000" b="1" dirty="0">
                <a:solidFill>
                  <a:srgbClr val="9DB4CE"/>
                </a:solidFill>
                <a:latin typeface="Calibri" pitchFamily="34" charset="0"/>
                <a:ea typeface="Calibri" pitchFamily="34" charset="-122"/>
                <a:cs typeface="Calibri" pitchFamily="34" charset="-120"/>
              </a:rPr>
              <a:t>→</a:t>
            </a:r>
            <a:endParaRPr lang="en-US" sz="2000" dirty="0"/>
          </a:p>
        </p:txBody>
      </p:sp>
      <p:sp>
        <p:nvSpPr>
          <p:cNvPr id="18" name="Shape 14"/>
          <p:cNvSpPr/>
          <p:nvPr/>
        </p:nvSpPr>
        <p:spPr>
          <a:xfrm>
            <a:off x="8257032" y="1874520"/>
            <a:ext cx="3291840" cy="3246120"/>
          </a:xfrm>
          <a:prstGeom prst="roundRect">
            <a:avLst>
              <a:gd name="adj" fmla="val 2817"/>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9" name="Shape 15"/>
          <p:cNvSpPr/>
          <p:nvPr/>
        </p:nvSpPr>
        <p:spPr>
          <a:xfrm>
            <a:off x="9514332" y="2194560"/>
            <a:ext cx="777240" cy="777240"/>
          </a:xfrm>
          <a:prstGeom prst="ellipse">
            <a:avLst/>
          </a:prstGeom>
          <a:solidFill>
            <a:srgbClr val="005BEA"/>
          </a:solidFill>
          <a:ln/>
        </p:spPr>
      </p:sp>
      <p:pic>
        <p:nvPicPr>
          <p:cNvPr id="20" name="Image 2" descr="/private/tmp/claude-501/-Users-ji1wxs-PraditaProjects-AC-Project/3c2d6cf5-1769-4cbb-8b1c-24143069dbcc/scratchpad/icons/FiWind_FFFFFF_300.png">    </p:cNvPr>
          <p:cNvPicPr>
            <a:picLocks noChangeAspect="1"/>
          </p:cNvPicPr>
          <p:nvPr/>
        </p:nvPicPr>
        <p:blipFill>
          <a:blip r:embed="rId3"/>
          <a:stretch>
            <a:fillRect/>
          </a:stretch>
        </p:blipFill>
        <p:spPr>
          <a:xfrm>
            <a:off x="9700870" y="2381098"/>
            <a:ext cx="404165" cy="404165"/>
          </a:xfrm>
          <a:prstGeom prst="rect">
            <a:avLst/>
          </a:prstGeom>
        </p:spPr>
      </p:pic>
      <p:sp>
        <p:nvSpPr>
          <p:cNvPr id="21" name="Text 16"/>
          <p:cNvSpPr txBox="1"/>
          <p:nvPr/>
        </p:nvSpPr>
        <p:spPr>
          <a:xfrm>
            <a:off x="8439912" y="3108960"/>
            <a:ext cx="2926080" cy="274320"/>
          </a:xfrm>
          <a:prstGeom prst="rect">
            <a:avLst/>
          </a:prstGeom>
          <a:noFill/>
          <a:ln/>
        </p:spPr>
        <p:txBody>
          <a:bodyPr wrap="square" lIns="0" tIns="0" rIns="0" bIns="0" rtlCol="0" anchor="ctr"/>
          <a:lstStyle/>
          <a:p>
            <a:pPr algn="ctr" indent="0" marL="0">
              <a:buNone/>
            </a:pPr>
            <a:r>
              <a:rPr lang="en-US" sz="1100" b="1" spc="100" kern="0" dirty="0">
                <a:solidFill>
                  <a:srgbClr val="005BEA"/>
                </a:solidFill>
                <a:latin typeface="Calibri" pitchFamily="34" charset="0"/>
                <a:ea typeface="Calibri" pitchFamily="34" charset="-122"/>
                <a:cs typeface="Calibri" pitchFamily="34" charset="-120"/>
              </a:rPr>
              <a:t>PHASE 2</a:t>
            </a:r>
            <a:endParaRPr lang="en-US" sz="1100" dirty="0"/>
          </a:p>
        </p:txBody>
      </p:sp>
      <p:sp>
        <p:nvSpPr>
          <p:cNvPr id="22" name="Text 17"/>
          <p:cNvSpPr txBox="1"/>
          <p:nvPr/>
        </p:nvSpPr>
        <p:spPr>
          <a:xfrm>
            <a:off x="8394192" y="3410712"/>
            <a:ext cx="3017520" cy="411480"/>
          </a:xfrm>
          <a:prstGeom prst="rect">
            <a:avLst/>
          </a:prstGeom>
          <a:noFill/>
          <a:ln/>
        </p:spPr>
        <p:txBody>
          <a:bodyPr wrap="square" lIns="0" tIns="0" rIns="0" bIns="0" rtlCol="0" anchor="ctr"/>
          <a:lstStyle/>
          <a:p>
            <a:pPr algn="ctr" indent="0" marL="0">
              <a:buNone/>
            </a:pPr>
            <a:r>
              <a:rPr lang="en-US" sz="1900" b="1" dirty="0">
                <a:solidFill>
                  <a:srgbClr val="0D2238"/>
                </a:solidFill>
                <a:latin typeface="Cambria" pitchFamily="34" charset="0"/>
                <a:ea typeface="Cambria" pitchFamily="34" charset="-122"/>
                <a:cs typeface="Cambria" pitchFamily="34" charset="-120"/>
              </a:rPr>
              <a:t>HVAC Expansion</a:t>
            </a:r>
            <a:endParaRPr lang="en-US" sz="1900" dirty="0"/>
          </a:p>
        </p:txBody>
      </p:sp>
      <p:sp>
        <p:nvSpPr>
          <p:cNvPr id="23" name="Text 18"/>
          <p:cNvSpPr txBox="1"/>
          <p:nvPr/>
        </p:nvSpPr>
        <p:spPr>
          <a:xfrm>
            <a:off x="8549640" y="3904488"/>
            <a:ext cx="2706624" cy="1051560"/>
          </a:xfrm>
          <a:prstGeom prst="rect">
            <a:avLst/>
          </a:prstGeom>
          <a:noFill/>
          <a:ln/>
        </p:spPr>
        <p:txBody>
          <a:bodyPr wrap="square" lIns="0" tIns="0" rIns="0" bIns="0" rtlCol="0" anchor="ctr"/>
          <a:lstStyle/>
          <a:p>
            <a:pPr algn="ctr" indent="0" marL="0">
              <a:lnSpc>
                <a:spcPct val="125000"/>
              </a:lnSpc>
              <a:buNone/>
            </a:pPr>
            <a:r>
              <a:rPr lang="en-US" sz="1250" dirty="0">
                <a:solidFill>
                  <a:srgbClr val="5C6E82"/>
                </a:solidFill>
                <a:latin typeface="Calibri" pitchFamily="34" charset="0"/>
                <a:ea typeface="Calibri" pitchFamily="34" charset="-122"/>
                <a:cs typeface="Calibri" pitchFamily="34" charset="-120"/>
              </a:rPr>
              <a:t>More brands, plus split, central &amp; cassette unit types.</a:t>
            </a:r>
            <a:endParaRPr lang="en-US" sz="1250" dirty="0"/>
          </a:p>
        </p:txBody>
      </p:sp>
      <p:sp>
        <p:nvSpPr>
          <p:cNvPr id="24" name="Text 19"/>
          <p:cNvSpPr txBox="1"/>
          <p:nvPr/>
        </p:nvSpPr>
        <p:spPr>
          <a:xfrm>
            <a:off x="640080" y="5349240"/>
            <a:ext cx="10908792" cy="365760"/>
          </a:xfrm>
          <a:prstGeom prst="rect">
            <a:avLst/>
          </a:prstGeom>
          <a:noFill/>
          <a:ln/>
        </p:spPr>
        <p:txBody>
          <a:bodyPr wrap="square" lIns="0" tIns="0" rIns="0" bIns="0" rtlCol="0" anchor="ctr"/>
          <a:lstStyle/>
          <a:p>
            <a:pPr algn="ctr" indent="0" marL="0">
              <a:buNone/>
            </a:pPr>
            <a:r>
              <a:rPr lang="en-US" sz="1350" i="1" dirty="0">
                <a:solidFill>
                  <a:srgbClr val="5C6E82"/>
                </a:solidFill>
                <a:latin typeface="Calibri" pitchFamily="34" charset="0"/>
                <a:ea typeface="Calibri" pitchFamily="34" charset="-122"/>
                <a:cs typeface="Calibri" pitchFamily="34" charset="-120"/>
              </a:rPr>
              <a:t>These documents describe Phase 1A only.</a:t>
            </a:r>
            <a:endParaRPr lang="en-US" sz="1350" dirty="0"/>
          </a:p>
        </p:txBody>
      </p:sp>
      <p:sp>
        <p:nvSpPr>
          <p:cNvPr id="25" name="Text 20"/>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26" name="Text 21"/>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03 · USER ROLES</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Four User Roles</a:t>
            </a:r>
            <a:endParaRPr lang="en-US" sz="3000" dirty="0"/>
          </a:p>
        </p:txBody>
      </p:sp>
      <p:sp>
        <p:nvSpPr>
          <p:cNvPr id="4" name="Shape 2"/>
          <p:cNvSpPr/>
          <p:nvPr/>
        </p:nvSpPr>
        <p:spPr>
          <a:xfrm>
            <a:off x="640080" y="1600200"/>
            <a:ext cx="5321808" cy="1572768"/>
          </a:xfrm>
          <a:prstGeom prst="roundRect">
            <a:avLst>
              <a:gd name="adj" fmla="val 581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5" name="Shape 3"/>
          <p:cNvSpPr/>
          <p:nvPr/>
        </p:nvSpPr>
        <p:spPr>
          <a:xfrm>
            <a:off x="896112" y="1997964"/>
            <a:ext cx="777240" cy="777240"/>
          </a:xfrm>
          <a:prstGeom prst="ellipse">
            <a:avLst/>
          </a:prstGeom>
          <a:solidFill>
            <a:srgbClr val="005BEA"/>
          </a:solidFill>
          <a:ln/>
        </p:spPr>
      </p:sp>
      <p:pic>
        <p:nvPicPr>
          <p:cNvPr id="6" name="Image 0" descr="/private/tmp/claude-501/-Users-ji1wxs-PraditaProjects-AC-Project/3c2d6cf5-1769-4cbb-8b1c-24143069dbcc/scratchpad/icons/FiUser_FFFFFF_300.png">    </p:cNvPr>
          <p:cNvPicPr>
            <a:picLocks noChangeAspect="1"/>
          </p:cNvPicPr>
          <p:nvPr/>
        </p:nvPicPr>
        <p:blipFill>
          <a:blip r:embed="rId1"/>
          <a:stretch>
            <a:fillRect/>
          </a:stretch>
        </p:blipFill>
        <p:spPr>
          <a:xfrm>
            <a:off x="1082650" y="2184502"/>
            <a:ext cx="404165" cy="404165"/>
          </a:xfrm>
          <a:prstGeom prst="rect">
            <a:avLst/>
          </a:prstGeom>
        </p:spPr>
      </p:pic>
      <p:sp>
        <p:nvSpPr>
          <p:cNvPr id="7" name="Text 4"/>
          <p:cNvSpPr txBox="1"/>
          <p:nvPr/>
        </p:nvSpPr>
        <p:spPr>
          <a:xfrm>
            <a:off x="1874520" y="1801368"/>
            <a:ext cx="3858768" cy="365760"/>
          </a:xfrm>
          <a:prstGeom prst="rect">
            <a:avLst/>
          </a:prstGeom>
          <a:noFill/>
          <a:ln/>
        </p:spPr>
        <p:txBody>
          <a:bodyPr wrap="square" lIns="0" tIns="0" rIns="0" bIns="0" rtlCol="0" anchor="ctr"/>
          <a:lstStyle/>
          <a:p>
            <a:pPr indent="0" marL="0">
              <a:buNone/>
            </a:pPr>
            <a:r>
              <a:rPr lang="en-US" sz="1700" b="1" dirty="0">
                <a:solidFill>
                  <a:srgbClr val="0D2238"/>
                </a:solidFill>
                <a:latin typeface="Cambria" pitchFamily="34" charset="0"/>
                <a:ea typeface="Cambria" pitchFamily="34" charset="-122"/>
                <a:cs typeface="Cambria" pitchFamily="34" charset="-120"/>
              </a:rPr>
              <a:t>Client</a:t>
            </a:r>
            <a:endParaRPr lang="en-US" sz="1700" dirty="0"/>
          </a:p>
        </p:txBody>
      </p:sp>
      <p:sp>
        <p:nvSpPr>
          <p:cNvPr id="8" name="Text 5"/>
          <p:cNvSpPr txBox="1"/>
          <p:nvPr/>
        </p:nvSpPr>
        <p:spPr>
          <a:xfrm>
            <a:off x="1874520" y="2167128"/>
            <a:ext cx="3858768" cy="868680"/>
          </a:xfrm>
          <a:prstGeom prst="rect">
            <a:avLst/>
          </a:prstGeom>
          <a:noFill/>
          <a:ln/>
        </p:spPr>
        <p:txBody>
          <a:bodyPr wrap="square" lIns="0" tIns="0" rIns="0" bIns="0" rtlCol="0" anchor="ctr"/>
          <a:lstStyle/>
          <a:p>
            <a:pPr indent="0" marL="0">
              <a:lnSpc>
                <a:spcPct val="120000"/>
              </a:lnSpc>
              <a:buNone/>
            </a:pPr>
            <a:r>
              <a:rPr lang="en-US" sz="1200" dirty="0">
                <a:solidFill>
                  <a:srgbClr val="5C6E82"/>
                </a:solidFill>
                <a:latin typeface="Calibri" pitchFamily="34" charset="0"/>
                <a:ea typeface="Calibri" pitchFamily="34" charset="-122"/>
                <a:cs typeface="Calibri" pitchFamily="34" charset="-120"/>
              </a:rPr>
              <a:t>Views unit status, controls temperature, requests maintenance, manages payments.</a:t>
            </a:r>
            <a:endParaRPr lang="en-US" sz="1200" dirty="0"/>
          </a:p>
        </p:txBody>
      </p:sp>
      <p:sp>
        <p:nvSpPr>
          <p:cNvPr id="9" name="Shape 6"/>
          <p:cNvSpPr/>
          <p:nvPr/>
        </p:nvSpPr>
        <p:spPr>
          <a:xfrm>
            <a:off x="6227064" y="1600200"/>
            <a:ext cx="5321808" cy="1572768"/>
          </a:xfrm>
          <a:prstGeom prst="roundRect">
            <a:avLst>
              <a:gd name="adj" fmla="val 581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0" name="Shape 7"/>
          <p:cNvSpPr/>
          <p:nvPr/>
        </p:nvSpPr>
        <p:spPr>
          <a:xfrm>
            <a:off x="6483096" y="1997964"/>
            <a:ext cx="777240" cy="777240"/>
          </a:xfrm>
          <a:prstGeom prst="ellipse">
            <a:avLst/>
          </a:prstGeom>
          <a:solidFill>
            <a:srgbClr val="005BEA"/>
          </a:solidFill>
          <a:ln/>
        </p:spPr>
      </p:sp>
      <p:pic>
        <p:nvPicPr>
          <p:cNvPr id="11" name="Image 1" descr="/private/tmp/claude-501/-Users-ji1wxs-PraditaProjects-AC-Project/3c2d6cf5-1769-4cbb-8b1c-24143069dbcc/scratchpad/icons/FiBriefcase_FFFFFF_300.png">    </p:cNvPr>
          <p:cNvPicPr>
            <a:picLocks noChangeAspect="1"/>
          </p:cNvPicPr>
          <p:nvPr/>
        </p:nvPicPr>
        <p:blipFill>
          <a:blip r:embed="rId2"/>
          <a:stretch>
            <a:fillRect/>
          </a:stretch>
        </p:blipFill>
        <p:spPr>
          <a:xfrm>
            <a:off x="6669634" y="2184502"/>
            <a:ext cx="404165" cy="404165"/>
          </a:xfrm>
          <a:prstGeom prst="rect">
            <a:avLst/>
          </a:prstGeom>
        </p:spPr>
      </p:pic>
      <p:sp>
        <p:nvSpPr>
          <p:cNvPr id="12" name="Text 8"/>
          <p:cNvSpPr txBox="1"/>
          <p:nvPr/>
        </p:nvSpPr>
        <p:spPr>
          <a:xfrm>
            <a:off x="7461504" y="1801368"/>
            <a:ext cx="3858768" cy="365760"/>
          </a:xfrm>
          <a:prstGeom prst="rect">
            <a:avLst/>
          </a:prstGeom>
          <a:noFill/>
          <a:ln/>
        </p:spPr>
        <p:txBody>
          <a:bodyPr wrap="square" lIns="0" tIns="0" rIns="0" bIns="0" rtlCol="0" anchor="ctr"/>
          <a:lstStyle/>
          <a:p>
            <a:pPr indent="0" marL="0">
              <a:buNone/>
            </a:pPr>
            <a:r>
              <a:rPr lang="en-US" sz="1700" b="1" dirty="0">
                <a:solidFill>
                  <a:srgbClr val="0D2238"/>
                </a:solidFill>
                <a:latin typeface="Cambria" pitchFamily="34" charset="0"/>
                <a:ea typeface="Cambria" pitchFamily="34" charset="-122"/>
                <a:cs typeface="Cambria" pitchFamily="34" charset="-120"/>
              </a:rPr>
              <a:t>Contractor</a:t>
            </a:r>
            <a:endParaRPr lang="en-US" sz="1700" dirty="0"/>
          </a:p>
        </p:txBody>
      </p:sp>
      <p:sp>
        <p:nvSpPr>
          <p:cNvPr id="13" name="Text 9"/>
          <p:cNvSpPr txBox="1"/>
          <p:nvPr/>
        </p:nvSpPr>
        <p:spPr>
          <a:xfrm>
            <a:off x="7461504" y="2167128"/>
            <a:ext cx="3858768" cy="868680"/>
          </a:xfrm>
          <a:prstGeom prst="rect">
            <a:avLst/>
          </a:prstGeom>
          <a:noFill/>
          <a:ln/>
        </p:spPr>
        <p:txBody>
          <a:bodyPr wrap="square" lIns="0" tIns="0" rIns="0" bIns="0" rtlCol="0" anchor="ctr"/>
          <a:lstStyle/>
          <a:p>
            <a:pPr indent="0" marL="0">
              <a:lnSpc>
                <a:spcPct val="120000"/>
              </a:lnSpc>
              <a:buNone/>
            </a:pPr>
            <a:r>
              <a:rPr lang="en-US" sz="1200" dirty="0">
                <a:solidFill>
                  <a:srgbClr val="5C6E82"/>
                </a:solidFill>
                <a:latin typeface="Calibri" pitchFamily="34" charset="0"/>
                <a:ea typeface="Calibri" pitchFamily="34" charset="-122"/>
                <a:cs typeface="Calibri" pitchFamily="34" charset="-120"/>
              </a:rPr>
              <a:t>Accepts jobs, assigns own technicians, reviews work quality.</a:t>
            </a:r>
            <a:endParaRPr lang="en-US" sz="1200" dirty="0"/>
          </a:p>
        </p:txBody>
      </p:sp>
      <p:sp>
        <p:nvSpPr>
          <p:cNvPr id="14" name="Shape 10"/>
          <p:cNvSpPr/>
          <p:nvPr/>
        </p:nvSpPr>
        <p:spPr>
          <a:xfrm>
            <a:off x="640080" y="3429000"/>
            <a:ext cx="5321808" cy="1572768"/>
          </a:xfrm>
          <a:prstGeom prst="roundRect">
            <a:avLst>
              <a:gd name="adj" fmla="val 581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5" name="Shape 11"/>
          <p:cNvSpPr/>
          <p:nvPr/>
        </p:nvSpPr>
        <p:spPr>
          <a:xfrm>
            <a:off x="896112" y="3826764"/>
            <a:ext cx="777240" cy="777240"/>
          </a:xfrm>
          <a:prstGeom prst="ellipse">
            <a:avLst/>
          </a:prstGeom>
          <a:solidFill>
            <a:srgbClr val="005BEA"/>
          </a:solidFill>
          <a:ln/>
        </p:spPr>
      </p:sp>
      <p:pic>
        <p:nvPicPr>
          <p:cNvPr id="16" name="Image 2" descr="/private/tmp/claude-501/-Users-ji1wxs-PraditaProjects-AC-Project/3c2d6cf5-1769-4cbb-8b1c-24143069dbcc/scratchpad/icons/FiTool_FFFFFF_300.png">    </p:cNvPr>
          <p:cNvPicPr>
            <a:picLocks noChangeAspect="1"/>
          </p:cNvPicPr>
          <p:nvPr/>
        </p:nvPicPr>
        <p:blipFill>
          <a:blip r:embed="rId3"/>
          <a:stretch>
            <a:fillRect/>
          </a:stretch>
        </p:blipFill>
        <p:spPr>
          <a:xfrm>
            <a:off x="1082650" y="4013302"/>
            <a:ext cx="404165" cy="404165"/>
          </a:xfrm>
          <a:prstGeom prst="rect">
            <a:avLst/>
          </a:prstGeom>
        </p:spPr>
      </p:pic>
      <p:sp>
        <p:nvSpPr>
          <p:cNvPr id="17" name="Text 12"/>
          <p:cNvSpPr txBox="1"/>
          <p:nvPr/>
        </p:nvSpPr>
        <p:spPr>
          <a:xfrm>
            <a:off x="1874520" y="3630168"/>
            <a:ext cx="3858768" cy="365760"/>
          </a:xfrm>
          <a:prstGeom prst="rect">
            <a:avLst/>
          </a:prstGeom>
          <a:noFill/>
          <a:ln/>
        </p:spPr>
        <p:txBody>
          <a:bodyPr wrap="square" lIns="0" tIns="0" rIns="0" bIns="0" rtlCol="0" anchor="ctr"/>
          <a:lstStyle/>
          <a:p>
            <a:pPr indent="0" marL="0">
              <a:buNone/>
            </a:pPr>
            <a:r>
              <a:rPr lang="en-US" sz="1700" b="1" dirty="0">
                <a:solidFill>
                  <a:srgbClr val="0D2238"/>
                </a:solidFill>
                <a:latin typeface="Cambria" pitchFamily="34" charset="0"/>
                <a:ea typeface="Cambria" pitchFamily="34" charset="-122"/>
                <a:cs typeface="Cambria" pitchFamily="34" charset="-120"/>
              </a:rPr>
              <a:t>Technician</a:t>
            </a:r>
            <a:endParaRPr lang="en-US" sz="1700" dirty="0"/>
          </a:p>
        </p:txBody>
      </p:sp>
      <p:sp>
        <p:nvSpPr>
          <p:cNvPr id="18" name="Text 13"/>
          <p:cNvSpPr txBox="1"/>
          <p:nvPr/>
        </p:nvSpPr>
        <p:spPr>
          <a:xfrm>
            <a:off x="1874520" y="3995928"/>
            <a:ext cx="3858768" cy="868680"/>
          </a:xfrm>
          <a:prstGeom prst="rect">
            <a:avLst/>
          </a:prstGeom>
          <a:noFill/>
          <a:ln/>
        </p:spPr>
        <p:txBody>
          <a:bodyPr wrap="square" lIns="0" tIns="0" rIns="0" bIns="0" rtlCol="0" anchor="ctr"/>
          <a:lstStyle/>
          <a:p>
            <a:pPr indent="0" marL="0">
              <a:lnSpc>
                <a:spcPct val="120000"/>
              </a:lnSpc>
              <a:buNone/>
            </a:pPr>
            <a:r>
              <a:rPr lang="en-US" sz="1200" dirty="0">
                <a:solidFill>
                  <a:srgbClr val="5C6E82"/>
                </a:solidFill>
                <a:latin typeface="Calibri" pitchFamily="34" charset="0"/>
                <a:ea typeface="Calibri" pitchFamily="34" charset="-122"/>
                <a:cs typeface="Calibri" pitchFamily="34" charset="-120"/>
              </a:rPr>
              <a:t>Inspects units, runs diagnostics, submits work reports — internal &amp; external.</a:t>
            </a:r>
            <a:endParaRPr lang="en-US" sz="1200" dirty="0"/>
          </a:p>
        </p:txBody>
      </p:sp>
      <p:sp>
        <p:nvSpPr>
          <p:cNvPr id="19" name="Shape 14"/>
          <p:cNvSpPr/>
          <p:nvPr/>
        </p:nvSpPr>
        <p:spPr>
          <a:xfrm>
            <a:off x="6227064" y="3429000"/>
            <a:ext cx="5321808" cy="1572768"/>
          </a:xfrm>
          <a:prstGeom prst="roundRect">
            <a:avLst>
              <a:gd name="adj" fmla="val 581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0" name="Shape 15"/>
          <p:cNvSpPr/>
          <p:nvPr/>
        </p:nvSpPr>
        <p:spPr>
          <a:xfrm>
            <a:off x="6483096" y="3826764"/>
            <a:ext cx="777240" cy="777240"/>
          </a:xfrm>
          <a:prstGeom prst="ellipse">
            <a:avLst/>
          </a:prstGeom>
          <a:solidFill>
            <a:srgbClr val="005BEA"/>
          </a:solidFill>
          <a:ln/>
        </p:spPr>
      </p:sp>
      <p:pic>
        <p:nvPicPr>
          <p:cNvPr id="21" name="Image 3" descr="/private/tmp/claude-501/-Users-ji1wxs-PraditaProjects-AC-Project/3c2d6cf5-1769-4cbb-8b1c-24143069dbcc/scratchpad/icons/FiShield_FFFFFF_300.png">    </p:cNvPr>
          <p:cNvPicPr>
            <a:picLocks noChangeAspect="1"/>
          </p:cNvPicPr>
          <p:nvPr/>
        </p:nvPicPr>
        <p:blipFill>
          <a:blip r:embed="rId4"/>
          <a:stretch>
            <a:fillRect/>
          </a:stretch>
        </p:blipFill>
        <p:spPr>
          <a:xfrm>
            <a:off x="6669634" y="4013302"/>
            <a:ext cx="404165" cy="404165"/>
          </a:xfrm>
          <a:prstGeom prst="rect">
            <a:avLst/>
          </a:prstGeom>
        </p:spPr>
      </p:pic>
      <p:sp>
        <p:nvSpPr>
          <p:cNvPr id="22" name="Text 16"/>
          <p:cNvSpPr txBox="1"/>
          <p:nvPr/>
        </p:nvSpPr>
        <p:spPr>
          <a:xfrm>
            <a:off x="7461504" y="3630168"/>
            <a:ext cx="3858768" cy="365760"/>
          </a:xfrm>
          <a:prstGeom prst="rect">
            <a:avLst/>
          </a:prstGeom>
          <a:noFill/>
          <a:ln/>
        </p:spPr>
        <p:txBody>
          <a:bodyPr wrap="square" lIns="0" tIns="0" rIns="0" bIns="0" rtlCol="0" anchor="ctr"/>
          <a:lstStyle/>
          <a:p>
            <a:pPr indent="0" marL="0">
              <a:buNone/>
            </a:pPr>
            <a:r>
              <a:rPr lang="en-US" sz="1700" b="1" dirty="0">
                <a:solidFill>
                  <a:srgbClr val="0D2238"/>
                </a:solidFill>
                <a:latin typeface="Cambria" pitchFamily="34" charset="0"/>
                <a:ea typeface="Cambria" pitchFamily="34" charset="-122"/>
                <a:cs typeface="Cambria" pitchFamily="34" charset="-120"/>
              </a:rPr>
              <a:t>Administrator / HQ</a:t>
            </a:r>
            <a:endParaRPr lang="en-US" sz="1700" dirty="0"/>
          </a:p>
        </p:txBody>
      </p:sp>
      <p:sp>
        <p:nvSpPr>
          <p:cNvPr id="23" name="Text 17"/>
          <p:cNvSpPr txBox="1"/>
          <p:nvPr/>
        </p:nvSpPr>
        <p:spPr>
          <a:xfrm>
            <a:off x="7461504" y="3995928"/>
            <a:ext cx="3858768" cy="868680"/>
          </a:xfrm>
          <a:prstGeom prst="rect">
            <a:avLst/>
          </a:prstGeom>
          <a:noFill/>
          <a:ln/>
        </p:spPr>
        <p:txBody>
          <a:bodyPr wrap="square" lIns="0" tIns="0" rIns="0" bIns="0" rtlCol="0" anchor="ctr"/>
          <a:lstStyle/>
          <a:p>
            <a:pPr indent="0" marL="0">
              <a:lnSpc>
                <a:spcPct val="120000"/>
              </a:lnSpc>
              <a:buNone/>
            </a:pPr>
            <a:r>
              <a:rPr lang="en-US" sz="1200" dirty="0">
                <a:solidFill>
                  <a:srgbClr val="5C6E82"/>
                </a:solidFill>
                <a:latin typeface="Calibri" pitchFamily="34" charset="0"/>
                <a:ea typeface="Calibri" pitchFamily="34" charset="-122"/>
                <a:cs typeface="Calibri" pitchFamily="34" charset="-120"/>
              </a:rPr>
              <a:t>Manages customers, contracts, restrictions &amp; company-wide policy.</a:t>
            </a:r>
            <a:endParaRPr lang="en-US" sz="1200" dirty="0"/>
          </a:p>
        </p:txBody>
      </p:sp>
      <p:sp>
        <p:nvSpPr>
          <p:cNvPr id="24" name="Text 18"/>
          <p:cNvSpPr txBox="1"/>
          <p:nvPr/>
        </p:nvSpPr>
        <p:spPr>
          <a:xfrm>
            <a:off x="640080" y="5989320"/>
            <a:ext cx="10908792" cy="411480"/>
          </a:xfrm>
          <a:prstGeom prst="rect">
            <a:avLst/>
          </a:prstGeom>
          <a:noFill/>
          <a:ln/>
        </p:spPr>
        <p:txBody>
          <a:bodyPr wrap="square" lIns="0" tIns="0" rIns="0" bIns="0" rtlCol="0" anchor="ctr"/>
          <a:lstStyle/>
          <a:p>
            <a:pPr indent="0" marL="0">
              <a:buNone/>
            </a:pPr>
            <a:r>
              <a:rPr lang="en-US" sz="1100" i="1" dirty="0">
                <a:solidFill>
                  <a:srgbClr val="5C6E82"/>
                </a:solidFill>
                <a:latin typeface="Calibri" pitchFamily="34" charset="0"/>
                <a:ea typeface="Calibri" pitchFamily="34" charset="-122"/>
                <a:cs typeface="Calibri" pitchFamily="34" charset="-120"/>
              </a:rPr>
              <a:t>Contractor is a design-team addition (production instruction), not explicit in the original company requirements — tracked as OPEN-10 pending company confirmation.</a:t>
            </a:r>
            <a:endParaRPr lang="en-US" sz="1100" dirty="0"/>
          </a:p>
        </p:txBody>
      </p:sp>
      <p:sp>
        <p:nvSpPr>
          <p:cNvPr id="25" name="Text 19"/>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26" name="Text 20"/>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04 · REQUIREMENTS — OVERVIEW</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Core Requirements at a Glance</a:t>
            </a:r>
            <a:endParaRPr lang="en-US" sz="3000" dirty="0"/>
          </a:p>
        </p:txBody>
      </p:sp>
      <p:sp>
        <p:nvSpPr>
          <p:cNvPr id="4" name="Shape 2"/>
          <p:cNvSpPr/>
          <p:nvPr/>
        </p:nvSpPr>
        <p:spPr>
          <a:xfrm>
            <a:off x="640080" y="1627632"/>
            <a:ext cx="3493008" cy="1810512"/>
          </a:xfrm>
          <a:prstGeom prst="roundRect">
            <a:avLst>
              <a:gd name="adj" fmla="val 505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5" name="Shape 3"/>
          <p:cNvSpPr/>
          <p:nvPr/>
        </p:nvSpPr>
        <p:spPr>
          <a:xfrm>
            <a:off x="2103120" y="1828800"/>
            <a:ext cx="566928" cy="566928"/>
          </a:xfrm>
          <a:prstGeom prst="ellipse">
            <a:avLst/>
          </a:prstGeom>
          <a:solidFill>
            <a:srgbClr val="005BEA"/>
          </a:solidFill>
          <a:ln/>
        </p:spPr>
      </p:sp>
      <p:pic>
        <p:nvPicPr>
          <p:cNvPr id="6" name="Image 0" descr="/private/tmp/claude-501/-Users-ji1wxs-PraditaProjects-AC-Project/3c2d6cf5-1769-4cbb-8b1c-24143069dbcc/scratchpad/icons/FiActivity_FFFFFF_300.png">    </p:cNvPr>
          <p:cNvPicPr>
            <a:picLocks noChangeAspect="1"/>
          </p:cNvPicPr>
          <p:nvPr/>
        </p:nvPicPr>
        <p:blipFill>
          <a:blip r:embed="rId1"/>
          <a:stretch>
            <a:fillRect/>
          </a:stretch>
        </p:blipFill>
        <p:spPr>
          <a:xfrm>
            <a:off x="2239183" y="1964863"/>
            <a:ext cx="294803" cy="294803"/>
          </a:xfrm>
          <a:prstGeom prst="rect">
            <a:avLst/>
          </a:prstGeom>
        </p:spPr>
      </p:pic>
      <p:sp>
        <p:nvSpPr>
          <p:cNvPr id="7" name="Text 4"/>
          <p:cNvSpPr txBox="1"/>
          <p:nvPr/>
        </p:nvSpPr>
        <p:spPr>
          <a:xfrm>
            <a:off x="768096" y="2487168"/>
            <a:ext cx="3236976" cy="457200"/>
          </a:xfrm>
          <a:prstGeom prst="rect">
            <a:avLst/>
          </a:prstGeom>
          <a:noFill/>
          <a:ln/>
        </p:spPr>
        <p:txBody>
          <a:bodyPr wrap="square" lIns="0" tIns="0" rIns="0" bIns="0" rtlCol="0" anchor="ctr"/>
          <a:lstStyle/>
          <a:p>
            <a:pPr algn="ctr" indent="0" marL="0">
              <a:buNone/>
            </a:pPr>
            <a:r>
              <a:rPr lang="en-US" sz="1350" b="1" dirty="0">
                <a:solidFill>
                  <a:srgbClr val="0D2238"/>
                </a:solidFill>
                <a:latin typeface="Cambria" pitchFamily="34" charset="0"/>
                <a:ea typeface="Cambria" pitchFamily="34" charset="-122"/>
                <a:cs typeface="Cambria" pitchFamily="34" charset="-120"/>
              </a:rPr>
              <a:t>Monitoring &amp; Alerts</a:t>
            </a:r>
            <a:endParaRPr lang="en-US" sz="1350" dirty="0"/>
          </a:p>
        </p:txBody>
      </p:sp>
      <p:sp>
        <p:nvSpPr>
          <p:cNvPr id="8" name="Text 5"/>
          <p:cNvSpPr txBox="1"/>
          <p:nvPr/>
        </p:nvSpPr>
        <p:spPr>
          <a:xfrm>
            <a:off x="822960" y="2926080"/>
            <a:ext cx="3127248" cy="475488"/>
          </a:xfrm>
          <a:prstGeom prst="rect">
            <a:avLst/>
          </a:prstGeom>
          <a:noFill/>
          <a:ln/>
        </p:spPr>
        <p:txBody>
          <a:bodyPr wrap="square" lIns="0" tIns="0" rIns="0" bIns="0" rtlCol="0" anchor="ctr"/>
          <a:lstStyle/>
          <a:p>
            <a:pPr algn="ctr" indent="0" marL="0">
              <a:lnSpc>
                <a:spcPct val="112000"/>
              </a:lnSpc>
              <a:buNone/>
            </a:pPr>
            <a:r>
              <a:rPr lang="en-US" sz="1000" dirty="0">
                <a:solidFill>
                  <a:srgbClr val="5C6E82"/>
                </a:solidFill>
                <a:latin typeface="Calibri" pitchFamily="34" charset="0"/>
                <a:ea typeface="Calibri" pitchFamily="34" charset="-122"/>
                <a:cs typeface="Calibri" pitchFamily="34" charset="-120"/>
              </a:rPr>
              <a:t>Real-time status with red/orange/green severity signals.</a:t>
            </a:r>
            <a:endParaRPr lang="en-US" sz="1000" dirty="0"/>
          </a:p>
        </p:txBody>
      </p:sp>
      <p:sp>
        <p:nvSpPr>
          <p:cNvPr id="9" name="Shape 6"/>
          <p:cNvSpPr/>
          <p:nvPr/>
        </p:nvSpPr>
        <p:spPr>
          <a:xfrm>
            <a:off x="4347972" y="1627632"/>
            <a:ext cx="3493008" cy="1810512"/>
          </a:xfrm>
          <a:prstGeom prst="roundRect">
            <a:avLst>
              <a:gd name="adj" fmla="val 505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0" name="Shape 7"/>
          <p:cNvSpPr/>
          <p:nvPr/>
        </p:nvSpPr>
        <p:spPr>
          <a:xfrm>
            <a:off x="5811012" y="1828800"/>
            <a:ext cx="566928" cy="566928"/>
          </a:xfrm>
          <a:prstGeom prst="ellipse">
            <a:avLst/>
          </a:prstGeom>
          <a:solidFill>
            <a:srgbClr val="005BEA"/>
          </a:solidFill>
          <a:ln/>
        </p:spPr>
      </p:sp>
      <p:pic>
        <p:nvPicPr>
          <p:cNvPr id="11" name="Image 1" descr="/private/tmp/claude-501/-Users-ji1wxs-PraditaProjects-AC-Project/3c2d6cf5-1769-4cbb-8b1c-24143069dbcc/scratchpad/icons/FiSliders_FFFFFF_300.png">    </p:cNvPr>
          <p:cNvPicPr>
            <a:picLocks noChangeAspect="1"/>
          </p:cNvPicPr>
          <p:nvPr/>
        </p:nvPicPr>
        <p:blipFill>
          <a:blip r:embed="rId2"/>
          <a:stretch>
            <a:fillRect/>
          </a:stretch>
        </p:blipFill>
        <p:spPr>
          <a:xfrm>
            <a:off x="5947075" y="1964863"/>
            <a:ext cx="294803" cy="294803"/>
          </a:xfrm>
          <a:prstGeom prst="rect">
            <a:avLst/>
          </a:prstGeom>
        </p:spPr>
      </p:pic>
      <p:sp>
        <p:nvSpPr>
          <p:cNvPr id="12" name="Text 8"/>
          <p:cNvSpPr txBox="1"/>
          <p:nvPr/>
        </p:nvSpPr>
        <p:spPr>
          <a:xfrm>
            <a:off x="4475988" y="2487168"/>
            <a:ext cx="3236976" cy="457200"/>
          </a:xfrm>
          <a:prstGeom prst="rect">
            <a:avLst/>
          </a:prstGeom>
          <a:noFill/>
          <a:ln/>
        </p:spPr>
        <p:txBody>
          <a:bodyPr wrap="square" lIns="0" tIns="0" rIns="0" bIns="0" rtlCol="0" anchor="ctr"/>
          <a:lstStyle/>
          <a:p>
            <a:pPr algn="ctr" indent="0" marL="0">
              <a:buNone/>
            </a:pPr>
            <a:r>
              <a:rPr lang="en-US" sz="1350" b="1" dirty="0">
                <a:solidFill>
                  <a:srgbClr val="0D2238"/>
                </a:solidFill>
                <a:latin typeface="Cambria" pitchFamily="34" charset="0"/>
                <a:ea typeface="Cambria" pitchFamily="34" charset="-122"/>
                <a:cs typeface="Cambria" pitchFamily="34" charset="-120"/>
              </a:rPr>
              <a:t>Remote Control &amp; Automation</a:t>
            </a:r>
            <a:endParaRPr lang="en-US" sz="1350" dirty="0"/>
          </a:p>
        </p:txBody>
      </p:sp>
      <p:sp>
        <p:nvSpPr>
          <p:cNvPr id="13" name="Text 9"/>
          <p:cNvSpPr txBox="1"/>
          <p:nvPr/>
        </p:nvSpPr>
        <p:spPr>
          <a:xfrm>
            <a:off x="4530852" y="2926080"/>
            <a:ext cx="3127248" cy="475488"/>
          </a:xfrm>
          <a:prstGeom prst="rect">
            <a:avLst/>
          </a:prstGeom>
          <a:noFill/>
          <a:ln/>
        </p:spPr>
        <p:txBody>
          <a:bodyPr wrap="square" lIns="0" tIns="0" rIns="0" bIns="0" rtlCol="0" anchor="ctr"/>
          <a:lstStyle/>
          <a:p>
            <a:pPr algn="ctr" indent="0" marL="0">
              <a:lnSpc>
                <a:spcPct val="112000"/>
              </a:lnSpc>
              <a:buNone/>
            </a:pPr>
            <a:r>
              <a:rPr lang="en-US" sz="1000" dirty="0">
                <a:solidFill>
                  <a:srgbClr val="5C6E82"/>
                </a:solidFill>
                <a:latin typeface="Calibri" pitchFamily="34" charset="0"/>
                <a:ea typeface="Calibri" pitchFamily="34" charset="-122"/>
                <a:cs typeface="Calibri" pitchFamily="34" charset="-120"/>
              </a:rPr>
              <a:t>Temperature control, scheduling, GPS-based automation.</a:t>
            </a:r>
            <a:endParaRPr lang="en-US" sz="1000" dirty="0"/>
          </a:p>
        </p:txBody>
      </p:sp>
      <p:sp>
        <p:nvSpPr>
          <p:cNvPr id="14" name="Shape 10"/>
          <p:cNvSpPr/>
          <p:nvPr/>
        </p:nvSpPr>
        <p:spPr>
          <a:xfrm>
            <a:off x="8055864" y="1627632"/>
            <a:ext cx="3493008" cy="1810512"/>
          </a:xfrm>
          <a:prstGeom prst="roundRect">
            <a:avLst>
              <a:gd name="adj" fmla="val 505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5" name="Shape 11"/>
          <p:cNvSpPr/>
          <p:nvPr/>
        </p:nvSpPr>
        <p:spPr>
          <a:xfrm>
            <a:off x="9518904" y="1828800"/>
            <a:ext cx="566928" cy="566928"/>
          </a:xfrm>
          <a:prstGeom prst="ellipse">
            <a:avLst/>
          </a:prstGeom>
          <a:solidFill>
            <a:srgbClr val="005BEA"/>
          </a:solidFill>
          <a:ln/>
        </p:spPr>
      </p:sp>
      <p:pic>
        <p:nvPicPr>
          <p:cNvPr id="16" name="Image 2" descr="/private/tmp/claude-501/-Users-ji1wxs-PraditaProjects-AC-Project/3c2d6cf5-1769-4cbb-8b1c-24143069dbcc/scratchpad/icons/FiTool_FFFFFF_300.png">    </p:cNvPr>
          <p:cNvPicPr>
            <a:picLocks noChangeAspect="1"/>
          </p:cNvPicPr>
          <p:nvPr/>
        </p:nvPicPr>
        <p:blipFill>
          <a:blip r:embed="rId3"/>
          <a:stretch>
            <a:fillRect/>
          </a:stretch>
        </p:blipFill>
        <p:spPr>
          <a:xfrm>
            <a:off x="9654967" y="1964863"/>
            <a:ext cx="294803" cy="294803"/>
          </a:xfrm>
          <a:prstGeom prst="rect">
            <a:avLst/>
          </a:prstGeom>
        </p:spPr>
      </p:pic>
      <p:sp>
        <p:nvSpPr>
          <p:cNvPr id="17" name="Text 12"/>
          <p:cNvSpPr txBox="1"/>
          <p:nvPr/>
        </p:nvSpPr>
        <p:spPr>
          <a:xfrm>
            <a:off x="8183880" y="2487168"/>
            <a:ext cx="3236976" cy="457200"/>
          </a:xfrm>
          <a:prstGeom prst="rect">
            <a:avLst/>
          </a:prstGeom>
          <a:noFill/>
          <a:ln/>
        </p:spPr>
        <p:txBody>
          <a:bodyPr wrap="square" lIns="0" tIns="0" rIns="0" bIns="0" rtlCol="0" anchor="ctr"/>
          <a:lstStyle/>
          <a:p>
            <a:pPr algn="ctr" indent="0" marL="0">
              <a:buNone/>
            </a:pPr>
            <a:r>
              <a:rPr lang="en-US" sz="1350" b="1" dirty="0">
                <a:solidFill>
                  <a:srgbClr val="0D2238"/>
                </a:solidFill>
                <a:latin typeface="Cambria" pitchFamily="34" charset="0"/>
                <a:ea typeface="Cambria" pitchFamily="34" charset="-122"/>
                <a:cs typeface="Cambria" pitchFamily="34" charset="-120"/>
              </a:rPr>
              <a:t>Maintenance Workflow</a:t>
            </a:r>
            <a:endParaRPr lang="en-US" sz="1350" dirty="0"/>
          </a:p>
        </p:txBody>
      </p:sp>
      <p:sp>
        <p:nvSpPr>
          <p:cNvPr id="18" name="Text 13"/>
          <p:cNvSpPr txBox="1"/>
          <p:nvPr/>
        </p:nvSpPr>
        <p:spPr>
          <a:xfrm>
            <a:off x="8238744" y="2926080"/>
            <a:ext cx="3127248" cy="475488"/>
          </a:xfrm>
          <a:prstGeom prst="rect">
            <a:avLst/>
          </a:prstGeom>
          <a:noFill/>
          <a:ln/>
        </p:spPr>
        <p:txBody>
          <a:bodyPr wrap="square" lIns="0" tIns="0" rIns="0" bIns="0" rtlCol="0" anchor="ctr"/>
          <a:lstStyle/>
          <a:p>
            <a:pPr algn="ctr" indent="0" marL="0">
              <a:lnSpc>
                <a:spcPct val="112000"/>
              </a:lnSpc>
              <a:buNone/>
            </a:pPr>
            <a:r>
              <a:rPr lang="en-US" sz="1000" dirty="0">
                <a:solidFill>
                  <a:srgbClr val="5C6E82"/>
                </a:solidFill>
                <a:latin typeface="Calibri" pitchFamily="34" charset="0"/>
                <a:ea typeface="Calibri" pitchFamily="34" charset="-122"/>
                <a:cs typeface="Calibri" pitchFamily="34" charset="-120"/>
              </a:rPr>
              <a:t>Requests, inspections, assignment &amp; quality review.</a:t>
            </a:r>
            <a:endParaRPr lang="en-US" sz="1000" dirty="0"/>
          </a:p>
        </p:txBody>
      </p:sp>
      <p:sp>
        <p:nvSpPr>
          <p:cNvPr id="19" name="Shape 14"/>
          <p:cNvSpPr/>
          <p:nvPr/>
        </p:nvSpPr>
        <p:spPr>
          <a:xfrm>
            <a:off x="640080" y="3675888"/>
            <a:ext cx="3493008" cy="1810512"/>
          </a:xfrm>
          <a:prstGeom prst="roundRect">
            <a:avLst>
              <a:gd name="adj" fmla="val 505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0" name="Shape 15"/>
          <p:cNvSpPr/>
          <p:nvPr/>
        </p:nvSpPr>
        <p:spPr>
          <a:xfrm>
            <a:off x="2103120" y="3877056"/>
            <a:ext cx="566928" cy="566928"/>
          </a:xfrm>
          <a:prstGeom prst="ellipse">
            <a:avLst/>
          </a:prstGeom>
          <a:solidFill>
            <a:srgbClr val="005BEA"/>
          </a:solidFill>
          <a:ln/>
        </p:spPr>
      </p:sp>
      <p:pic>
        <p:nvPicPr>
          <p:cNvPr id="21" name="Image 3" descr="/private/tmp/claude-501/-Users-ji1wxs-PraditaProjects-AC-Project/3c2d6cf5-1769-4cbb-8b1c-24143069dbcc/scratchpad/icons/FiCreditCard_FFFFFF_300.png">    </p:cNvPr>
          <p:cNvPicPr>
            <a:picLocks noChangeAspect="1"/>
          </p:cNvPicPr>
          <p:nvPr/>
        </p:nvPicPr>
        <p:blipFill>
          <a:blip r:embed="rId4"/>
          <a:stretch>
            <a:fillRect/>
          </a:stretch>
        </p:blipFill>
        <p:spPr>
          <a:xfrm>
            <a:off x="2239183" y="4013119"/>
            <a:ext cx="294803" cy="294803"/>
          </a:xfrm>
          <a:prstGeom prst="rect">
            <a:avLst/>
          </a:prstGeom>
        </p:spPr>
      </p:pic>
      <p:sp>
        <p:nvSpPr>
          <p:cNvPr id="22" name="Text 16"/>
          <p:cNvSpPr txBox="1"/>
          <p:nvPr/>
        </p:nvSpPr>
        <p:spPr>
          <a:xfrm>
            <a:off x="768096" y="4535424"/>
            <a:ext cx="3236976" cy="457200"/>
          </a:xfrm>
          <a:prstGeom prst="rect">
            <a:avLst/>
          </a:prstGeom>
          <a:noFill/>
          <a:ln/>
        </p:spPr>
        <p:txBody>
          <a:bodyPr wrap="square" lIns="0" tIns="0" rIns="0" bIns="0" rtlCol="0" anchor="ctr"/>
          <a:lstStyle/>
          <a:p>
            <a:pPr algn="ctr" indent="0" marL="0">
              <a:buNone/>
            </a:pPr>
            <a:r>
              <a:rPr lang="en-US" sz="1350" b="1" dirty="0">
                <a:solidFill>
                  <a:srgbClr val="0D2238"/>
                </a:solidFill>
                <a:latin typeface="Cambria" pitchFamily="34" charset="0"/>
                <a:ea typeface="Cambria" pitchFamily="34" charset="-122"/>
                <a:cs typeface="Cambria" pitchFamily="34" charset="-120"/>
              </a:rPr>
              <a:t>Payments &amp; Restrictions</a:t>
            </a:r>
            <a:endParaRPr lang="en-US" sz="1350" dirty="0"/>
          </a:p>
        </p:txBody>
      </p:sp>
      <p:sp>
        <p:nvSpPr>
          <p:cNvPr id="23" name="Text 17"/>
          <p:cNvSpPr txBox="1"/>
          <p:nvPr/>
        </p:nvSpPr>
        <p:spPr>
          <a:xfrm>
            <a:off x="822960" y="4974336"/>
            <a:ext cx="3127248" cy="475488"/>
          </a:xfrm>
          <a:prstGeom prst="rect">
            <a:avLst/>
          </a:prstGeom>
          <a:noFill/>
          <a:ln/>
        </p:spPr>
        <p:txBody>
          <a:bodyPr wrap="square" lIns="0" tIns="0" rIns="0" bIns="0" rtlCol="0" anchor="ctr"/>
          <a:lstStyle/>
          <a:p>
            <a:pPr algn="ctr" indent="0" marL="0">
              <a:lnSpc>
                <a:spcPct val="112000"/>
              </a:lnSpc>
              <a:buNone/>
            </a:pPr>
            <a:r>
              <a:rPr lang="en-US" sz="1000" dirty="0">
                <a:solidFill>
                  <a:srgbClr val="5C6E82"/>
                </a:solidFill>
                <a:latin typeface="Calibri" pitchFamily="34" charset="0"/>
                <a:ea typeface="Calibri" pitchFamily="34" charset="-122"/>
                <a:cs typeface="Calibri" pitchFamily="34" charset="-120"/>
              </a:rPr>
              <a:t>Invoices, RTO restriction/release, grace periods.</a:t>
            </a:r>
            <a:endParaRPr lang="en-US" sz="1000" dirty="0"/>
          </a:p>
        </p:txBody>
      </p:sp>
      <p:sp>
        <p:nvSpPr>
          <p:cNvPr id="24" name="Shape 18"/>
          <p:cNvSpPr/>
          <p:nvPr/>
        </p:nvSpPr>
        <p:spPr>
          <a:xfrm>
            <a:off x="4347972" y="3675888"/>
            <a:ext cx="3493008" cy="1810512"/>
          </a:xfrm>
          <a:prstGeom prst="roundRect">
            <a:avLst>
              <a:gd name="adj" fmla="val 505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5" name="Shape 19"/>
          <p:cNvSpPr/>
          <p:nvPr/>
        </p:nvSpPr>
        <p:spPr>
          <a:xfrm>
            <a:off x="5811012" y="3877056"/>
            <a:ext cx="566928" cy="566928"/>
          </a:xfrm>
          <a:prstGeom prst="ellipse">
            <a:avLst/>
          </a:prstGeom>
          <a:solidFill>
            <a:srgbClr val="005BEA"/>
          </a:solidFill>
          <a:ln/>
        </p:spPr>
      </p:sp>
      <p:pic>
        <p:nvPicPr>
          <p:cNvPr id="26" name="Image 4" descr="/private/tmp/claude-501/-Users-ji1wxs-PraditaProjects-AC-Project/3c2d6cf5-1769-4cbb-8b1c-24143069dbcc/scratchpad/icons/FiSun_FFFFFF_300.png">    </p:cNvPr>
          <p:cNvPicPr>
            <a:picLocks noChangeAspect="1"/>
          </p:cNvPicPr>
          <p:nvPr/>
        </p:nvPicPr>
        <p:blipFill>
          <a:blip r:embed="rId5"/>
          <a:stretch>
            <a:fillRect/>
          </a:stretch>
        </p:blipFill>
        <p:spPr>
          <a:xfrm>
            <a:off x="5947075" y="4013119"/>
            <a:ext cx="294803" cy="294803"/>
          </a:xfrm>
          <a:prstGeom prst="rect">
            <a:avLst/>
          </a:prstGeom>
        </p:spPr>
      </p:pic>
      <p:sp>
        <p:nvSpPr>
          <p:cNvPr id="27" name="Text 20"/>
          <p:cNvSpPr txBox="1"/>
          <p:nvPr/>
        </p:nvSpPr>
        <p:spPr>
          <a:xfrm>
            <a:off x="4475988" y="4535424"/>
            <a:ext cx="3236976" cy="457200"/>
          </a:xfrm>
          <a:prstGeom prst="rect">
            <a:avLst/>
          </a:prstGeom>
          <a:noFill/>
          <a:ln/>
        </p:spPr>
        <p:txBody>
          <a:bodyPr wrap="square" lIns="0" tIns="0" rIns="0" bIns="0" rtlCol="0" anchor="ctr"/>
          <a:lstStyle/>
          <a:p>
            <a:pPr algn="ctr" indent="0" marL="0">
              <a:buNone/>
            </a:pPr>
            <a:r>
              <a:rPr lang="en-US" sz="1350" b="1" dirty="0">
                <a:solidFill>
                  <a:srgbClr val="0D2238"/>
                </a:solidFill>
                <a:latin typeface="Cambria" pitchFamily="34" charset="0"/>
                <a:ea typeface="Cambria" pitchFamily="34" charset="-122"/>
                <a:cs typeface="Cambria" pitchFamily="34" charset="-120"/>
              </a:rPr>
              <a:t>Energy &amp; Air Quality</a:t>
            </a:r>
            <a:endParaRPr lang="en-US" sz="1350" dirty="0"/>
          </a:p>
        </p:txBody>
      </p:sp>
      <p:sp>
        <p:nvSpPr>
          <p:cNvPr id="28" name="Text 21"/>
          <p:cNvSpPr txBox="1"/>
          <p:nvPr/>
        </p:nvSpPr>
        <p:spPr>
          <a:xfrm>
            <a:off x="4530852" y="4974336"/>
            <a:ext cx="3127248" cy="475488"/>
          </a:xfrm>
          <a:prstGeom prst="rect">
            <a:avLst/>
          </a:prstGeom>
          <a:noFill/>
          <a:ln/>
        </p:spPr>
        <p:txBody>
          <a:bodyPr wrap="square" lIns="0" tIns="0" rIns="0" bIns="0" rtlCol="0" anchor="ctr"/>
          <a:lstStyle/>
          <a:p>
            <a:pPr algn="ctr" indent="0" marL="0">
              <a:lnSpc>
                <a:spcPct val="112000"/>
              </a:lnSpc>
              <a:buNone/>
            </a:pPr>
            <a:r>
              <a:rPr lang="en-US" sz="1000" dirty="0">
                <a:solidFill>
                  <a:srgbClr val="5C6E82"/>
                </a:solidFill>
                <a:latin typeface="Calibri" pitchFamily="34" charset="0"/>
                <a:ea typeface="Calibri" pitchFamily="34" charset="-122"/>
                <a:cs typeface="Calibri" pitchFamily="34" charset="-120"/>
              </a:rPr>
              <a:t>Power/cost tracking, CO₂, dust, ventilation guidance.</a:t>
            </a:r>
            <a:endParaRPr lang="en-US" sz="1000" dirty="0"/>
          </a:p>
        </p:txBody>
      </p:sp>
      <p:sp>
        <p:nvSpPr>
          <p:cNvPr id="29" name="Shape 22"/>
          <p:cNvSpPr/>
          <p:nvPr/>
        </p:nvSpPr>
        <p:spPr>
          <a:xfrm>
            <a:off x="8055864" y="3675888"/>
            <a:ext cx="3493008" cy="1810512"/>
          </a:xfrm>
          <a:prstGeom prst="roundRect">
            <a:avLst>
              <a:gd name="adj" fmla="val 505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30" name="Shape 23"/>
          <p:cNvSpPr/>
          <p:nvPr/>
        </p:nvSpPr>
        <p:spPr>
          <a:xfrm>
            <a:off x="9518904" y="3877056"/>
            <a:ext cx="566928" cy="566928"/>
          </a:xfrm>
          <a:prstGeom prst="ellipse">
            <a:avLst/>
          </a:prstGeom>
          <a:solidFill>
            <a:srgbClr val="005BEA"/>
          </a:solidFill>
          <a:ln/>
        </p:spPr>
      </p:sp>
      <p:pic>
        <p:nvPicPr>
          <p:cNvPr id="31" name="Image 5" descr="/private/tmp/claude-501/-Users-ji1wxs-PraditaProjects-AC-Project/3c2d6cf5-1769-4cbb-8b1c-24143069dbcc/scratchpad/icons/FiCpu_FFFFFF_300.png">    </p:cNvPr>
          <p:cNvPicPr>
            <a:picLocks noChangeAspect="1"/>
          </p:cNvPicPr>
          <p:nvPr/>
        </p:nvPicPr>
        <p:blipFill>
          <a:blip r:embed="rId6"/>
          <a:stretch>
            <a:fillRect/>
          </a:stretch>
        </p:blipFill>
        <p:spPr>
          <a:xfrm>
            <a:off x="9654967" y="4013119"/>
            <a:ext cx="294803" cy="294803"/>
          </a:xfrm>
          <a:prstGeom prst="rect">
            <a:avLst/>
          </a:prstGeom>
        </p:spPr>
      </p:pic>
      <p:sp>
        <p:nvSpPr>
          <p:cNvPr id="32" name="Text 24"/>
          <p:cNvSpPr txBox="1"/>
          <p:nvPr/>
        </p:nvSpPr>
        <p:spPr>
          <a:xfrm>
            <a:off x="8183880" y="4535424"/>
            <a:ext cx="3236976" cy="457200"/>
          </a:xfrm>
          <a:prstGeom prst="rect">
            <a:avLst/>
          </a:prstGeom>
          <a:noFill/>
          <a:ln/>
        </p:spPr>
        <p:txBody>
          <a:bodyPr wrap="square" lIns="0" tIns="0" rIns="0" bIns="0" rtlCol="0" anchor="ctr"/>
          <a:lstStyle/>
          <a:p>
            <a:pPr algn="ctr" indent="0" marL="0">
              <a:buNone/>
            </a:pPr>
            <a:r>
              <a:rPr lang="en-US" sz="1350" b="1" dirty="0">
                <a:solidFill>
                  <a:srgbClr val="0D2238"/>
                </a:solidFill>
                <a:latin typeface="Cambria" pitchFamily="34" charset="0"/>
                <a:ea typeface="Cambria" pitchFamily="34" charset="-122"/>
                <a:cs typeface="Cambria" pitchFamily="34" charset="-120"/>
              </a:rPr>
              <a:t>IoT &amp; Carbon Reporting</a:t>
            </a:r>
            <a:endParaRPr lang="en-US" sz="1350" dirty="0"/>
          </a:p>
        </p:txBody>
      </p:sp>
      <p:sp>
        <p:nvSpPr>
          <p:cNvPr id="33" name="Text 25"/>
          <p:cNvSpPr txBox="1"/>
          <p:nvPr/>
        </p:nvSpPr>
        <p:spPr>
          <a:xfrm>
            <a:off x="8238744" y="4974336"/>
            <a:ext cx="3127248" cy="475488"/>
          </a:xfrm>
          <a:prstGeom prst="rect">
            <a:avLst/>
          </a:prstGeom>
          <a:noFill/>
          <a:ln/>
        </p:spPr>
        <p:txBody>
          <a:bodyPr wrap="square" lIns="0" tIns="0" rIns="0" bIns="0" rtlCol="0" anchor="ctr"/>
          <a:lstStyle/>
          <a:p>
            <a:pPr algn="ctr" indent="0" marL="0">
              <a:lnSpc>
                <a:spcPct val="112000"/>
              </a:lnSpc>
              <a:buNone/>
            </a:pPr>
            <a:r>
              <a:rPr lang="en-US" sz="1000" dirty="0">
                <a:solidFill>
                  <a:srgbClr val="5C6E82"/>
                </a:solidFill>
                <a:latin typeface="Calibri" pitchFamily="34" charset="0"/>
                <a:ea typeface="Calibri" pitchFamily="34" charset="-122"/>
                <a:cs typeface="Calibri" pitchFamily="34" charset="-120"/>
              </a:rPr>
              <a:t>Device connectivity, tamper detection, emissions &amp; offsets (concept).</a:t>
            </a:r>
            <a:endParaRPr lang="en-US" sz="1000" dirty="0"/>
          </a:p>
        </p:txBody>
      </p:sp>
      <p:sp>
        <p:nvSpPr>
          <p:cNvPr id="34" name="Text 26"/>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35" name="Text 27"/>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04 · REQUIREMENTS — COMMON</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Common Requirements — Shared Platform Rules</a:t>
            </a:r>
            <a:endParaRPr lang="en-US" sz="3000" dirty="0"/>
          </a:p>
        </p:txBody>
      </p:sp>
      <p:sp>
        <p:nvSpPr>
          <p:cNvPr id="4" name="Text 2"/>
          <p:cNvSpPr txBox="1"/>
          <p:nvPr/>
        </p:nvSpPr>
        <p:spPr>
          <a:xfrm>
            <a:off x="640080" y="1481328"/>
            <a:ext cx="10908792" cy="365760"/>
          </a:xfrm>
          <a:prstGeom prst="rect">
            <a:avLst/>
          </a:prstGeom>
          <a:noFill/>
          <a:ln/>
        </p:spPr>
        <p:txBody>
          <a:bodyPr wrap="square" lIns="0" tIns="0" rIns="0" bIns="0" rtlCol="0" anchor="ctr"/>
          <a:lstStyle/>
          <a:p>
            <a:pPr indent="0" marL="0">
              <a:buNone/>
            </a:pPr>
            <a:r>
              <a:rPr lang="en-US" sz="1300" i="1" dirty="0">
                <a:solidFill>
                  <a:srgbClr val="5C6E82"/>
                </a:solidFill>
                <a:latin typeface="Calibri" pitchFamily="34" charset="0"/>
                <a:ea typeface="Calibri" pitchFamily="34" charset="-122"/>
                <a:cs typeface="Calibri" pitchFamily="34" charset="-120"/>
              </a:rPr>
              <a:t>Apply to all four roles. Defined once in the common requirements document, then reused everywhere.</a:t>
            </a:r>
            <a:endParaRPr lang="en-US" sz="1300" dirty="0"/>
          </a:p>
        </p:txBody>
      </p:sp>
      <p:sp>
        <p:nvSpPr>
          <p:cNvPr id="5" name="Shape 3"/>
          <p:cNvSpPr/>
          <p:nvPr/>
        </p:nvSpPr>
        <p:spPr>
          <a:xfrm>
            <a:off x="640080" y="2011680"/>
            <a:ext cx="5271516" cy="896112"/>
          </a:xfrm>
          <a:prstGeom prst="roundRect">
            <a:avLst>
              <a:gd name="adj" fmla="val 1020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6" name="Shape 4"/>
          <p:cNvSpPr/>
          <p:nvPr/>
        </p:nvSpPr>
        <p:spPr>
          <a:xfrm>
            <a:off x="841248" y="2231136"/>
            <a:ext cx="868680" cy="457200"/>
          </a:xfrm>
          <a:prstGeom prst="roundRect">
            <a:avLst>
              <a:gd name="adj" fmla="val 16000"/>
            </a:avLst>
          </a:prstGeom>
          <a:solidFill>
            <a:srgbClr val="E6F0FF"/>
          </a:solidFill>
          <a:ln/>
        </p:spPr>
      </p:sp>
      <p:sp>
        <p:nvSpPr>
          <p:cNvPr id="7" name="Text 5"/>
          <p:cNvSpPr txBox="1"/>
          <p:nvPr/>
        </p:nvSpPr>
        <p:spPr>
          <a:xfrm>
            <a:off x="841248" y="2231136"/>
            <a:ext cx="868680" cy="457200"/>
          </a:xfrm>
          <a:prstGeom prst="rect">
            <a:avLst/>
          </a:prstGeom>
          <a:noFill/>
          <a:ln/>
        </p:spPr>
        <p:txBody>
          <a:bodyPr wrap="square" lIns="0" tIns="0" rIns="0" bIns="0" rtlCol="0" anchor="ctr"/>
          <a:lstStyle/>
          <a:p>
            <a:pPr algn="ctr" indent="0" marL="0">
              <a:buNone/>
            </a:pPr>
            <a:r>
              <a:rPr lang="en-US" sz="1100" b="1" dirty="0">
                <a:solidFill>
                  <a:srgbClr val="005BEA"/>
                </a:solidFill>
                <a:latin typeface="Calibri" pitchFamily="34" charset="0"/>
                <a:ea typeface="Calibri" pitchFamily="34" charset="-122"/>
                <a:cs typeface="Calibri" pitchFamily="34" charset="-120"/>
              </a:rPr>
              <a:t>FR-X01</a:t>
            </a:r>
            <a:endParaRPr lang="en-US" sz="1100" dirty="0"/>
          </a:p>
        </p:txBody>
      </p:sp>
      <p:sp>
        <p:nvSpPr>
          <p:cNvPr id="8" name="Text 6"/>
          <p:cNvSpPr txBox="1"/>
          <p:nvPr/>
        </p:nvSpPr>
        <p:spPr>
          <a:xfrm>
            <a:off x="1874520" y="2084832"/>
            <a:ext cx="3854196" cy="749808"/>
          </a:xfrm>
          <a:prstGeom prst="rect">
            <a:avLst/>
          </a:prstGeom>
          <a:noFill/>
          <a:ln/>
        </p:spPr>
        <p:txBody>
          <a:bodyPr wrap="square" lIns="0" tIns="0" rIns="0" bIns="0" rtlCol="0" anchor="ctr"/>
          <a:lstStyle/>
          <a:p>
            <a:pPr indent="0" marL="0">
              <a:lnSpc>
                <a:spcPct val="115000"/>
              </a:lnSpc>
              <a:buNone/>
            </a:pPr>
            <a:r>
              <a:rPr lang="en-US" sz="1200" dirty="0">
                <a:solidFill>
                  <a:srgbClr val="0D2238"/>
                </a:solidFill>
                <a:latin typeface="Calibri" pitchFamily="34" charset="0"/>
                <a:ea typeface="Calibri" pitchFamily="34" charset="-122"/>
                <a:cs typeface="Calibri" pitchFamily="34" charset="-120"/>
              </a:rPr>
              <a:t>Sign in/out, reset passwords, select demo role &amp; language</a:t>
            </a:r>
            <a:endParaRPr lang="en-US" sz="1200" dirty="0"/>
          </a:p>
        </p:txBody>
      </p:sp>
      <p:sp>
        <p:nvSpPr>
          <p:cNvPr id="9" name="Shape 7"/>
          <p:cNvSpPr/>
          <p:nvPr/>
        </p:nvSpPr>
        <p:spPr>
          <a:xfrm>
            <a:off x="640080" y="3072384"/>
            <a:ext cx="5271516" cy="896112"/>
          </a:xfrm>
          <a:prstGeom prst="roundRect">
            <a:avLst>
              <a:gd name="adj" fmla="val 1020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0" name="Shape 8"/>
          <p:cNvSpPr/>
          <p:nvPr/>
        </p:nvSpPr>
        <p:spPr>
          <a:xfrm>
            <a:off x="841248" y="3291840"/>
            <a:ext cx="868680" cy="457200"/>
          </a:xfrm>
          <a:prstGeom prst="roundRect">
            <a:avLst>
              <a:gd name="adj" fmla="val 16000"/>
            </a:avLst>
          </a:prstGeom>
          <a:solidFill>
            <a:srgbClr val="E6F0FF"/>
          </a:solidFill>
          <a:ln/>
        </p:spPr>
      </p:sp>
      <p:sp>
        <p:nvSpPr>
          <p:cNvPr id="11" name="Text 9"/>
          <p:cNvSpPr txBox="1"/>
          <p:nvPr/>
        </p:nvSpPr>
        <p:spPr>
          <a:xfrm>
            <a:off x="841248" y="3291840"/>
            <a:ext cx="868680" cy="457200"/>
          </a:xfrm>
          <a:prstGeom prst="rect">
            <a:avLst/>
          </a:prstGeom>
          <a:noFill/>
          <a:ln/>
        </p:spPr>
        <p:txBody>
          <a:bodyPr wrap="square" lIns="0" tIns="0" rIns="0" bIns="0" rtlCol="0" anchor="ctr"/>
          <a:lstStyle/>
          <a:p>
            <a:pPr algn="ctr" indent="0" marL="0">
              <a:buNone/>
            </a:pPr>
            <a:r>
              <a:rPr lang="en-US" sz="1100" b="1" dirty="0">
                <a:solidFill>
                  <a:srgbClr val="005BEA"/>
                </a:solidFill>
                <a:latin typeface="Calibri" pitchFamily="34" charset="0"/>
                <a:ea typeface="Calibri" pitchFamily="34" charset="-122"/>
                <a:cs typeface="Calibri" pitchFamily="34" charset="-120"/>
              </a:rPr>
              <a:t>FR-X02</a:t>
            </a:r>
            <a:endParaRPr lang="en-US" sz="1100" dirty="0"/>
          </a:p>
        </p:txBody>
      </p:sp>
      <p:sp>
        <p:nvSpPr>
          <p:cNvPr id="12" name="Text 10"/>
          <p:cNvSpPr txBox="1"/>
          <p:nvPr/>
        </p:nvSpPr>
        <p:spPr>
          <a:xfrm>
            <a:off x="1874520" y="3145536"/>
            <a:ext cx="3854196" cy="749808"/>
          </a:xfrm>
          <a:prstGeom prst="rect">
            <a:avLst/>
          </a:prstGeom>
          <a:noFill/>
          <a:ln/>
        </p:spPr>
        <p:txBody>
          <a:bodyPr wrap="square" lIns="0" tIns="0" rIns="0" bIns="0" rtlCol="0" anchor="ctr"/>
          <a:lstStyle/>
          <a:p>
            <a:pPr indent="0" marL="0">
              <a:lnSpc>
                <a:spcPct val="115000"/>
              </a:lnSpc>
              <a:buNone/>
            </a:pPr>
            <a:r>
              <a:rPr lang="en-US" sz="1200" dirty="0">
                <a:solidFill>
                  <a:srgbClr val="0D2238"/>
                </a:solidFill>
                <a:latin typeface="Calibri" pitchFamily="34" charset="0"/>
                <a:ea typeface="Calibri" pitchFamily="34" charset="-122"/>
                <a:cs typeface="Calibri" pitchFamily="34" charset="-120"/>
              </a:rPr>
              <a:t>Voice status checks &amp; actions, with equivalent text input</a:t>
            </a:r>
            <a:endParaRPr lang="en-US" sz="1200" dirty="0"/>
          </a:p>
        </p:txBody>
      </p:sp>
      <p:sp>
        <p:nvSpPr>
          <p:cNvPr id="13" name="Shape 11"/>
          <p:cNvSpPr/>
          <p:nvPr/>
        </p:nvSpPr>
        <p:spPr>
          <a:xfrm>
            <a:off x="640080" y="4133088"/>
            <a:ext cx="5271516" cy="896112"/>
          </a:xfrm>
          <a:prstGeom prst="roundRect">
            <a:avLst>
              <a:gd name="adj" fmla="val 1020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4" name="Shape 12"/>
          <p:cNvSpPr/>
          <p:nvPr/>
        </p:nvSpPr>
        <p:spPr>
          <a:xfrm>
            <a:off x="841248" y="4352544"/>
            <a:ext cx="868680" cy="457200"/>
          </a:xfrm>
          <a:prstGeom prst="roundRect">
            <a:avLst>
              <a:gd name="adj" fmla="val 16000"/>
            </a:avLst>
          </a:prstGeom>
          <a:solidFill>
            <a:srgbClr val="E6F0FF"/>
          </a:solidFill>
          <a:ln/>
        </p:spPr>
      </p:sp>
      <p:sp>
        <p:nvSpPr>
          <p:cNvPr id="15" name="Text 13"/>
          <p:cNvSpPr txBox="1"/>
          <p:nvPr/>
        </p:nvSpPr>
        <p:spPr>
          <a:xfrm>
            <a:off x="841248" y="4352544"/>
            <a:ext cx="868680" cy="457200"/>
          </a:xfrm>
          <a:prstGeom prst="rect">
            <a:avLst/>
          </a:prstGeom>
          <a:noFill/>
          <a:ln/>
        </p:spPr>
        <p:txBody>
          <a:bodyPr wrap="square" lIns="0" tIns="0" rIns="0" bIns="0" rtlCol="0" anchor="ctr"/>
          <a:lstStyle/>
          <a:p>
            <a:pPr algn="ctr" indent="0" marL="0">
              <a:buNone/>
            </a:pPr>
            <a:r>
              <a:rPr lang="en-US" sz="1100" b="1" dirty="0">
                <a:solidFill>
                  <a:srgbClr val="005BEA"/>
                </a:solidFill>
                <a:latin typeface="Calibri" pitchFamily="34" charset="0"/>
                <a:ea typeface="Calibri" pitchFamily="34" charset="-122"/>
                <a:cs typeface="Calibri" pitchFamily="34" charset="-120"/>
              </a:rPr>
              <a:t>FR-X03</a:t>
            </a:r>
            <a:endParaRPr lang="en-US" sz="1100" dirty="0"/>
          </a:p>
        </p:txBody>
      </p:sp>
      <p:sp>
        <p:nvSpPr>
          <p:cNvPr id="16" name="Text 14"/>
          <p:cNvSpPr txBox="1"/>
          <p:nvPr/>
        </p:nvSpPr>
        <p:spPr>
          <a:xfrm>
            <a:off x="1874520" y="4206240"/>
            <a:ext cx="3854196" cy="749808"/>
          </a:xfrm>
          <a:prstGeom prst="rect">
            <a:avLst/>
          </a:prstGeom>
          <a:noFill/>
          <a:ln/>
        </p:spPr>
        <p:txBody>
          <a:bodyPr wrap="square" lIns="0" tIns="0" rIns="0" bIns="0" rtlCol="0" anchor="ctr"/>
          <a:lstStyle/>
          <a:p>
            <a:pPr indent="0" marL="0">
              <a:lnSpc>
                <a:spcPct val="115000"/>
              </a:lnSpc>
              <a:buNone/>
            </a:pPr>
            <a:r>
              <a:rPr lang="en-US" sz="1200" dirty="0">
                <a:solidFill>
                  <a:srgbClr val="0D2238"/>
                </a:solidFill>
                <a:latin typeface="Calibri" pitchFamily="34" charset="0"/>
                <a:ea typeface="Calibri" pitchFamily="34" charset="-122"/>
                <a:cs typeface="Calibri" pitchFamily="34" charset="-120"/>
              </a:rPr>
              <a:t>Severity, measured/estimated/inspection results &amp; data quality</a:t>
            </a:r>
            <a:endParaRPr lang="en-US" sz="1200" dirty="0"/>
          </a:p>
        </p:txBody>
      </p:sp>
      <p:sp>
        <p:nvSpPr>
          <p:cNvPr id="17" name="Shape 15"/>
          <p:cNvSpPr/>
          <p:nvPr/>
        </p:nvSpPr>
        <p:spPr>
          <a:xfrm>
            <a:off x="640080" y="5193792"/>
            <a:ext cx="5271516" cy="896112"/>
          </a:xfrm>
          <a:prstGeom prst="roundRect">
            <a:avLst>
              <a:gd name="adj" fmla="val 1020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8" name="Shape 16"/>
          <p:cNvSpPr/>
          <p:nvPr/>
        </p:nvSpPr>
        <p:spPr>
          <a:xfrm>
            <a:off x="841248" y="5413248"/>
            <a:ext cx="868680" cy="457200"/>
          </a:xfrm>
          <a:prstGeom prst="roundRect">
            <a:avLst>
              <a:gd name="adj" fmla="val 16000"/>
            </a:avLst>
          </a:prstGeom>
          <a:solidFill>
            <a:srgbClr val="E6F0FF"/>
          </a:solidFill>
          <a:ln/>
        </p:spPr>
      </p:sp>
      <p:sp>
        <p:nvSpPr>
          <p:cNvPr id="19" name="Text 17"/>
          <p:cNvSpPr txBox="1"/>
          <p:nvPr/>
        </p:nvSpPr>
        <p:spPr>
          <a:xfrm>
            <a:off x="841248" y="5413248"/>
            <a:ext cx="868680" cy="457200"/>
          </a:xfrm>
          <a:prstGeom prst="rect">
            <a:avLst/>
          </a:prstGeom>
          <a:noFill/>
          <a:ln/>
        </p:spPr>
        <p:txBody>
          <a:bodyPr wrap="square" lIns="0" tIns="0" rIns="0" bIns="0" rtlCol="0" anchor="ctr"/>
          <a:lstStyle/>
          <a:p>
            <a:pPr algn="ctr" indent="0" marL="0">
              <a:buNone/>
            </a:pPr>
            <a:r>
              <a:rPr lang="en-US" sz="1100" b="1" dirty="0">
                <a:solidFill>
                  <a:srgbClr val="005BEA"/>
                </a:solidFill>
                <a:latin typeface="Calibri" pitchFamily="34" charset="0"/>
                <a:ea typeface="Calibri" pitchFamily="34" charset="-122"/>
                <a:cs typeface="Calibri" pitchFamily="34" charset="-120"/>
              </a:rPr>
              <a:t>FR-X04</a:t>
            </a:r>
            <a:endParaRPr lang="en-US" sz="1100" dirty="0"/>
          </a:p>
        </p:txBody>
      </p:sp>
      <p:sp>
        <p:nvSpPr>
          <p:cNvPr id="20" name="Text 18"/>
          <p:cNvSpPr txBox="1"/>
          <p:nvPr/>
        </p:nvSpPr>
        <p:spPr>
          <a:xfrm>
            <a:off x="1874520" y="5266944"/>
            <a:ext cx="3854196" cy="749808"/>
          </a:xfrm>
          <a:prstGeom prst="rect">
            <a:avLst/>
          </a:prstGeom>
          <a:noFill/>
          <a:ln/>
        </p:spPr>
        <p:txBody>
          <a:bodyPr wrap="square" lIns="0" tIns="0" rIns="0" bIns="0" rtlCol="0" anchor="ctr"/>
          <a:lstStyle/>
          <a:p>
            <a:pPr indent="0" marL="0">
              <a:lnSpc>
                <a:spcPct val="115000"/>
              </a:lnSpc>
              <a:buNone/>
            </a:pPr>
            <a:r>
              <a:rPr lang="en-US" sz="1200" dirty="0">
                <a:solidFill>
                  <a:srgbClr val="0D2238"/>
                </a:solidFill>
                <a:latin typeface="Calibri" pitchFamily="34" charset="0"/>
                <a:ea typeface="Calibri" pitchFamily="34" charset="-122"/>
                <a:cs typeface="Calibri" pitchFamily="34" charset="-120"/>
              </a:rPr>
              <a:t>Limit viewing/actions by tenant, role, scope &amp; period</a:t>
            </a:r>
            <a:endParaRPr lang="en-US" sz="1200" dirty="0"/>
          </a:p>
        </p:txBody>
      </p:sp>
      <p:sp>
        <p:nvSpPr>
          <p:cNvPr id="21" name="Shape 19"/>
          <p:cNvSpPr/>
          <p:nvPr/>
        </p:nvSpPr>
        <p:spPr>
          <a:xfrm>
            <a:off x="6277356" y="2011680"/>
            <a:ext cx="5271516" cy="896112"/>
          </a:xfrm>
          <a:prstGeom prst="roundRect">
            <a:avLst>
              <a:gd name="adj" fmla="val 1020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2" name="Shape 20"/>
          <p:cNvSpPr/>
          <p:nvPr/>
        </p:nvSpPr>
        <p:spPr>
          <a:xfrm>
            <a:off x="6478524" y="2231136"/>
            <a:ext cx="868680" cy="457200"/>
          </a:xfrm>
          <a:prstGeom prst="roundRect">
            <a:avLst>
              <a:gd name="adj" fmla="val 16000"/>
            </a:avLst>
          </a:prstGeom>
          <a:solidFill>
            <a:srgbClr val="E6F0FF"/>
          </a:solidFill>
          <a:ln/>
        </p:spPr>
      </p:sp>
      <p:sp>
        <p:nvSpPr>
          <p:cNvPr id="23" name="Text 21"/>
          <p:cNvSpPr txBox="1"/>
          <p:nvPr/>
        </p:nvSpPr>
        <p:spPr>
          <a:xfrm>
            <a:off x="6478524" y="2231136"/>
            <a:ext cx="868680" cy="457200"/>
          </a:xfrm>
          <a:prstGeom prst="rect">
            <a:avLst/>
          </a:prstGeom>
          <a:noFill/>
          <a:ln/>
        </p:spPr>
        <p:txBody>
          <a:bodyPr wrap="square" lIns="0" tIns="0" rIns="0" bIns="0" rtlCol="0" anchor="ctr"/>
          <a:lstStyle/>
          <a:p>
            <a:pPr algn="ctr" indent="0" marL="0">
              <a:buNone/>
            </a:pPr>
            <a:r>
              <a:rPr lang="en-US" sz="1100" b="1" dirty="0">
                <a:solidFill>
                  <a:srgbClr val="005BEA"/>
                </a:solidFill>
                <a:latin typeface="Calibri" pitchFamily="34" charset="0"/>
                <a:ea typeface="Calibri" pitchFamily="34" charset="-122"/>
                <a:cs typeface="Calibri" pitchFamily="34" charset="-120"/>
              </a:rPr>
              <a:t>FR-X05</a:t>
            </a:r>
            <a:endParaRPr lang="en-US" sz="1100" dirty="0"/>
          </a:p>
        </p:txBody>
      </p:sp>
      <p:sp>
        <p:nvSpPr>
          <p:cNvPr id="24" name="Text 22"/>
          <p:cNvSpPr txBox="1"/>
          <p:nvPr/>
        </p:nvSpPr>
        <p:spPr>
          <a:xfrm>
            <a:off x="7511796" y="2084832"/>
            <a:ext cx="3854196" cy="749808"/>
          </a:xfrm>
          <a:prstGeom prst="rect">
            <a:avLst/>
          </a:prstGeom>
          <a:noFill/>
          <a:ln/>
        </p:spPr>
        <p:txBody>
          <a:bodyPr wrap="square" lIns="0" tIns="0" rIns="0" bIns="0" rtlCol="0" anchor="ctr"/>
          <a:lstStyle/>
          <a:p>
            <a:pPr indent="0" marL="0">
              <a:lnSpc>
                <a:spcPct val="115000"/>
              </a:lnSpc>
              <a:buNone/>
            </a:pPr>
            <a:r>
              <a:rPr lang="en-US" sz="1200" dirty="0">
                <a:solidFill>
                  <a:srgbClr val="0D2238"/>
                </a:solidFill>
                <a:latin typeface="Calibri" pitchFamily="34" charset="0"/>
                <a:ea typeface="Calibri" pitchFamily="34" charset="-122"/>
                <a:cs typeface="Calibri" pitchFamily="34" charset="-120"/>
              </a:rPr>
              <a:t>Shared demo data, reset &amp; separation from real processing</a:t>
            </a:r>
            <a:endParaRPr lang="en-US" sz="1200" dirty="0"/>
          </a:p>
        </p:txBody>
      </p:sp>
      <p:sp>
        <p:nvSpPr>
          <p:cNvPr id="25" name="Shape 23"/>
          <p:cNvSpPr/>
          <p:nvPr/>
        </p:nvSpPr>
        <p:spPr>
          <a:xfrm>
            <a:off x="6277356" y="3072384"/>
            <a:ext cx="5271516" cy="896112"/>
          </a:xfrm>
          <a:prstGeom prst="roundRect">
            <a:avLst>
              <a:gd name="adj" fmla="val 1020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6" name="Shape 24"/>
          <p:cNvSpPr/>
          <p:nvPr/>
        </p:nvSpPr>
        <p:spPr>
          <a:xfrm>
            <a:off x="6478524" y="3291840"/>
            <a:ext cx="868680" cy="457200"/>
          </a:xfrm>
          <a:prstGeom prst="roundRect">
            <a:avLst>
              <a:gd name="adj" fmla="val 16000"/>
            </a:avLst>
          </a:prstGeom>
          <a:solidFill>
            <a:srgbClr val="E6F0FF"/>
          </a:solidFill>
          <a:ln/>
        </p:spPr>
      </p:sp>
      <p:sp>
        <p:nvSpPr>
          <p:cNvPr id="27" name="Text 25"/>
          <p:cNvSpPr txBox="1"/>
          <p:nvPr/>
        </p:nvSpPr>
        <p:spPr>
          <a:xfrm>
            <a:off x="6478524" y="3291840"/>
            <a:ext cx="868680" cy="457200"/>
          </a:xfrm>
          <a:prstGeom prst="rect">
            <a:avLst/>
          </a:prstGeom>
          <a:noFill/>
          <a:ln/>
        </p:spPr>
        <p:txBody>
          <a:bodyPr wrap="square" lIns="0" tIns="0" rIns="0" bIns="0" rtlCol="0" anchor="ctr"/>
          <a:lstStyle/>
          <a:p>
            <a:pPr algn="ctr" indent="0" marL="0">
              <a:buNone/>
            </a:pPr>
            <a:r>
              <a:rPr lang="en-US" sz="1100" b="1" dirty="0">
                <a:solidFill>
                  <a:srgbClr val="005BEA"/>
                </a:solidFill>
                <a:latin typeface="Calibri" pitchFamily="34" charset="0"/>
                <a:ea typeface="Calibri" pitchFamily="34" charset="-122"/>
                <a:cs typeface="Calibri" pitchFamily="34" charset="-120"/>
              </a:rPr>
              <a:t>FR-X06</a:t>
            </a:r>
            <a:endParaRPr lang="en-US" sz="1100" dirty="0"/>
          </a:p>
        </p:txBody>
      </p:sp>
      <p:sp>
        <p:nvSpPr>
          <p:cNvPr id="28" name="Text 26"/>
          <p:cNvSpPr txBox="1"/>
          <p:nvPr/>
        </p:nvSpPr>
        <p:spPr>
          <a:xfrm>
            <a:off x="7511796" y="3145536"/>
            <a:ext cx="3854196" cy="749808"/>
          </a:xfrm>
          <a:prstGeom prst="rect">
            <a:avLst/>
          </a:prstGeom>
          <a:noFill/>
          <a:ln/>
        </p:spPr>
        <p:txBody>
          <a:bodyPr wrap="square" lIns="0" tIns="0" rIns="0" bIns="0" rtlCol="0" anchor="ctr"/>
          <a:lstStyle/>
          <a:p>
            <a:pPr indent="0" marL="0">
              <a:lnSpc>
                <a:spcPct val="115000"/>
              </a:lnSpc>
              <a:buNone/>
            </a:pPr>
            <a:r>
              <a:rPr lang="en-US" sz="1200" dirty="0">
                <a:solidFill>
                  <a:srgbClr val="0D2238"/>
                </a:solidFill>
                <a:latin typeface="Calibri" pitchFamily="34" charset="0"/>
                <a:ea typeface="Calibri" pitchFamily="34" charset="-122"/>
                <a:cs typeface="Calibri" pitchFamily="34" charset="-120"/>
              </a:rPr>
              <a:t>Distinguish supported features &amp; non-RTO treatment</a:t>
            </a:r>
            <a:endParaRPr lang="en-US" sz="1200" dirty="0"/>
          </a:p>
        </p:txBody>
      </p:sp>
      <p:sp>
        <p:nvSpPr>
          <p:cNvPr id="29" name="Shape 27"/>
          <p:cNvSpPr/>
          <p:nvPr/>
        </p:nvSpPr>
        <p:spPr>
          <a:xfrm>
            <a:off x="6277356" y="4133088"/>
            <a:ext cx="5271516" cy="896112"/>
          </a:xfrm>
          <a:prstGeom prst="roundRect">
            <a:avLst>
              <a:gd name="adj" fmla="val 1020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30" name="Shape 28"/>
          <p:cNvSpPr/>
          <p:nvPr/>
        </p:nvSpPr>
        <p:spPr>
          <a:xfrm>
            <a:off x="6478524" y="4352544"/>
            <a:ext cx="868680" cy="457200"/>
          </a:xfrm>
          <a:prstGeom prst="roundRect">
            <a:avLst>
              <a:gd name="adj" fmla="val 16000"/>
            </a:avLst>
          </a:prstGeom>
          <a:solidFill>
            <a:srgbClr val="E6F0FF"/>
          </a:solidFill>
          <a:ln/>
        </p:spPr>
      </p:sp>
      <p:sp>
        <p:nvSpPr>
          <p:cNvPr id="31" name="Text 29"/>
          <p:cNvSpPr txBox="1"/>
          <p:nvPr/>
        </p:nvSpPr>
        <p:spPr>
          <a:xfrm>
            <a:off x="6478524" y="4352544"/>
            <a:ext cx="868680" cy="457200"/>
          </a:xfrm>
          <a:prstGeom prst="rect">
            <a:avLst/>
          </a:prstGeom>
          <a:noFill/>
          <a:ln/>
        </p:spPr>
        <p:txBody>
          <a:bodyPr wrap="square" lIns="0" tIns="0" rIns="0" bIns="0" rtlCol="0" anchor="ctr"/>
          <a:lstStyle/>
          <a:p>
            <a:pPr algn="ctr" indent="0" marL="0">
              <a:buNone/>
            </a:pPr>
            <a:r>
              <a:rPr lang="en-US" sz="1100" b="1" dirty="0">
                <a:solidFill>
                  <a:srgbClr val="005BEA"/>
                </a:solidFill>
                <a:latin typeface="Calibri" pitchFamily="34" charset="0"/>
                <a:ea typeface="Calibri" pitchFamily="34" charset="-122"/>
                <a:cs typeface="Calibri" pitchFamily="34" charset="-120"/>
              </a:rPr>
              <a:t>FR-X07</a:t>
            </a:r>
            <a:endParaRPr lang="en-US" sz="1100" dirty="0"/>
          </a:p>
        </p:txBody>
      </p:sp>
      <p:sp>
        <p:nvSpPr>
          <p:cNvPr id="32" name="Text 30"/>
          <p:cNvSpPr txBox="1"/>
          <p:nvPr/>
        </p:nvSpPr>
        <p:spPr>
          <a:xfrm>
            <a:off x="7511796" y="4206240"/>
            <a:ext cx="3854196" cy="749808"/>
          </a:xfrm>
          <a:prstGeom prst="rect">
            <a:avLst/>
          </a:prstGeom>
          <a:noFill/>
          <a:ln/>
        </p:spPr>
        <p:txBody>
          <a:bodyPr wrap="square" lIns="0" tIns="0" rIns="0" bIns="0" rtlCol="0" anchor="ctr"/>
          <a:lstStyle/>
          <a:p>
            <a:pPr indent="0" marL="0">
              <a:lnSpc>
                <a:spcPct val="115000"/>
              </a:lnSpc>
              <a:buNone/>
            </a:pPr>
            <a:r>
              <a:rPr lang="en-US" sz="1200" dirty="0">
                <a:solidFill>
                  <a:srgbClr val="0D2238"/>
                </a:solidFill>
                <a:latin typeface="Calibri" pitchFamily="34" charset="0"/>
                <a:ea typeface="Calibri" pitchFamily="34" charset="-122"/>
                <a:cs typeface="Calibri" pitchFamily="34" charset="-120"/>
              </a:rPr>
              <a:t>Notifications, history &amp; audit trail</a:t>
            </a:r>
            <a:endParaRPr lang="en-US" sz="1200" dirty="0"/>
          </a:p>
        </p:txBody>
      </p:sp>
      <p:sp>
        <p:nvSpPr>
          <p:cNvPr id="33" name="Text 31"/>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34" name="Text 32"/>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04 · REQUIREMENTS — BY ROLE</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Requirements by Role</a:t>
            </a:r>
            <a:endParaRPr lang="en-US" sz="3000" dirty="0"/>
          </a:p>
        </p:txBody>
      </p:sp>
      <p:sp>
        <p:nvSpPr>
          <p:cNvPr id="4" name="Shape 2"/>
          <p:cNvSpPr/>
          <p:nvPr/>
        </p:nvSpPr>
        <p:spPr>
          <a:xfrm>
            <a:off x="640080" y="1536192"/>
            <a:ext cx="2596896" cy="3977640"/>
          </a:xfrm>
          <a:prstGeom prst="roundRect">
            <a:avLst>
              <a:gd name="adj" fmla="val 352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5" name="Shape 3"/>
          <p:cNvSpPr/>
          <p:nvPr/>
        </p:nvSpPr>
        <p:spPr>
          <a:xfrm>
            <a:off x="841248" y="1737360"/>
            <a:ext cx="457200" cy="457200"/>
          </a:xfrm>
          <a:prstGeom prst="ellipse">
            <a:avLst/>
          </a:prstGeom>
          <a:solidFill>
            <a:srgbClr val="005BEA"/>
          </a:solidFill>
          <a:ln/>
        </p:spPr>
      </p:sp>
      <p:pic>
        <p:nvPicPr>
          <p:cNvPr id="6" name="Image 0" descr="/private/tmp/claude-501/-Users-ji1wxs-PraditaProjects-AC-Project/3c2d6cf5-1769-4cbb-8b1c-24143069dbcc/scratchpad/icons/FiUser_FFFFFF_300.png">    </p:cNvPr>
          <p:cNvPicPr>
            <a:picLocks noChangeAspect="1"/>
          </p:cNvPicPr>
          <p:nvPr/>
        </p:nvPicPr>
        <p:blipFill>
          <a:blip r:embed="rId1"/>
          <a:stretch>
            <a:fillRect/>
          </a:stretch>
        </p:blipFill>
        <p:spPr>
          <a:xfrm>
            <a:off x="941832" y="1837944"/>
            <a:ext cx="256032" cy="256032"/>
          </a:xfrm>
          <a:prstGeom prst="rect">
            <a:avLst/>
          </a:prstGeom>
        </p:spPr>
      </p:pic>
      <p:sp>
        <p:nvSpPr>
          <p:cNvPr id="7" name="Shape 4"/>
          <p:cNvSpPr/>
          <p:nvPr/>
        </p:nvSpPr>
        <p:spPr>
          <a:xfrm>
            <a:off x="2414016" y="1737360"/>
            <a:ext cx="621792" cy="292608"/>
          </a:xfrm>
          <a:prstGeom prst="roundRect">
            <a:avLst>
              <a:gd name="adj" fmla="val 50000"/>
            </a:avLst>
          </a:prstGeom>
          <a:solidFill>
            <a:srgbClr val="E6F0FF"/>
          </a:solidFill>
          <a:ln/>
        </p:spPr>
      </p:sp>
      <p:sp>
        <p:nvSpPr>
          <p:cNvPr id="8" name="Text 5"/>
          <p:cNvSpPr txBox="1"/>
          <p:nvPr/>
        </p:nvSpPr>
        <p:spPr>
          <a:xfrm>
            <a:off x="2414016" y="1737360"/>
            <a:ext cx="621792" cy="292608"/>
          </a:xfrm>
          <a:prstGeom prst="rect">
            <a:avLst/>
          </a:prstGeom>
          <a:noFill/>
          <a:ln/>
        </p:spPr>
        <p:txBody>
          <a:bodyPr wrap="square" lIns="0" tIns="0" rIns="0" bIns="0" rtlCol="0" anchor="ctr"/>
          <a:lstStyle/>
          <a:p>
            <a:pPr algn="ctr" indent="0" marL="0">
              <a:buNone/>
            </a:pPr>
            <a:r>
              <a:rPr lang="en-US" sz="1050" b="1" dirty="0">
                <a:solidFill>
                  <a:srgbClr val="005BEA"/>
                </a:solidFill>
                <a:latin typeface="Calibri" pitchFamily="34" charset="0"/>
                <a:ea typeface="Calibri" pitchFamily="34" charset="-122"/>
                <a:cs typeface="Calibri" pitchFamily="34" charset="-120"/>
              </a:rPr>
              <a:t>13</a:t>
            </a:r>
            <a:endParaRPr lang="en-US" sz="1050" dirty="0"/>
          </a:p>
        </p:txBody>
      </p:sp>
      <p:sp>
        <p:nvSpPr>
          <p:cNvPr id="9" name="Text 6"/>
          <p:cNvSpPr txBox="1"/>
          <p:nvPr/>
        </p:nvSpPr>
        <p:spPr>
          <a:xfrm>
            <a:off x="822960" y="2286000"/>
            <a:ext cx="2231136" cy="310896"/>
          </a:xfrm>
          <a:prstGeom prst="rect">
            <a:avLst/>
          </a:prstGeom>
          <a:noFill/>
          <a:ln/>
        </p:spPr>
        <p:txBody>
          <a:bodyPr wrap="square" lIns="0" tIns="0" rIns="0" bIns="0" rtlCol="0" anchor="ctr"/>
          <a:lstStyle/>
          <a:p>
            <a:pPr indent="0" marL="0">
              <a:buNone/>
            </a:pPr>
            <a:r>
              <a:rPr lang="en-US" sz="1550" b="1" dirty="0">
                <a:solidFill>
                  <a:srgbClr val="0D2238"/>
                </a:solidFill>
                <a:latin typeface="Cambria" pitchFamily="34" charset="0"/>
                <a:ea typeface="Cambria" pitchFamily="34" charset="-122"/>
                <a:cs typeface="Cambria" pitchFamily="34" charset="-120"/>
              </a:rPr>
              <a:t>Client</a:t>
            </a:r>
            <a:endParaRPr lang="en-US" sz="1550" dirty="0"/>
          </a:p>
        </p:txBody>
      </p:sp>
      <p:sp>
        <p:nvSpPr>
          <p:cNvPr id="10" name="Text 7"/>
          <p:cNvSpPr txBox="1"/>
          <p:nvPr/>
        </p:nvSpPr>
        <p:spPr>
          <a:xfrm>
            <a:off x="822960" y="2578608"/>
            <a:ext cx="2231136" cy="237744"/>
          </a:xfrm>
          <a:prstGeom prst="rect">
            <a:avLst/>
          </a:prstGeom>
          <a:noFill/>
          <a:ln/>
        </p:spPr>
        <p:txBody>
          <a:bodyPr wrap="square" lIns="0" tIns="0" rIns="0" bIns="0" rtlCol="0" anchor="ctr"/>
          <a:lstStyle/>
          <a:p>
            <a:pPr indent="0" marL="0">
              <a:buNone/>
            </a:pPr>
            <a:r>
              <a:rPr lang="en-US" sz="950" dirty="0">
                <a:solidFill>
                  <a:srgbClr val="5C6E82"/>
                </a:solidFill>
                <a:latin typeface="Calibri" pitchFamily="34" charset="0"/>
                <a:ea typeface="Calibri" pitchFamily="34" charset="-122"/>
                <a:cs typeface="Calibri" pitchFamily="34" charset="-120"/>
              </a:rPr>
              <a:t>FR-C · 13 requirements</a:t>
            </a:r>
            <a:endParaRPr lang="en-US" sz="950" dirty="0"/>
          </a:p>
        </p:txBody>
      </p:sp>
      <p:sp>
        <p:nvSpPr>
          <p:cNvPr id="11" name="Text 8"/>
          <p:cNvSpPr txBox="1"/>
          <p:nvPr/>
        </p:nvSpPr>
        <p:spPr>
          <a:xfrm>
            <a:off x="822960" y="295351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12" name="Text 9"/>
          <p:cNvSpPr txBox="1"/>
          <p:nvPr/>
        </p:nvSpPr>
        <p:spPr>
          <a:xfrm>
            <a:off x="1005840" y="295351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Monitoring dashboard &amp; location hierarchy</a:t>
            </a:r>
            <a:endParaRPr lang="en-US" sz="970" dirty="0"/>
          </a:p>
        </p:txBody>
      </p:sp>
      <p:sp>
        <p:nvSpPr>
          <p:cNvPr id="13" name="Text 10"/>
          <p:cNvSpPr txBox="1"/>
          <p:nvPr/>
        </p:nvSpPr>
        <p:spPr>
          <a:xfrm>
            <a:off x="822960" y="3346704"/>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14" name="Text 11"/>
          <p:cNvSpPr txBox="1"/>
          <p:nvPr/>
        </p:nvSpPr>
        <p:spPr>
          <a:xfrm>
            <a:off x="1005840" y="3346704"/>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Remote control, schedules &amp; automation</a:t>
            </a:r>
            <a:endParaRPr lang="en-US" sz="970" dirty="0"/>
          </a:p>
        </p:txBody>
      </p:sp>
      <p:sp>
        <p:nvSpPr>
          <p:cNvPr id="15" name="Text 12"/>
          <p:cNvSpPr txBox="1"/>
          <p:nvPr/>
        </p:nvSpPr>
        <p:spPr>
          <a:xfrm>
            <a:off x="822960" y="3739896"/>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16" name="Text 13"/>
          <p:cNvSpPr txBox="1"/>
          <p:nvPr/>
        </p:nvSpPr>
        <p:spPr>
          <a:xfrm>
            <a:off x="1005840" y="3739896"/>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Power/cost &amp; air-quality insights</a:t>
            </a:r>
            <a:endParaRPr lang="en-US" sz="970" dirty="0"/>
          </a:p>
        </p:txBody>
      </p:sp>
      <p:sp>
        <p:nvSpPr>
          <p:cNvPr id="17" name="Text 14"/>
          <p:cNvSpPr txBox="1"/>
          <p:nvPr/>
        </p:nvSpPr>
        <p:spPr>
          <a:xfrm>
            <a:off x="822960" y="4133088"/>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18" name="Text 15"/>
          <p:cNvSpPr txBox="1"/>
          <p:nvPr/>
        </p:nvSpPr>
        <p:spPr>
          <a:xfrm>
            <a:off x="1005840" y="4133088"/>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Fault alerts &amp; maintenance requests</a:t>
            </a:r>
            <a:endParaRPr lang="en-US" sz="970" dirty="0"/>
          </a:p>
        </p:txBody>
      </p:sp>
      <p:sp>
        <p:nvSpPr>
          <p:cNvPr id="19" name="Text 16"/>
          <p:cNvSpPr txBox="1"/>
          <p:nvPr/>
        </p:nvSpPr>
        <p:spPr>
          <a:xfrm>
            <a:off x="822960" y="4526280"/>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20" name="Text 17"/>
          <p:cNvSpPr txBox="1"/>
          <p:nvPr/>
        </p:nvSpPr>
        <p:spPr>
          <a:xfrm>
            <a:off x="1005840" y="4526280"/>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Contracts, payments &amp; restrictions</a:t>
            </a:r>
            <a:endParaRPr lang="en-US" sz="970" dirty="0"/>
          </a:p>
        </p:txBody>
      </p:sp>
      <p:sp>
        <p:nvSpPr>
          <p:cNvPr id="21" name="Text 18"/>
          <p:cNvSpPr txBox="1"/>
          <p:nvPr/>
        </p:nvSpPr>
        <p:spPr>
          <a:xfrm>
            <a:off x="822960" y="491947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22" name="Text 19"/>
          <p:cNvSpPr txBox="1"/>
          <p:nvPr/>
        </p:nvSpPr>
        <p:spPr>
          <a:xfrm>
            <a:off x="1005840" y="491947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Emissions/offset access</a:t>
            </a:r>
            <a:endParaRPr lang="en-US" sz="970" dirty="0"/>
          </a:p>
        </p:txBody>
      </p:sp>
      <p:sp>
        <p:nvSpPr>
          <p:cNvPr id="23" name="Shape 20"/>
          <p:cNvSpPr/>
          <p:nvPr/>
        </p:nvSpPr>
        <p:spPr>
          <a:xfrm>
            <a:off x="3456432" y="1536192"/>
            <a:ext cx="2596896" cy="3977640"/>
          </a:xfrm>
          <a:prstGeom prst="roundRect">
            <a:avLst>
              <a:gd name="adj" fmla="val 352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4" name="Shape 21"/>
          <p:cNvSpPr/>
          <p:nvPr/>
        </p:nvSpPr>
        <p:spPr>
          <a:xfrm>
            <a:off x="3657600" y="1737360"/>
            <a:ext cx="457200" cy="457200"/>
          </a:xfrm>
          <a:prstGeom prst="ellipse">
            <a:avLst/>
          </a:prstGeom>
          <a:solidFill>
            <a:srgbClr val="005BEA"/>
          </a:solidFill>
          <a:ln/>
        </p:spPr>
      </p:sp>
      <p:pic>
        <p:nvPicPr>
          <p:cNvPr id="25" name="Image 1" descr="/private/tmp/claude-501/-Users-ji1wxs-PraditaProjects-AC-Project/3c2d6cf5-1769-4cbb-8b1c-24143069dbcc/scratchpad/icons/FiBriefcase_FFFFFF_300.png">    </p:cNvPr>
          <p:cNvPicPr>
            <a:picLocks noChangeAspect="1"/>
          </p:cNvPicPr>
          <p:nvPr/>
        </p:nvPicPr>
        <p:blipFill>
          <a:blip r:embed="rId2"/>
          <a:stretch>
            <a:fillRect/>
          </a:stretch>
        </p:blipFill>
        <p:spPr>
          <a:xfrm>
            <a:off x="3758184" y="1837944"/>
            <a:ext cx="256032" cy="256032"/>
          </a:xfrm>
          <a:prstGeom prst="rect">
            <a:avLst/>
          </a:prstGeom>
        </p:spPr>
      </p:pic>
      <p:sp>
        <p:nvSpPr>
          <p:cNvPr id="26" name="Shape 22"/>
          <p:cNvSpPr/>
          <p:nvPr/>
        </p:nvSpPr>
        <p:spPr>
          <a:xfrm>
            <a:off x="5230368" y="1737360"/>
            <a:ext cx="621792" cy="292608"/>
          </a:xfrm>
          <a:prstGeom prst="roundRect">
            <a:avLst>
              <a:gd name="adj" fmla="val 50000"/>
            </a:avLst>
          </a:prstGeom>
          <a:solidFill>
            <a:srgbClr val="E6F0FF"/>
          </a:solidFill>
          <a:ln/>
        </p:spPr>
      </p:sp>
      <p:sp>
        <p:nvSpPr>
          <p:cNvPr id="27" name="Text 23"/>
          <p:cNvSpPr txBox="1"/>
          <p:nvPr/>
        </p:nvSpPr>
        <p:spPr>
          <a:xfrm>
            <a:off x="5230368" y="1737360"/>
            <a:ext cx="621792" cy="292608"/>
          </a:xfrm>
          <a:prstGeom prst="rect">
            <a:avLst/>
          </a:prstGeom>
          <a:noFill/>
          <a:ln/>
        </p:spPr>
        <p:txBody>
          <a:bodyPr wrap="square" lIns="0" tIns="0" rIns="0" bIns="0" rtlCol="0" anchor="ctr"/>
          <a:lstStyle/>
          <a:p>
            <a:pPr algn="ctr" indent="0" marL="0">
              <a:buNone/>
            </a:pPr>
            <a:r>
              <a:rPr lang="en-US" sz="1050" b="1" dirty="0">
                <a:solidFill>
                  <a:srgbClr val="005BEA"/>
                </a:solidFill>
                <a:latin typeface="Calibri" pitchFamily="34" charset="0"/>
                <a:ea typeface="Calibri" pitchFamily="34" charset="-122"/>
                <a:cs typeface="Calibri" pitchFamily="34" charset="-120"/>
              </a:rPr>
              <a:t>8</a:t>
            </a:r>
            <a:endParaRPr lang="en-US" sz="1050" dirty="0"/>
          </a:p>
        </p:txBody>
      </p:sp>
      <p:sp>
        <p:nvSpPr>
          <p:cNvPr id="28" name="Text 24"/>
          <p:cNvSpPr txBox="1"/>
          <p:nvPr/>
        </p:nvSpPr>
        <p:spPr>
          <a:xfrm>
            <a:off x="3639312" y="2286000"/>
            <a:ext cx="2231136" cy="310896"/>
          </a:xfrm>
          <a:prstGeom prst="rect">
            <a:avLst/>
          </a:prstGeom>
          <a:noFill/>
          <a:ln/>
        </p:spPr>
        <p:txBody>
          <a:bodyPr wrap="square" lIns="0" tIns="0" rIns="0" bIns="0" rtlCol="0" anchor="ctr"/>
          <a:lstStyle/>
          <a:p>
            <a:pPr indent="0" marL="0">
              <a:buNone/>
            </a:pPr>
            <a:r>
              <a:rPr lang="en-US" sz="1550" b="1" dirty="0">
                <a:solidFill>
                  <a:srgbClr val="0D2238"/>
                </a:solidFill>
                <a:latin typeface="Cambria" pitchFamily="34" charset="0"/>
                <a:ea typeface="Cambria" pitchFamily="34" charset="-122"/>
                <a:cs typeface="Cambria" pitchFamily="34" charset="-120"/>
              </a:rPr>
              <a:t>Contractor</a:t>
            </a:r>
            <a:endParaRPr lang="en-US" sz="1550" dirty="0"/>
          </a:p>
        </p:txBody>
      </p:sp>
      <p:sp>
        <p:nvSpPr>
          <p:cNvPr id="29" name="Text 25"/>
          <p:cNvSpPr txBox="1"/>
          <p:nvPr/>
        </p:nvSpPr>
        <p:spPr>
          <a:xfrm>
            <a:off x="3639312" y="2578608"/>
            <a:ext cx="2231136" cy="237744"/>
          </a:xfrm>
          <a:prstGeom prst="rect">
            <a:avLst/>
          </a:prstGeom>
          <a:noFill/>
          <a:ln/>
        </p:spPr>
        <p:txBody>
          <a:bodyPr wrap="square" lIns="0" tIns="0" rIns="0" bIns="0" rtlCol="0" anchor="ctr"/>
          <a:lstStyle/>
          <a:p>
            <a:pPr indent="0" marL="0">
              <a:buNone/>
            </a:pPr>
            <a:r>
              <a:rPr lang="en-US" sz="950" dirty="0">
                <a:solidFill>
                  <a:srgbClr val="5C6E82"/>
                </a:solidFill>
                <a:latin typeface="Calibri" pitchFamily="34" charset="0"/>
                <a:ea typeface="Calibri" pitchFamily="34" charset="-122"/>
                <a:cs typeface="Calibri" pitchFamily="34" charset="-120"/>
              </a:rPr>
              <a:t>FR-P · 8 requirements</a:t>
            </a:r>
            <a:endParaRPr lang="en-US" sz="950" dirty="0"/>
          </a:p>
        </p:txBody>
      </p:sp>
      <p:sp>
        <p:nvSpPr>
          <p:cNvPr id="30" name="Text 26"/>
          <p:cNvSpPr txBox="1"/>
          <p:nvPr/>
        </p:nvSpPr>
        <p:spPr>
          <a:xfrm>
            <a:off x="3639312" y="295351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31" name="Text 27"/>
          <p:cNvSpPr txBox="1"/>
          <p:nvPr/>
        </p:nvSpPr>
        <p:spPr>
          <a:xfrm>
            <a:off x="3822192" y="295351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Accepted-work dashboard</a:t>
            </a:r>
            <a:endParaRPr lang="en-US" sz="970" dirty="0"/>
          </a:p>
        </p:txBody>
      </p:sp>
      <p:sp>
        <p:nvSpPr>
          <p:cNvPr id="32" name="Text 28"/>
          <p:cNvSpPr txBox="1"/>
          <p:nvPr/>
        </p:nvSpPr>
        <p:spPr>
          <a:xfrm>
            <a:off x="3639312" y="3346704"/>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33" name="Text 29"/>
          <p:cNvSpPr txBox="1"/>
          <p:nvPr/>
        </p:nvSpPr>
        <p:spPr>
          <a:xfrm>
            <a:off x="3822192" y="3346704"/>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Accept/decline jobs &amp; assign technicians</a:t>
            </a:r>
            <a:endParaRPr lang="en-US" sz="970" dirty="0"/>
          </a:p>
        </p:txBody>
      </p:sp>
      <p:sp>
        <p:nvSpPr>
          <p:cNvPr id="34" name="Text 30"/>
          <p:cNvSpPr txBox="1"/>
          <p:nvPr/>
        </p:nvSpPr>
        <p:spPr>
          <a:xfrm>
            <a:off x="3639312" y="3739896"/>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35" name="Text 31"/>
          <p:cNvSpPr txBox="1"/>
          <p:nvPr/>
        </p:nvSpPr>
        <p:spPr>
          <a:xfrm>
            <a:off x="3822192" y="3739896"/>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View target units &amp; alert evidence</a:t>
            </a:r>
            <a:endParaRPr lang="en-US" sz="970" dirty="0"/>
          </a:p>
        </p:txBody>
      </p:sp>
      <p:sp>
        <p:nvSpPr>
          <p:cNvPr id="36" name="Text 32"/>
          <p:cNvSpPr txBox="1"/>
          <p:nvPr/>
        </p:nvSpPr>
        <p:spPr>
          <a:xfrm>
            <a:off x="3639312" y="4133088"/>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37" name="Text 33"/>
          <p:cNvSpPr txBox="1"/>
          <p:nvPr/>
        </p:nvSpPr>
        <p:spPr>
          <a:xfrm>
            <a:off x="3822192" y="4133088"/>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Report quality review &amp; rework</a:t>
            </a:r>
            <a:endParaRPr lang="en-US" sz="970" dirty="0"/>
          </a:p>
        </p:txBody>
      </p:sp>
      <p:sp>
        <p:nvSpPr>
          <p:cNvPr id="38" name="Text 34"/>
          <p:cNvSpPr txBox="1"/>
          <p:nvPr/>
        </p:nvSpPr>
        <p:spPr>
          <a:xfrm>
            <a:off x="3639312" y="4526280"/>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39" name="Text 35"/>
          <p:cNvSpPr txBox="1"/>
          <p:nvPr/>
        </p:nvSpPr>
        <p:spPr>
          <a:xfrm>
            <a:off x="3822192" y="4526280"/>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Own workers, schedules &amp; communication</a:t>
            </a:r>
            <a:endParaRPr lang="en-US" sz="970" dirty="0"/>
          </a:p>
        </p:txBody>
      </p:sp>
      <p:sp>
        <p:nvSpPr>
          <p:cNvPr id="40" name="Text 36"/>
          <p:cNvSpPr txBox="1"/>
          <p:nvPr/>
        </p:nvSpPr>
        <p:spPr>
          <a:xfrm>
            <a:off x="3639312" y="491947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41" name="Text 37"/>
          <p:cNvSpPr txBox="1"/>
          <p:nvPr/>
        </p:nvSpPr>
        <p:spPr>
          <a:xfrm>
            <a:off x="3822192" y="491947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Delegation &amp; work-period boundaries</a:t>
            </a:r>
            <a:endParaRPr lang="en-US" sz="970" dirty="0"/>
          </a:p>
        </p:txBody>
      </p:sp>
      <p:sp>
        <p:nvSpPr>
          <p:cNvPr id="42" name="Shape 38"/>
          <p:cNvSpPr/>
          <p:nvPr/>
        </p:nvSpPr>
        <p:spPr>
          <a:xfrm>
            <a:off x="6272784" y="1536192"/>
            <a:ext cx="2596896" cy="3977640"/>
          </a:xfrm>
          <a:prstGeom prst="roundRect">
            <a:avLst>
              <a:gd name="adj" fmla="val 352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43" name="Shape 39"/>
          <p:cNvSpPr/>
          <p:nvPr/>
        </p:nvSpPr>
        <p:spPr>
          <a:xfrm>
            <a:off x="6473952" y="1737360"/>
            <a:ext cx="457200" cy="457200"/>
          </a:xfrm>
          <a:prstGeom prst="ellipse">
            <a:avLst/>
          </a:prstGeom>
          <a:solidFill>
            <a:srgbClr val="005BEA"/>
          </a:solidFill>
          <a:ln/>
        </p:spPr>
      </p:sp>
      <p:pic>
        <p:nvPicPr>
          <p:cNvPr id="44" name="Image 2" descr="/private/tmp/claude-501/-Users-ji1wxs-PraditaProjects-AC-Project/3c2d6cf5-1769-4cbb-8b1c-24143069dbcc/scratchpad/icons/FiTool_FFFFFF_300.png">    </p:cNvPr>
          <p:cNvPicPr>
            <a:picLocks noChangeAspect="1"/>
          </p:cNvPicPr>
          <p:nvPr/>
        </p:nvPicPr>
        <p:blipFill>
          <a:blip r:embed="rId3"/>
          <a:stretch>
            <a:fillRect/>
          </a:stretch>
        </p:blipFill>
        <p:spPr>
          <a:xfrm>
            <a:off x="6574536" y="1837944"/>
            <a:ext cx="256032" cy="256032"/>
          </a:xfrm>
          <a:prstGeom prst="rect">
            <a:avLst/>
          </a:prstGeom>
        </p:spPr>
      </p:pic>
      <p:sp>
        <p:nvSpPr>
          <p:cNvPr id="45" name="Shape 40"/>
          <p:cNvSpPr/>
          <p:nvPr/>
        </p:nvSpPr>
        <p:spPr>
          <a:xfrm>
            <a:off x="8046720" y="1737360"/>
            <a:ext cx="621792" cy="292608"/>
          </a:xfrm>
          <a:prstGeom prst="roundRect">
            <a:avLst>
              <a:gd name="adj" fmla="val 50000"/>
            </a:avLst>
          </a:prstGeom>
          <a:solidFill>
            <a:srgbClr val="E6F0FF"/>
          </a:solidFill>
          <a:ln/>
        </p:spPr>
      </p:sp>
      <p:sp>
        <p:nvSpPr>
          <p:cNvPr id="46" name="Text 41"/>
          <p:cNvSpPr txBox="1"/>
          <p:nvPr/>
        </p:nvSpPr>
        <p:spPr>
          <a:xfrm>
            <a:off x="8046720" y="1737360"/>
            <a:ext cx="621792" cy="292608"/>
          </a:xfrm>
          <a:prstGeom prst="rect">
            <a:avLst/>
          </a:prstGeom>
          <a:noFill/>
          <a:ln/>
        </p:spPr>
        <p:txBody>
          <a:bodyPr wrap="square" lIns="0" tIns="0" rIns="0" bIns="0" rtlCol="0" anchor="ctr"/>
          <a:lstStyle/>
          <a:p>
            <a:pPr algn="ctr" indent="0" marL="0">
              <a:buNone/>
            </a:pPr>
            <a:r>
              <a:rPr lang="en-US" sz="1050" b="1" dirty="0">
                <a:solidFill>
                  <a:srgbClr val="005BEA"/>
                </a:solidFill>
                <a:latin typeface="Calibri" pitchFamily="34" charset="0"/>
                <a:ea typeface="Calibri" pitchFamily="34" charset="-122"/>
                <a:cs typeface="Calibri" pitchFamily="34" charset="-120"/>
              </a:rPr>
              <a:t>12</a:t>
            </a:r>
            <a:endParaRPr lang="en-US" sz="1050" dirty="0"/>
          </a:p>
        </p:txBody>
      </p:sp>
      <p:sp>
        <p:nvSpPr>
          <p:cNvPr id="47" name="Text 42"/>
          <p:cNvSpPr txBox="1"/>
          <p:nvPr/>
        </p:nvSpPr>
        <p:spPr>
          <a:xfrm>
            <a:off x="6455664" y="2286000"/>
            <a:ext cx="2231136" cy="310896"/>
          </a:xfrm>
          <a:prstGeom prst="rect">
            <a:avLst/>
          </a:prstGeom>
          <a:noFill/>
          <a:ln/>
        </p:spPr>
        <p:txBody>
          <a:bodyPr wrap="square" lIns="0" tIns="0" rIns="0" bIns="0" rtlCol="0" anchor="ctr"/>
          <a:lstStyle/>
          <a:p>
            <a:pPr indent="0" marL="0">
              <a:buNone/>
            </a:pPr>
            <a:r>
              <a:rPr lang="en-US" sz="1550" b="1" dirty="0">
                <a:solidFill>
                  <a:srgbClr val="0D2238"/>
                </a:solidFill>
                <a:latin typeface="Cambria" pitchFamily="34" charset="0"/>
                <a:ea typeface="Cambria" pitchFamily="34" charset="-122"/>
                <a:cs typeface="Cambria" pitchFamily="34" charset="-120"/>
              </a:rPr>
              <a:t>Technician</a:t>
            </a:r>
            <a:endParaRPr lang="en-US" sz="1550" dirty="0"/>
          </a:p>
        </p:txBody>
      </p:sp>
      <p:sp>
        <p:nvSpPr>
          <p:cNvPr id="48" name="Text 43"/>
          <p:cNvSpPr txBox="1"/>
          <p:nvPr/>
        </p:nvSpPr>
        <p:spPr>
          <a:xfrm>
            <a:off x="6455664" y="2578608"/>
            <a:ext cx="2231136" cy="237744"/>
          </a:xfrm>
          <a:prstGeom prst="rect">
            <a:avLst/>
          </a:prstGeom>
          <a:noFill/>
          <a:ln/>
        </p:spPr>
        <p:txBody>
          <a:bodyPr wrap="square" lIns="0" tIns="0" rIns="0" bIns="0" rtlCol="0" anchor="ctr"/>
          <a:lstStyle/>
          <a:p>
            <a:pPr indent="0" marL="0">
              <a:buNone/>
            </a:pPr>
            <a:r>
              <a:rPr lang="en-US" sz="950" dirty="0">
                <a:solidFill>
                  <a:srgbClr val="5C6E82"/>
                </a:solidFill>
                <a:latin typeface="Calibri" pitchFamily="34" charset="0"/>
                <a:ea typeface="Calibri" pitchFamily="34" charset="-122"/>
                <a:cs typeface="Calibri" pitchFamily="34" charset="-120"/>
              </a:rPr>
              <a:t>FR-T · 12 requirements</a:t>
            </a:r>
            <a:endParaRPr lang="en-US" sz="950" dirty="0"/>
          </a:p>
        </p:txBody>
      </p:sp>
      <p:sp>
        <p:nvSpPr>
          <p:cNvPr id="49" name="Text 44"/>
          <p:cNvSpPr txBox="1"/>
          <p:nvPr/>
        </p:nvSpPr>
        <p:spPr>
          <a:xfrm>
            <a:off x="6455664" y="295351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50" name="Text 45"/>
          <p:cNvSpPr txBox="1"/>
          <p:nvPr/>
        </p:nvSpPr>
        <p:spPr>
          <a:xfrm>
            <a:off x="6638544" y="295351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Assigned-work dashboard &amp; unit register</a:t>
            </a:r>
            <a:endParaRPr lang="en-US" sz="970" dirty="0"/>
          </a:p>
        </p:txBody>
      </p:sp>
      <p:sp>
        <p:nvSpPr>
          <p:cNvPr id="51" name="Text 46"/>
          <p:cNvSpPr txBox="1"/>
          <p:nvPr/>
        </p:nvSpPr>
        <p:spPr>
          <a:xfrm>
            <a:off x="6455664" y="3346704"/>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52" name="Text 47"/>
          <p:cNvSpPr txBox="1"/>
          <p:nvPr/>
        </p:nvSpPr>
        <p:spPr>
          <a:xfrm>
            <a:off x="6638544" y="3346704"/>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Time-series monitoring</a:t>
            </a:r>
            <a:endParaRPr lang="en-US" sz="970" dirty="0"/>
          </a:p>
        </p:txBody>
      </p:sp>
      <p:sp>
        <p:nvSpPr>
          <p:cNvPr id="53" name="Text 48"/>
          <p:cNvSpPr txBox="1"/>
          <p:nvPr/>
        </p:nvSpPr>
        <p:spPr>
          <a:xfrm>
            <a:off x="6455664" y="3739896"/>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54" name="Text 49"/>
          <p:cNvSpPr txBox="1"/>
          <p:nvPr/>
        </p:nvSpPr>
        <p:spPr>
          <a:xfrm>
            <a:off x="6638544" y="3739896"/>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Indoor, outdoor &amp; electrical inspections</a:t>
            </a:r>
            <a:endParaRPr lang="en-US" sz="970" dirty="0"/>
          </a:p>
        </p:txBody>
      </p:sp>
      <p:sp>
        <p:nvSpPr>
          <p:cNvPr id="55" name="Text 50"/>
          <p:cNvSpPr txBox="1"/>
          <p:nvPr/>
        </p:nvSpPr>
        <p:spPr>
          <a:xfrm>
            <a:off x="6455664" y="4133088"/>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56" name="Text 51"/>
          <p:cNvSpPr txBox="1"/>
          <p:nvPr/>
        </p:nvSpPr>
        <p:spPr>
          <a:xfrm>
            <a:off x="6638544" y="4133088"/>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Alert evidence &amp; maintenance workflow</a:t>
            </a:r>
            <a:endParaRPr lang="en-US" sz="970" dirty="0"/>
          </a:p>
        </p:txBody>
      </p:sp>
      <p:sp>
        <p:nvSpPr>
          <p:cNvPr id="57" name="Text 52"/>
          <p:cNvSpPr txBox="1"/>
          <p:nvPr/>
        </p:nvSpPr>
        <p:spPr>
          <a:xfrm>
            <a:off x="6455664" y="4526280"/>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58" name="Text 53"/>
          <p:cNvSpPr txBox="1"/>
          <p:nvPr/>
        </p:nvSpPr>
        <p:spPr>
          <a:xfrm>
            <a:off x="6638544" y="4526280"/>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Work reports</a:t>
            </a:r>
            <a:endParaRPr lang="en-US" sz="970" dirty="0"/>
          </a:p>
        </p:txBody>
      </p:sp>
      <p:sp>
        <p:nvSpPr>
          <p:cNvPr id="59" name="Text 54"/>
          <p:cNvSpPr txBox="1"/>
          <p:nvPr/>
        </p:nvSpPr>
        <p:spPr>
          <a:xfrm>
            <a:off x="6455664" y="491947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60" name="Text 55"/>
          <p:cNvSpPr txBox="1"/>
          <p:nvPr/>
        </p:nvSpPr>
        <p:spPr>
          <a:xfrm>
            <a:off x="6638544" y="491947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Remote diagnostics &amp; IoT device lifecycle</a:t>
            </a:r>
            <a:endParaRPr lang="en-US" sz="970" dirty="0"/>
          </a:p>
        </p:txBody>
      </p:sp>
      <p:sp>
        <p:nvSpPr>
          <p:cNvPr id="61" name="Shape 56"/>
          <p:cNvSpPr/>
          <p:nvPr/>
        </p:nvSpPr>
        <p:spPr>
          <a:xfrm>
            <a:off x="9089136" y="1536192"/>
            <a:ext cx="2596896" cy="3977640"/>
          </a:xfrm>
          <a:prstGeom prst="roundRect">
            <a:avLst>
              <a:gd name="adj" fmla="val 3521"/>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62" name="Shape 57"/>
          <p:cNvSpPr/>
          <p:nvPr/>
        </p:nvSpPr>
        <p:spPr>
          <a:xfrm>
            <a:off x="9290304" y="1737360"/>
            <a:ext cx="457200" cy="457200"/>
          </a:xfrm>
          <a:prstGeom prst="ellipse">
            <a:avLst/>
          </a:prstGeom>
          <a:solidFill>
            <a:srgbClr val="005BEA"/>
          </a:solidFill>
          <a:ln/>
        </p:spPr>
      </p:sp>
      <p:pic>
        <p:nvPicPr>
          <p:cNvPr id="63" name="Image 3" descr="/private/tmp/claude-501/-Users-ji1wxs-PraditaProjects-AC-Project/3c2d6cf5-1769-4cbb-8b1c-24143069dbcc/scratchpad/icons/FiShield_FFFFFF_300.png">    </p:cNvPr>
          <p:cNvPicPr>
            <a:picLocks noChangeAspect="1"/>
          </p:cNvPicPr>
          <p:nvPr/>
        </p:nvPicPr>
        <p:blipFill>
          <a:blip r:embed="rId4"/>
          <a:stretch>
            <a:fillRect/>
          </a:stretch>
        </p:blipFill>
        <p:spPr>
          <a:xfrm>
            <a:off x="9390888" y="1837944"/>
            <a:ext cx="256032" cy="256032"/>
          </a:xfrm>
          <a:prstGeom prst="rect">
            <a:avLst/>
          </a:prstGeom>
        </p:spPr>
      </p:pic>
      <p:sp>
        <p:nvSpPr>
          <p:cNvPr id="64" name="Shape 58"/>
          <p:cNvSpPr/>
          <p:nvPr/>
        </p:nvSpPr>
        <p:spPr>
          <a:xfrm>
            <a:off x="10863072" y="1737360"/>
            <a:ext cx="621792" cy="292608"/>
          </a:xfrm>
          <a:prstGeom prst="roundRect">
            <a:avLst>
              <a:gd name="adj" fmla="val 50000"/>
            </a:avLst>
          </a:prstGeom>
          <a:solidFill>
            <a:srgbClr val="E6F0FF"/>
          </a:solidFill>
          <a:ln/>
        </p:spPr>
      </p:sp>
      <p:sp>
        <p:nvSpPr>
          <p:cNvPr id="65" name="Text 59"/>
          <p:cNvSpPr txBox="1"/>
          <p:nvPr/>
        </p:nvSpPr>
        <p:spPr>
          <a:xfrm>
            <a:off x="10863072" y="1737360"/>
            <a:ext cx="621792" cy="292608"/>
          </a:xfrm>
          <a:prstGeom prst="rect">
            <a:avLst/>
          </a:prstGeom>
          <a:noFill/>
          <a:ln/>
        </p:spPr>
        <p:txBody>
          <a:bodyPr wrap="square" lIns="0" tIns="0" rIns="0" bIns="0" rtlCol="0" anchor="ctr"/>
          <a:lstStyle/>
          <a:p>
            <a:pPr algn="ctr" indent="0" marL="0">
              <a:buNone/>
            </a:pPr>
            <a:r>
              <a:rPr lang="en-US" sz="1050" b="1" dirty="0">
                <a:solidFill>
                  <a:srgbClr val="005BEA"/>
                </a:solidFill>
                <a:latin typeface="Calibri" pitchFamily="34" charset="0"/>
                <a:ea typeface="Calibri" pitchFamily="34" charset="-122"/>
                <a:cs typeface="Calibri" pitchFamily="34" charset="-120"/>
              </a:rPr>
              <a:t>16</a:t>
            </a:r>
            <a:endParaRPr lang="en-US" sz="1050" dirty="0"/>
          </a:p>
        </p:txBody>
      </p:sp>
      <p:sp>
        <p:nvSpPr>
          <p:cNvPr id="66" name="Text 60"/>
          <p:cNvSpPr txBox="1"/>
          <p:nvPr/>
        </p:nvSpPr>
        <p:spPr>
          <a:xfrm>
            <a:off x="9272016" y="2286000"/>
            <a:ext cx="2231136" cy="310896"/>
          </a:xfrm>
          <a:prstGeom prst="rect">
            <a:avLst/>
          </a:prstGeom>
          <a:noFill/>
          <a:ln/>
        </p:spPr>
        <p:txBody>
          <a:bodyPr wrap="square" lIns="0" tIns="0" rIns="0" bIns="0" rtlCol="0" anchor="ctr"/>
          <a:lstStyle/>
          <a:p>
            <a:pPr indent="0" marL="0">
              <a:buNone/>
            </a:pPr>
            <a:r>
              <a:rPr lang="en-US" sz="1550" b="1" dirty="0">
                <a:solidFill>
                  <a:srgbClr val="0D2238"/>
                </a:solidFill>
                <a:latin typeface="Cambria" pitchFamily="34" charset="0"/>
                <a:ea typeface="Cambria" pitchFamily="34" charset="-122"/>
                <a:cs typeface="Cambria" pitchFamily="34" charset="-120"/>
              </a:rPr>
              <a:t>Administrator</a:t>
            </a:r>
            <a:endParaRPr lang="en-US" sz="1550" dirty="0"/>
          </a:p>
        </p:txBody>
      </p:sp>
      <p:sp>
        <p:nvSpPr>
          <p:cNvPr id="67" name="Text 61"/>
          <p:cNvSpPr txBox="1"/>
          <p:nvPr/>
        </p:nvSpPr>
        <p:spPr>
          <a:xfrm>
            <a:off x="9272016" y="2578608"/>
            <a:ext cx="2231136" cy="237744"/>
          </a:xfrm>
          <a:prstGeom prst="rect">
            <a:avLst/>
          </a:prstGeom>
          <a:noFill/>
          <a:ln/>
        </p:spPr>
        <p:txBody>
          <a:bodyPr wrap="square" lIns="0" tIns="0" rIns="0" bIns="0" rtlCol="0" anchor="ctr"/>
          <a:lstStyle/>
          <a:p>
            <a:pPr indent="0" marL="0">
              <a:buNone/>
            </a:pPr>
            <a:r>
              <a:rPr lang="en-US" sz="950" dirty="0">
                <a:solidFill>
                  <a:srgbClr val="5C6E82"/>
                </a:solidFill>
                <a:latin typeface="Calibri" pitchFamily="34" charset="0"/>
                <a:ea typeface="Calibri" pitchFamily="34" charset="-122"/>
                <a:cs typeface="Calibri" pitchFamily="34" charset="-120"/>
              </a:rPr>
              <a:t>FR-A · 16 requirements</a:t>
            </a:r>
            <a:endParaRPr lang="en-US" sz="950" dirty="0"/>
          </a:p>
        </p:txBody>
      </p:sp>
      <p:sp>
        <p:nvSpPr>
          <p:cNvPr id="68" name="Text 62"/>
          <p:cNvSpPr txBox="1"/>
          <p:nvPr/>
        </p:nvSpPr>
        <p:spPr>
          <a:xfrm>
            <a:off x="9272016" y="295351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69" name="Text 63"/>
          <p:cNvSpPr txBox="1"/>
          <p:nvPr/>
        </p:nvSpPr>
        <p:spPr>
          <a:xfrm>
            <a:off x="9454896" y="295351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Overall dashboard &amp; org/unit registers</a:t>
            </a:r>
            <a:endParaRPr lang="en-US" sz="970" dirty="0"/>
          </a:p>
        </p:txBody>
      </p:sp>
      <p:sp>
        <p:nvSpPr>
          <p:cNvPr id="70" name="Text 64"/>
          <p:cNvSpPr txBox="1"/>
          <p:nvPr/>
        </p:nvSpPr>
        <p:spPr>
          <a:xfrm>
            <a:off x="9272016" y="3346704"/>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71" name="Text 65"/>
          <p:cNvSpPr txBox="1"/>
          <p:nvPr/>
        </p:nvSpPr>
        <p:spPr>
          <a:xfrm>
            <a:off x="9454896" y="3346704"/>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Roles, scope &amp; IoT model management</a:t>
            </a:r>
            <a:endParaRPr lang="en-US" sz="970" dirty="0"/>
          </a:p>
        </p:txBody>
      </p:sp>
      <p:sp>
        <p:nvSpPr>
          <p:cNvPr id="72" name="Text 66"/>
          <p:cNvSpPr txBox="1"/>
          <p:nvPr/>
        </p:nvSpPr>
        <p:spPr>
          <a:xfrm>
            <a:off x="9272016" y="3739896"/>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73" name="Text 67"/>
          <p:cNvSpPr txBox="1"/>
          <p:nvPr/>
        </p:nvSpPr>
        <p:spPr>
          <a:xfrm>
            <a:off x="9454896" y="3739896"/>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Alert, automation &amp; air-quality policies</a:t>
            </a:r>
            <a:endParaRPr lang="en-US" sz="970" dirty="0"/>
          </a:p>
        </p:txBody>
      </p:sp>
      <p:sp>
        <p:nvSpPr>
          <p:cNvPr id="74" name="Text 68"/>
          <p:cNvSpPr txBox="1"/>
          <p:nvPr/>
        </p:nvSpPr>
        <p:spPr>
          <a:xfrm>
            <a:off x="9272016" y="4133088"/>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75" name="Text 69"/>
          <p:cNvSpPr txBox="1"/>
          <p:nvPr/>
        </p:nvSpPr>
        <p:spPr>
          <a:xfrm>
            <a:off x="9454896" y="4133088"/>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Maintenance plans, quality &amp; costs</a:t>
            </a:r>
            <a:endParaRPr lang="en-US" sz="970" dirty="0"/>
          </a:p>
        </p:txBody>
      </p:sp>
      <p:sp>
        <p:nvSpPr>
          <p:cNvPr id="76" name="Text 70"/>
          <p:cNvSpPr txBox="1"/>
          <p:nvPr/>
        </p:nvSpPr>
        <p:spPr>
          <a:xfrm>
            <a:off x="9272016" y="4526280"/>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77" name="Text 71"/>
          <p:cNvSpPr txBox="1"/>
          <p:nvPr/>
        </p:nvSpPr>
        <p:spPr>
          <a:xfrm>
            <a:off x="9454896" y="4526280"/>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Contracts, invoices &amp; restrictions</a:t>
            </a:r>
            <a:endParaRPr lang="en-US" sz="970" dirty="0"/>
          </a:p>
        </p:txBody>
      </p:sp>
      <p:sp>
        <p:nvSpPr>
          <p:cNvPr id="78" name="Text 72"/>
          <p:cNvSpPr txBox="1"/>
          <p:nvPr/>
        </p:nvSpPr>
        <p:spPr>
          <a:xfrm>
            <a:off x="9272016" y="4919472"/>
            <a:ext cx="182880" cy="365760"/>
          </a:xfrm>
          <a:prstGeom prst="rect">
            <a:avLst/>
          </a:prstGeom>
          <a:noFill/>
          <a:ln/>
        </p:spPr>
        <p:txBody>
          <a:bodyPr wrap="square" lIns="0" tIns="0" rIns="0" bIns="0" rtlCol="0" anchor="ctr"/>
          <a:lstStyle/>
          <a:p>
            <a:pPr indent="0" marL="0">
              <a:buNone/>
            </a:pPr>
            <a:r>
              <a:rPr lang="en-US" sz="1050" b="1" dirty="0">
                <a:solidFill>
                  <a:srgbClr val="005BEA"/>
                </a:solidFill>
                <a:latin typeface="Calibri" pitchFamily="34" charset="0"/>
                <a:ea typeface="Calibri" pitchFamily="34" charset="-122"/>
                <a:cs typeface="Calibri" pitchFamily="34" charset="-120"/>
              </a:rPr>
              <a:t>•</a:t>
            </a:r>
            <a:endParaRPr lang="en-US" sz="1050" dirty="0"/>
          </a:p>
        </p:txBody>
      </p:sp>
      <p:sp>
        <p:nvSpPr>
          <p:cNvPr id="79" name="Text 73"/>
          <p:cNvSpPr txBox="1"/>
          <p:nvPr/>
        </p:nvSpPr>
        <p:spPr>
          <a:xfrm>
            <a:off x="9454896" y="4919472"/>
            <a:ext cx="2048256" cy="365760"/>
          </a:xfrm>
          <a:prstGeom prst="rect">
            <a:avLst/>
          </a:prstGeom>
          <a:noFill/>
          <a:ln/>
        </p:spPr>
        <p:txBody>
          <a:bodyPr wrap="square" lIns="0" tIns="0" rIns="0" bIns="0" rtlCol="0" anchor="ctr"/>
          <a:lstStyle/>
          <a:p>
            <a:pPr indent="0" marL="0">
              <a:lnSpc>
                <a:spcPct val="110000"/>
              </a:lnSpc>
              <a:buNone/>
            </a:pPr>
            <a:r>
              <a:rPr lang="en-US" sz="970" dirty="0">
                <a:solidFill>
                  <a:srgbClr val="5C6E82"/>
                </a:solidFill>
                <a:latin typeface="Calibri" pitchFamily="34" charset="0"/>
                <a:ea typeface="Calibri" pitchFamily="34" charset="-122"/>
                <a:cs typeface="Calibri" pitchFamily="34" charset="-120"/>
              </a:rPr>
              <a:t>Energy, MRV, offsets &amp; audit</a:t>
            </a:r>
            <a:endParaRPr lang="en-US" sz="970" dirty="0"/>
          </a:p>
        </p:txBody>
      </p:sp>
      <p:sp>
        <p:nvSpPr>
          <p:cNvPr id="80" name="Text 74"/>
          <p:cNvSpPr txBox="1"/>
          <p:nvPr/>
        </p:nvSpPr>
        <p:spPr>
          <a:xfrm>
            <a:off x="640080" y="5742432"/>
            <a:ext cx="10908792" cy="320040"/>
          </a:xfrm>
          <a:prstGeom prst="rect">
            <a:avLst/>
          </a:prstGeom>
          <a:noFill/>
          <a:ln/>
        </p:spPr>
        <p:txBody>
          <a:bodyPr wrap="square" lIns="0" tIns="0" rIns="0" bIns="0" rtlCol="0" anchor="ctr"/>
          <a:lstStyle/>
          <a:p>
            <a:pPr algn="ctr" indent="0" marL="0">
              <a:buNone/>
            </a:pPr>
            <a:r>
              <a:rPr lang="en-US" sz="1200" i="1" dirty="0">
                <a:solidFill>
                  <a:srgbClr val="5C6E82"/>
                </a:solidFill>
                <a:latin typeface="Calibri" pitchFamily="34" charset="0"/>
                <a:ea typeface="Calibri" pitchFamily="34" charset="-122"/>
                <a:cs typeface="Calibri" pitchFamily="34" charset="-120"/>
              </a:rPr>
              <a:t>56 functional requirements in total — every one traces back to the original company request.</a:t>
            </a:r>
            <a:endParaRPr lang="en-US" sz="1200" dirty="0"/>
          </a:p>
        </p:txBody>
      </p:sp>
      <p:sp>
        <p:nvSpPr>
          <p:cNvPr id="81" name="Text 75"/>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82" name="Text 76"/>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05 · DESIGN — ARCHITECTURE</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Frontend Architecture</a:t>
            </a:r>
            <a:endParaRPr lang="en-US" sz="3000" dirty="0"/>
          </a:p>
        </p:txBody>
      </p:sp>
      <p:sp>
        <p:nvSpPr>
          <p:cNvPr id="4" name="Shape 2"/>
          <p:cNvSpPr/>
          <p:nvPr/>
        </p:nvSpPr>
        <p:spPr>
          <a:xfrm>
            <a:off x="640080" y="1783080"/>
            <a:ext cx="201168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5" name="Shape 3"/>
          <p:cNvSpPr/>
          <p:nvPr/>
        </p:nvSpPr>
        <p:spPr>
          <a:xfrm>
            <a:off x="1371600" y="1965960"/>
            <a:ext cx="548640" cy="548640"/>
          </a:xfrm>
          <a:prstGeom prst="ellipse">
            <a:avLst/>
          </a:prstGeom>
          <a:solidFill>
            <a:srgbClr val="E6F0FF"/>
          </a:solidFill>
          <a:ln/>
        </p:spPr>
      </p:sp>
      <p:pic>
        <p:nvPicPr>
          <p:cNvPr id="6" name="Image 0" descr="/private/tmp/claude-501/-Users-ji1wxs-PraditaProjects-AC-Project/3c2d6cf5-1769-4cbb-8b1c-24143069dbcc/scratchpad/icons/FiLayout_005BEA_300.png">    </p:cNvPr>
          <p:cNvPicPr>
            <a:picLocks noChangeAspect="1"/>
          </p:cNvPicPr>
          <p:nvPr/>
        </p:nvPicPr>
        <p:blipFill>
          <a:blip r:embed="rId1"/>
          <a:stretch>
            <a:fillRect/>
          </a:stretch>
        </p:blipFill>
        <p:spPr>
          <a:xfrm>
            <a:off x="1503274" y="2097634"/>
            <a:ext cx="285293" cy="285293"/>
          </a:xfrm>
          <a:prstGeom prst="rect">
            <a:avLst/>
          </a:prstGeom>
        </p:spPr>
      </p:pic>
      <p:sp>
        <p:nvSpPr>
          <p:cNvPr id="7" name="Text 4"/>
          <p:cNvSpPr txBox="1"/>
          <p:nvPr/>
        </p:nvSpPr>
        <p:spPr>
          <a:xfrm>
            <a:off x="731520" y="2624328"/>
            <a:ext cx="182880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0D2238"/>
                </a:solidFill>
                <a:latin typeface="Calibri" pitchFamily="34" charset="0"/>
                <a:ea typeface="Calibri" pitchFamily="34" charset="-122"/>
                <a:cs typeface="Calibri" pitchFamily="34" charset="-120"/>
              </a:rPr>
              <a:t>Page</a:t>
            </a:r>
            <a:endParaRPr lang="en-US" sz="1250" dirty="0"/>
          </a:p>
        </p:txBody>
      </p:sp>
      <p:sp>
        <p:nvSpPr>
          <p:cNvPr id="8" name="Text 5"/>
          <p:cNvSpPr txBox="1"/>
          <p:nvPr/>
        </p:nvSpPr>
        <p:spPr>
          <a:xfrm>
            <a:off x="2670048" y="2308860"/>
            <a:ext cx="219456" cy="365760"/>
          </a:xfrm>
          <a:prstGeom prst="rect">
            <a:avLst/>
          </a:prstGeom>
          <a:noFill/>
          <a:ln/>
        </p:spPr>
        <p:txBody>
          <a:bodyPr wrap="square" lIns="0" tIns="0" rIns="0" bIns="0" rtlCol="0" anchor="ctr"/>
          <a:lstStyle/>
          <a:p>
            <a:pPr algn="ctr" indent="0" marL="0">
              <a:buNone/>
            </a:pPr>
            <a:r>
              <a:rPr lang="en-US" sz="1800" b="1" dirty="0">
                <a:solidFill>
                  <a:srgbClr val="9DB4CE"/>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2907792" y="1783080"/>
            <a:ext cx="201168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0" name="Shape 7"/>
          <p:cNvSpPr/>
          <p:nvPr/>
        </p:nvSpPr>
        <p:spPr>
          <a:xfrm>
            <a:off x="3639312" y="1965960"/>
            <a:ext cx="548640" cy="548640"/>
          </a:xfrm>
          <a:prstGeom prst="ellipse">
            <a:avLst/>
          </a:prstGeom>
          <a:solidFill>
            <a:srgbClr val="E6F0FF"/>
          </a:solidFill>
          <a:ln/>
        </p:spPr>
      </p:sp>
      <p:pic>
        <p:nvPicPr>
          <p:cNvPr id="11" name="Image 1" descr="/private/tmp/claude-501/-Users-ji1wxs-PraditaProjects-AC-Project/3c2d6cf5-1769-4cbb-8b1c-24143069dbcc/scratchpad/icons/FiGitMerge_005BEA_300.png">    </p:cNvPr>
          <p:cNvPicPr>
            <a:picLocks noChangeAspect="1"/>
          </p:cNvPicPr>
          <p:nvPr/>
        </p:nvPicPr>
        <p:blipFill>
          <a:blip r:embed="rId2"/>
          <a:stretch>
            <a:fillRect/>
          </a:stretch>
        </p:blipFill>
        <p:spPr>
          <a:xfrm>
            <a:off x="3770986" y="2097634"/>
            <a:ext cx="285293" cy="285293"/>
          </a:xfrm>
          <a:prstGeom prst="rect">
            <a:avLst/>
          </a:prstGeom>
        </p:spPr>
      </p:pic>
      <p:sp>
        <p:nvSpPr>
          <p:cNvPr id="12" name="Text 8"/>
          <p:cNvSpPr txBox="1"/>
          <p:nvPr/>
        </p:nvSpPr>
        <p:spPr>
          <a:xfrm>
            <a:off x="2999232" y="2624328"/>
            <a:ext cx="182880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0D2238"/>
                </a:solidFill>
                <a:latin typeface="Calibri" pitchFamily="34" charset="0"/>
                <a:ea typeface="Calibri" pitchFamily="34" charset="-122"/>
                <a:cs typeface="Calibri" pitchFamily="34" charset="-120"/>
              </a:rPr>
              <a:t>Feature Hook</a:t>
            </a:r>
            <a:endParaRPr lang="en-US" sz="1250" dirty="0"/>
          </a:p>
        </p:txBody>
      </p:sp>
      <p:sp>
        <p:nvSpPr>
          <p:cNvPr id="13" name="Text 9"/>
          <p:cNvSpPr txBox="1"/>
          <p:nvPr/>
        </p:nvSpPr>
        <p:spPr>
          <a:xfrm>
            <a:off x="4937760" y="2308860"/>
            <a:ext cx="219456" cy="365760"/>
          </a:xfrm>
          <a:prstGeom prst="rect">
            <a:avLst/>
          </a:prstGeom>
          <a:noFill/>
          <a:ln/>
        </p:spPr>
        <p:txBody>
          <a:bodyPr wrap="square" lIns="0" tIns="0" rIns="0" bIns="0" rtlCol="0" anchor="ctr"/>
          <a:lstStyle/>
          <a:p>
            <a:pPr algn="ctr" indent="0" marL="0">
              <a:buNone/>
            </a:pPr>
            <a:r>
              <a:rPr lang="en-US" sz="1800" b="1" dirty="0">
                <a:solidFill>
                  <a:srgbClr val="9DB4CE"/>
                </a:solidFill>
                <a:latin typeface="Calibri" pitchFamily="34" charset="0"/>
                <a:ea typeface="Calibri" pitchFamily="34" charset="-122"/>
                <a:cs typeface="Calibri" pitchFamily="34" charset="-120"/>
              </a:rPr>
              <a:t>→</a:t>
            </a:r>
            <a:endParaRPr lang="en-US" sz="1800" dirty="0"/>
          </a:p>
        </p:txBody>
      </p:sp>
      <p:sp>
        <p:nvSpPr>
          <p:cNvPr id="14" name="Shape 10"/>
          <p:cNvSpPr/>
          <p:nvPr/>
        </p:nvSpPr>
        <p:spPr>
          <a:xfrm>
            <a:off x="5175504" y="1783080"/>
            <a:ext cx="201168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5" name="Shape 11"/>
          <p:cNvSpPr/>
          <p:nvPr/>
        </p:nvSpPr>
        <p:spPr>
          <a:xfrm>
            <a:off x="5907024" y="1965960"/>
            <a:ext cx="548640" cy="548640"/>
          </a:xfrm>
          <a:prstGeom prst="ellipse">
            <a:avLst/>
          </a:prstGeom>
          <a:solidFill>
            <a:srgbClr val="E6F0FF"/>
          </a:solidFill>
          <a:ln/>
        </p:spPr>
      </p:sp>
      <p:pic>
        <p:nvPicPr>
          <p:cNvPr id="16" name="Image 2" descr="/private/tmp/claude-501/-Users-ji1wxs-PraditaProjects-AC-Project/3c2d6cf5-1769-4cbb-8b1c-24143069dbcc/scratchpad/icons/FiDatabase_005BEA_300.png">    </p:cNvPr>
          <p:cNvPicPr>
            <a:picLocks noChangeAspect="1"/>
          </p:cNvPicPr>
          <p:nvPr/>
        </p:nvPicPr>
        <p:blipFill>
          <a:blip r:embed="rId3"/>
          <a:stretch>
            <a:fillRect/>
          </a:stretch>
        </p:blipFill>
        <p:spPr>
          <a:xfrm>
            <a:off x="6038698" y="2097634"/>
            <a:ext cx="285293" cy="285293"/>
          </a:xfrm>
          <a:prstGeom prst="rect">
            <a:avLst/>
          </a:prstGeom>
        </p:spPr>
      </p:pic>
      <p:sp>
        <p:nvSpPr>
          <p:cNvPr id="17" name="Text 12"/>
          <p:cNvSpPr txBox="1"/>
          <p:nvPr/>
        </p:nvSpPr>
        <p:spPr>
          <a:xfrm>
            <a:off x="5266944" y="2624328"/>
            <a:ext cx="182880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0D2238"/>
                </a:solidFill>
                <a:latin typeface="Calibri" pitchFamily="34" charset="0"/>
                <a:ea typeface="Calibri" pitchFamily="34" charset="-122"/>
                <a:cs typeface="Calibri" pitchFamily="34" charset="-120"/>
              </a:rPr>
              <a:t>Repository</a:t>
            </a:r>
            <a:endParaRPr lang="en-US" sz="1250" dirty="0"/>
          </a:p>
          <a:p>
            <a:pPr algn="ctr" indent="0" marL="0">
              <a:lnSpc>
                <a:spcPct val="105000"/>
              </a:lnSpc>
              <a:buNone/>
            </a:pPr>
            <a:r>
              <a:rPr lang="en-US" sz="1250" b="1" dirty="0">
                <a:solidFill>
                  <a:srgbClr val="0D2238"/>
                </a:solidFill>
                <a:latin typeface="Calibri" pitchFamily="34" charset="0"/>
                <a:ea typeface="Calibri" pitchFamily="34" charset="-122"/>
                <a:cs typeface="Calibri" pitchFamily="34" charset="-120"/>
              </a:rPr>
              <a:t>Interface</a:t>
            </a:r>
            <a:endParaRPr lang="en-US" sz="1250" dirty="0"/>
          </a:p>
        </p:txBody>
      </p:sp>
      <p:sp>
        <p:nvSpPr>
          <p:cNvPr id="18" name="Text 13"/>
          <p:cNvSpPr txBox="1"/>
          <p:nvPr/>
        </p:nvSpPr>
        <p:spPr>
          <a:xfrm>
            <a:off x="7205472" y="2308860"/>
            <a:ext cx="219456" cy="365760"/>
          </a:xfrm>
          <a:prstGeom prst="rect">
            <a:avLst/>
          </a:prstGeom>
          <a:noFill/>
          <a:ln/>
        </p:spPr>
        <p:txBody>
          <a:bodyPr wrap="square" lIns="0" tIns="0" rIns="0" bIns="0" rtlCol="0" anchor="ctr"/>
          <a:lstStyle/>
          <a:p>
            <a:pPr algn="ctr" indent="0" marL="0">
              <a:buNone/>
            </a:pPr>
            <a:r>
              <a:rPr lang="en-US" sz="1800" b="1" dirty="0">
                <a:solidFill>
                  <a:srgbClr val="9DB4CE"/>
                </a:solidFill>
                <a:latin typeface="Calibri" pitchFamily="34" charset="0"/>
                <a:ea typeface="Calibri" pitchFamily="34" charset="-122"/>
                <a:cs typeface="Calibri" pitchFamily="34" charset="-120"/>
              </a:rPr>
              <a:t>→</a:t>
            </a:r>
            <a:endParaRPr lang="en-US" sz="1800" dirty="0"/>
          </a:p>
        </p:txBody>
      </p:sp>
      <p:sp>
        <p:nvSpPr>
          <p:cNvPr id="19" name="Shape 14"/>
          <p:cNvSpPr/>
          <p:nvPr/>
        </p:nvSpPr>
        <p:spPr>
          <a:xfrm>
            <a:off x="7443216" y="1783080"/>
            <a:ext cx="201168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0" name="Shape 15"/>
          <p:cNvSpPr/>
          <p:nvPr/>
        </p:nvSpPr>
        <p:spPr>
          <a:xfrm>
            <a:off x="8174736" y="1965960"/>
            <a:ext cx="548640" cy="548640"/>
          </a:xfrm>
          <a:prstGeom prst="ellipse">
            <a:avLst/>
          </a:prstGeom>
          <a:solidFill>
            <a:srgbClr val="E6F0FF"/>
          </a:solidFill>
          <a:ln/>
        </p:spPr>
      </p:sp>
      <p:pic>
        <p:nvPicPr>
          <p:cNvPr id="21" name="Image 3" descr="/private/tmp/claude-501/-Users-ji1wxs-PraditaProjects-AC-Project/3c2d6cf5-1769-4cbb-8b1c-24143069dbcc/scratchpad/icons/FiBox_005BEA_300.png">    </p:cNvPr>
          <p:cNvPicPr>
            <a:picLocks noChangeAspect="1"/>
          </p:cNvPicPr>
          <p:nvPr/>
        </p:nvPicPr>
        <p:blipFill>
          <a:blip r:embed="rId4"/>
          <a:stretch>
            <a:fillRect/>
          </a:stretch>
        </p:blipFill>
        <p:spPr>
          <a:xfrm>
            <a:off x="8306410" y="2097634"/>
            <a:ext cx="285293" cy="285293"/>
          </a:xfrm>
          <a:prstGeom prst="rect">
            <a:avLst/>
          </a:prstGeom>
        </p:spPr>
      </p:pic>
      <p:sp>
        <p:nvSpPr>
          <p:cNvPr id="22" name="Text 16"/>
          <p:cNvSpPr txBox="1"/>
          <p:nvPr/>
        </p:nvSpPr>
        <p:spPr>
          <a:xfrm>
            <a:off x="7534656" y="2624328"/>
            <a:ext cx="182880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0D2238"/>
                </a:solidFill>
                <a:latin typeface="Calibri" pitchFamily="34" charset="0"/>
                <a:ea typeface="Calibri" pitchFamily="34" charset="-122"/>
                <a:cs typeface="Calibri" pitchFamily="34" charset="-120"/>
              </a:rPr>
              <a:t>Mock Adapter</a:t>
            </a:r>
            <a:endParaRPr lang="en-US" sz="1250" dirty="0"/>
          </a:p>
        </p:txBody>
      </p:sp>
      <p:sp>
        <p:nvSpPr>
          <p:cNvPr id="23" name="Text 17"/>
          <p:cNvSpPr txBox="1"/>
          <p:nvPr/>
        </p:nvSpPr>
        <p:spPr>
          <a:xfrm>
            <a:off x="9473184" y="2308860"/>
            <a:ext cx="219456" cy="365760"/>
          </a:xfrm>
          <a:prstGeom prst="rect">
            <a:avLst/>
          </a:prstGeom>
          <a:noFill/>
          <a:ln/>
        </p:spPr>
        <p:txBody>
          <a:bodyPr wrap="square" lIns="0" tIns="0" rIns="0" bIns="0" rtlCol="0" anchor="ctr"/>
          <a:lstStyle/>
          <a:p>
            <a:pPr algn="ctr" indent="0" marL="0">
              <a:buNone/>
            </a:pPr>
            <a:r>
              <a:rPr lang="en-US" sz="1800" b="1" dirty="0">
                <a:solidFill>
                  <a:srgbClr val="9DB4CE"/>
                </a:solidFill>
                <a:latin typeface="Calibri" pitchFamily="34" charset="0"/>
                <a:ea typeface="Calibri" pitchFamily="34" charset="-122"/>
                <a:cs typeface="Calibri" pitchFamily="34" charset="-120"/>
              </a:rPr>
              <a:t>→</a:t>
            </a:r>
            <a:endParaRPr lang="en-US" sz="1800" dirty="0"/>
          </a:p>
        </p:txBody>
      </p:sp>
      <p:sp>
        <p:nvSpPr>
          <p:cNvPr id="24" name="Shape 18"/>
          <p:cNvSpPr/>
          <p:nvPr/>
        </p:nvSpPr>
        <p:spPr>
          <a:xfrm>
            <a:off x="9710928" y="1783080"/>
            <a:ext cx="1828800" cy="1417320"/>
          </a:xfrm>
          <a:prstGeom prst="roundRect">
            <a:avLst>
              <a:gd name="adj" fmla="val 6452"/>
            </a:avLst>
          </a:prstGeom>
          <a:solidFill>
            <a:srgbClr val="F8FBFF"/>
          </a:solidFill>
          <a:ln w="15875">
            <a:solidFill>
              <a:srgbClr val="9DB4CE"/>
            </a:solidFill>
            <a:prstDash val="dash"/>
          </a:ln>
        </p:spPr>
      </p:sp>
      <p:sp>
        <p:nvSpPr>
          <p:cNvPr id="25" name="Shape 19"/>
          <p:cNvSpPr/>
          <p:nvPr/>
        </p:nvSpPr>
        <p:spPr>
          <a:xfrm>
            <a:off x="10351008" y="1965960"/>
            <a:ext cx="548640" cy="548640"/>
          </a:xfrm>
          <a:prstGeom prst="ellipse">
            <a:avLst/>
          </a:prstGeom>
          <a:solidFill>
            <a:srgbClr val="FFFFFF"/>
          </a:solidFill>
          <a:ln/>
        </p:spPr>
      </p:sp>
      <p:pic>
        <p:nvPicPr>
          <p:cNvPr id="26" name="Image 4" descr="/private/tmp/claude-501/-Users-ji1wxs-PraditaProjects-AC-Project/3c2d6cf5-1769-4cbb-8b1c-24143069dbcc/scratchpad/icons/FiCloud_5C6E82_300.png">    </p:cNvPr>
          <p:cNvPicPr>
            <a:picLocks noChangeAspect="1"/>
          </p:cNvPicPr>
          <p:nvPr/>
        </p:nvPicPr>
        <p:blipFill>
          <a:blip r:embed="rId5"/>
          <a:stretch>
            <a:fillRect/>
          </a:stretch>
        </p:blipFill>
        <p:spPr>
          <a:xfrm>
            <a:off x="10482682" y="2097634"/>
            <a:ext cx="285293" cy="285293"/>
          </a:xfrm>
          <a:prstGeom prst="rect">
            <a:avLst/>
          </a:prstGeom>
        </p:spPr>
      </p:pic>
      <p:sp>
        <p:nvSpPr>
          <p:cNvPr id="27" name="Text 20"/>
          <p:cNvSpPr txBox="1"/>
          <p:nvPr/>
        </p:nvSpPr>
        <p:spPr>
          <a:xfrm>
            <a:off x="9765792" y="2624328"/>
            <a:ext cx="1719072" cy="502920"/>
          </a:xfrm>
          <a:prstGeom prst="rect">
            <a:avLst/>
          </a:prstGeom>
          <a:noFill/>
          <a:ln/>
        </p:spPr>
        <p:txBody>
          <a:bodyPr wrap="square" lIns="0" tIns="0" rIns="0" bIns="0" rtlCol="0" anchor="ctr"/>
          <a:lstStyle/>
          <a:p>
            <a:pPr algn="ctr" indent="0" marL="0">
              <a:lnSpc>
                <a:spcPct val="105000"/>
              </a:lnSpc>
              <a:buNone/>
            </a:pPr>
            <a:r>
              <a:rPr lang="en-US" sz="1150" i="1" dirty="0">
                <a:solidFill>
                  <a:srgbClr val="5C6E82"/>
                </a:solidFill>
                <a:latin typeface="Calibri" pitchFamily="34" charset="0"/>
                <a:ea typeface="Calibri" pitchFamily="34" charset="-122"/>
                <a:cs typeface="Calibri" pitchFamily="34" charset="-120"/>
              </a:rPr>
              <a:t>Future: Real</a:t>
            </a:r>
            <a:endParaRPr lang="en-US" sz="1150" dirty="0"/>
          </a:p>
          <a:p>
            <a:pPr algn="ctr" indent="0" marL="0">
              <a:lnSpc>
                <a:spcPct val="105000"/>
              </a:lnSpc>
              <a:buNone/>
            </a:pPr>
            <a:r>
              <a:rPr lang="en-US" sz="1150" i="1" dirty="0">
                <a:solidFill>
                  <a:srgbClr val="5C6E82"/>
                </a:solidFill>
                <a:latin typeface="Calibri" pitchFamily="34" charset="0"/>
                <a:ea typeface="Calibri" pitchFamily="34" charset="-122"/>
                <a:cs typeface="Calibri" pitchFamily="34" charset="-120"/>
              </a:rPr>
              <a:t>API Adapter</a:t>
            </a:r>
            <a:endParaRPr lang="en-US" sz="1150" dirty="0"/>
          </a:p>
        </p:txBody>
      </p:sp>
      <p:pic>
        <p:nvPicPr>
          <p:cNvPr id="28" name="Image 5" descr="/private/tmp/claude-501/-Users-ji1wxs-PraditaProjects-AC-Project/3c2d6cf5-1769-4cbb-8b1c-24143069dbcc/scratchpad/icons/FiCheckCircle_059669_300.png">    </p:cNvPr>
          <p:cNvPicPr>
            <a:picLocks noChangeAspect="1"/>
          </p:cNvPicPr>
          <p:nvPr/>
        </p:nvPicPr>
        <p:blipFill>
          <a:blip r:embed="rId6"/>
          <a:stretch>
            <a:fillRect/>
          </a:stretch>
        </p:blipFill>
        <p:spPr>
          <a:xfrm>
            <a:off x="640080" y="3831336"/>
            <a:ext cx="201168" cy="201168"/>
          </a:xfrm>
          <a:prstGeom prst="rect">
            <a:avLst/>
          </a:prstGeom>
        </p:spPr>
      </p:pic>
      <p:sp>
        <p:nvSpPr>
          <p:cNvPr id="29" name="Text 21"/>
          <p:cNvSpPr txBox="1"/>
          <p:nvPr/>
        </p:nvSpPr>
        <p:spPr>
          <a:xfrm>
            <a:off x="987552" y="3712464"/>
            <a:ext cx="10543032" cy="457200"/>
          </a:xfrm>
          <a:prstGeom prst="rect">
            <a:avLst/>
          </a:prstGeom>
          <a:noFill/>
          <a:ln/>
        </p:spPr>
        <p:txBody>
          <a:bodyPr wrap="square" lIns="0" tIns="0" rIns="0" bIns="0" rtlCol="0" anchor="ctr"/>
          <a:lstStyle/>
          <a:p>
            <a:pPr indent="0" marL="0">
              <a:buNone/>
            </a:pPr>
            <a:r>
              <a:rPr lang="en-US" sz="1350" dirty="0">
                <a:solidFill>
                  <a:srgbClr val="5C6E82"/>
                </a:solidFill>
                <a:latin typeface="Calibri" pitchFamily="34" charset="0"/>
                <a:ea typeface="Calibri" pitchFamily="34" charset="-122"/>
                <a:cs typeface="Calibri" pitchFamily="34" charset="-120"/>
              </a:rPr>
              <a:t>UI never touches data access directly — every screen goes through the Repository interface.</a:t>
            </a:r>
            <a:endParaRPr lang="en-US" sz="1350" dirty="0"/>
          </a:p>
        </p:txBody>
      </p:sp>
      <p:pic>
        <p:nvPicPr>
          <p:cNvPr id="30" name="Image 6" descr="/private/tmp/claude-501/-Users-ji1wxs-PraditaProjects-AC-Project/3c2d6cf5-1769-4cbb-8b1c-24143069dbcc/scratchpad/icons/FiCheckCircle_059669_300.png">    </p:cNvPr>
          <p:cNvPicPr>
            <a:picLocks noChangeAspect="1"/>
          </p:cNvPicPr>
          <p:nvPr/>
        </p:nvPicPr>
        <p:blipFill>
          <a:blip r:embed="rId7"/>
          <a:stretch>
            <a:fillRect/>
          </a:stretch>
        </p:blipFill>
        <p:spPr>
          <a:xfrm>
            <a:off x="640080" y="4398264"/>
            <a:ext cx="201168" cy="201168"/>
          </a:xfrm>
          <a:prstGeom prst="rect">
            <a:avLst/>
          </a:prstGeom>
        </p:spPr>
      </p:pic>
      <p:sp>
        <p:nvSpPr>
          <p:cNvPr id="31" name="Text 22"/>
          <p:cNvSpPr txBox="1"/>
          <p:nvPr/>
        </p:nvSpPr>
        <p:spPr>
          <a:xfrm>
            <a:off x="987552" y="4279392"/>
            <a:ext cx="10543032" cy="457200"/>
          </a:xfrm>
          <a:prstGeom prst="rect">
            <a:avLst/>
          </a:prstGeom>
          <a:noFill/>
          <a:ln/>
        </p:spPr>
        <p:txBody>
          <a:bodyPr wrap="square" lIns="0" tIns="0" rIns="0" bIns="0" rtlCol="0" anchor="ctr"/>
          <a:lstStyle/>
          <a:p>
            <a:pPr indent="0" marL="0">
              <a:buNone/>
            </a:pPr>
            <a:r>
              <a:rPr lang="en-US" sz="1350" dirty="0">
                <a:solidFill>
                  <a:srgbClr val="5C6E82"/>
                </a:solidFill>
                <a:latin typeface="Calibri" pitchFamily="34" charset="0"/>
                <a:ea typeface="Calibri" pitchFamily="34" charset="-122"/>
                <a:cs typeface="Calibri" pitchFamily="34" charset="-120"/>
              </a:rPr>
              <a:t>Repository pattern makes the app API-ready: swap the adapter later, not the screens.</a:t>
            </a:r>
            <a:endParaRPr lang="en-US" sz="1350" dirty="0"/>
          </a:p>
        </p:txBody>
      </p:sp>
      <p:pic>
        <p:nvPicPr>
          <p:cNvPr id="32" name="Image 7" descr="/private/tmp/claude-501/-Users-ji1wxs-PraditaProjects-AC-Project/3c2d6cf5-1769-4cbb-8b1c-24143069dbcc/scratchpad/icons/FiCheckCircle_059669_300.png">    </p:cNvPr>
          <p:cNvPicPr>
            <a:picLocks noChangeAspect="1"/>
          </p:cNvPicPr>
          <p:nvPr/>
        </p:nvPicPr>
        <p:blipFill>
          <a:blip r:embed="rId8"/>
          <a:stretch>
            <a:fillRect/>
          </a:stretch>
        </p:blipFill>
        <p:spPr>
          <a:xfrm>
            <a:off x="640080" y="4965192"/>
            <a:ext cx="201168" cy="201168"/>
          </a:xfrm>
          <a:prstGeom prst="rect">
            <a:avLst/>
          </a:prstGeom>
        </p:spPr>
      </p:pic>
      <p:sp>
        <p:nvSpPr>
          <p:cNvPr id="33" name="Text 23"/>
          <p:cNvSpPr txBox="1"/>
          <p:nvPr/>
        </p:nvSpPr>
        <p:spPr>
          <a:xfrm>
            <a:off x="987552" y="4846320"/>
            <a:ext cx="10543032" cy="457200"/>
          </a:xfrm>
          <a:prstGeom prst="rect">
            <a:avLst/>
          </a:prstGeom>
          <a:noFill/>
          <a:ln/>
        </p:spPr>
        <p:txBody>
          <a:bodyPr wrap="square" lIns="0" tIns="0" rIns="0" bIns="0" rtlCol="0" anchor="ctr"/>
          <a:lstStyle/>
          <a:p>
            <a:pPr indent="0" marL="0">
              <a:buNone/>
            </a:pPr>
            <a:r>
              <a:rPr lang="en-US" sz="1350" dirty="0">
                <a:solidFill>
                  <a:srgbClr val="5C6E82"/>
                </a:solidFill>
                <a:latin typeface="Calibri" pitchFamily="34" charset="0"/>
                <a:ea typeface="Calibri" pitchFamily="34" charset="-122"/>
                <a:cs typeface="Calibri" pitchFamily="34" charset="-120"/>
              </a:rPr>
              <a:t>One shared mock dataset (fixed seed) keeps all four roles consistent when switching demo roles.</a:t>
            </a:r>
            <a:endParaRPr lang="en-US" sz="1350" dirty="0"/>
          </a:p>
        </p:txBody>
      </p:sp>
      <p:sp>
        <p:nvSpPr>
          <p:cNvPr id="34" name="Text 24"/>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35" name="Text 25"/>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05 · DESIGN — PRINCIPLES</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Key Design Principles</a:t>
            </a:r>
            <a:endParaRPr lang="en-US" sz="3000" dirty="0"/>
          </a:p>
        </p:txBody>
      </p:sp>
      <p:sp>
        <p:nvSpPr>
          <p:cNvPr id="4" name="Shape 2"/>
          <p:cNvSpPr/>
          <p:nvPr/>
        </p:nvSpPr>
        <p:spPr>
          <a:xfrm>
            <a:off x="640080" y="1691640"/>
            <a:ext cx="10908792" cy="1216152"/>
          </a:xfrm>
          <a:prstGeom prst="roundRect">
            <a:avLst>
              <a:gd name="adj" fmla="val 7519"/>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5" name="Shape 3"/>
          <p:cNvSpPr/>
          <p:nvPr/>
        </p:nvSpPr>
        <p:spPr>
          <a:xfrm>
            <a:off x="914400" y="1911096"/>
            <a:ext cx="777240" cy="777240"/>
          </a:xfrm>
          <a:prstGeom prst="ellipse">
            <a:avLst/>
          </a:prstGeom>
          <a:solidFill>
            <a:srgbClr val="005BEA"/>
          </a:solidFill>
          <a:ln/>
        </p:spPr>
      </p:sp>
      <p:pic>
        <p:nvPicPr>
          <p:cNvPr id="6" name="Image 0" descr="/private/tmp/claude-501/-Users-ji1wxs-PraditaProjects-AC-Project/3c2d6cf5-1769-4cbb-8b1c-24143069dbcc/scratchpad/icons/FiLock_FFFFFF_300.png">    </p:cNvPr>
          <p:cNvPicPr>
            <a:picLocks noChangeAspect="1"/>
          </p:cNvPicPr>
          <p:nvPr/>
        </p:nvPicPr>
        <p:blipFill>
          <a:blip r:embed="rId1"/>
          <a:stretch>
            <a:fillRect/>
          </a:stretch>
        </p:blipFill>
        <p:spPr>
          <a:xfrm>
            <a:off x="1100938" y="2097634"/>
            <a:ext cx="404165" cy="404165"/>
          </a:xfrm>
          <a:prstGeom prst="rect">
            <a:avLst/>
          </a:prstGeom>
        </p:spPr>
      </p:pic>
      <p:sp>
        <p:nvSpPr>
          <p:cNvPr id="7" name="Text 4"/>
          <p:cNvSpPr txBox="1"/>
          <p:nvPr/>
        </p:nvSpPr>
        <p:spPr>
          <a:xfrm>
            <a:off x="1920240" y="1856232"/>
            <a:ext cx="9354312" cy="365760"/>
          </a:xfrm>
          <a:prstGeom prst="rect">
            <a:avLst/>
          </a:prstGeom>
          <a:noFill/>
          <a:ln/>
        </p:spPr>
        <p:txBody>
          <a:bodyPr wrap="square" lIns="0" tIns="0" rIns="0" bIns="0" rtlCol="0" anchor="ctr"/>
          <a:lstStyle/>
          <a:p>
            <a:pPr indent="0" marL="0">
              <a:buNone/>
            </a:pPr>
            <a:r>
              <a:rPr lang="en-US" sz="1700" b="1" dirty="0">
                <a:solidFill>
                  <a:srgbClr val="0D2238"/>
                </a:solidFill>
                <a:latin typeface="Cambria" pitchFamily="34" charset="0"/>
                <a:ea typeface="Cambria" pitchFamily="34" charset="-122"/>
                <a:cs typeface="Cambria" pitchFamily="34" charset="-120"/>
              </a:rPr>
              <a:t>Strict Permission Scoping</a:t>
            </a:r>
            <a:endParaRPr lang="en-US" sz="1700" dirty="0"/>
          </a:p>
        </p:txBody>
      </p:sp>
      <p:sp>
        <p:nvSpPr>
          <p:cNvPr id="8" name="Text 5"/>
          <p:cNvSpPr txBox="1"/>
          <p:nvPr/>
        </p:nvSpPr>
        <p:spPr>
          <a:xfrm>
            <a:off x="1920240" y="2221992"/>
            <a:ext cx="9308592" cy="640080"/>
          </a:xfrm>
          <a:prstGeom prst="rect">
            <a:avLst/>
          </a:prstGeom>
          <a:noFill/>
          <a:ln/>
        </p:spPr>
        <p:txBody>
          <a:bodyPr wrap="square" lIns="0" tIns="0" rIns="0" bIns="0" rtlCol="0" anchor="ctr"/>
          <a:lstStyle/>
          <a:p>
            <a:pPr indent="0" marL="0">
              <a:lnSpc>
                <a:spcPct val="120000"/>
              </a:lnSpc>
              <a:buNone/>
            </a:pPr>
            <a:r>
              <a:rPr lang="en-US" sz="1250" dirty="0">
                <a:solidFill>
                  <a:srgbClr val="5C6E82"/>
                </a:solidFill>
                <a:latin typeface="Calibri" pitchFamily="34" charset="0"/>
                <a:ea typeface="Calibri" pitchFamily="34" charset="-122"/>
                <a:cs typeface="Calibri" pitchFamily="34" charset="-120"/>
              </a:rPr>
              <a:t>Every action rechecks tenant, role, assignment &amp; valid time period — not just what's shown in a menu.</a:t>
            </a:r>
            <a:endParaRPr lang="en-US" sz="1250" dirty="0"/>
          </a:p>
        </p:txBody>
      </p:sp>
      <p:sp>
        <p:nvSpPr>
          <p:cNvPr id="9" name="Shape 6"/>
          <p:cNvSpPr/>
          <p:nvPr/>
        </p:nvSpPr>
        <p:spPr>
          <a:xfrm>
            <a:off x="640080" y="3108960"/>
            <a:ext cx="10908792" cy="1216152"/>
          </a:xfrm>
          <a:prstGeom prst="roundRect">
            <a:avLst>
              <a:gd name="adj" fmla="val 7519"/>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0" name="Shape 7"/>
          <p:cNvSpPr/>
          <p:nvPr/>
        </p:nvSpPr>
        <p:spPr>
          <a:xfrm>
            <a:off x="914400" y="3328416"/>
            <a:ext cx="777240" cy="777240"/>
          </a:xfrm>
          <a:prstGeom prst="ellipse">
            <a:avLst/>
          </a:prstGeom>
          <a:solidFill>
            <a:srgbClr val="005BEA"/>
          </a:solidFill>
          <a:ln/>
        </p:spPr>
      </p:sp>
      <p:pic>
        <p:nvPicPr>
          <p:cNvPr id="11" name="Image 1" descr="/private/tmp/claude-501/-Users-ji1wxs-PraditaProjects-AC-Project/3c2d6cf5-1769-4cbb-8b1c-24143069dbcc/scratchpad/icons/FiEye_FFFFFF_300.png">    </p:cNvPr>
          <p:cNvPicPr>
            <a:picLocks noChangeAspect="1"/>
          </p:cNvPicPr>
          <p:nvPr/>
        </p:nvPicPr>
        <p:blipFill>
          <a:blip r:embed="rId2"/>
          <a:stretch>
            <a:fillRect/>
          </a:stretch>
        </p:blipFill>
        <p:spPr>
          <a:xfrm>
            <a:off x="1100938" y="3514954"/>
            <a:ext cx="404165" cy="404165"/>
          </a:xfrm>
          <a:prstGeom prst="rect">
            <a:avLst/>
          </a:prstGeom>
        </p:spPr>
      </p:pic>
      <p:sp>
        <p:nvSpPr>
          <p:cNvPr id="12" name="Text 8"/>
          <p:cNvSpPr txBox="1"/>
          <p:nvPr/>
        </p:nvSpPr>
        <p:spPr>
          <a:xfrm>
            <a:off x="1920240" y="3273552"/>
            <a:ext cx="9354312" cy="365760"/>
          </a:xfrm>
          <a:prstGeom prst="rect">
            <a:avLst/>
          </a:prstGeom>
          <a:noFill/>
          <a:ln/>
        </p:spPr>
        <p:txBody>
          <a:bodyPr wrap="square" lIns="0" tIns="0" rIns="0" bIns="0" rtlCol="0" anchor="ctr"/>
          <a:lstStyle/>
          <a:p>
            <a:pPr indent="0" marL="0">
              <a:buNone/>
            </a:pPr>
            <a:r>
              <a:rPr lang="en-US" sz="1700" b="1" dirty="0">
                <a:solidFill>
                  <a:srgbClr val="0D2238"/>
                </a:solidFill>
                <a:latin typeface="Cambria" pitchFamily="34" charset="0"/>
                <a:ea typeface="Cambria" pitchFamily="34" charset="-122"/>
                <a:cs typeface="Cambria" pitchFamily="34" charset="-120"/>
              </a:rPr>
              <a:t>Honest State &amp; Data Quality</a:t>
            </a:r>
            <a:endParaRPr lang="en-US" sz="1700" dirty="0"/>
          </a:p>
        </p:txBody>
      </p:sp>
      <p:sp>
        <p:nvSpPr>
          <p:cNvPr id="13" name="Text 9"/>
          <p:cNvSpPr txBox="1"/>
          <p:nvPr/>
        </p:nvSpPr>
        <p:spPr>
          <a:xfrm>
            <a:off x="1920240" y="3639312"/>
            <a:ext cx="9308592" cy="640080"/>
          </a:xfrm>
          <a:prstGeom prst="rect">
            <a:avLst/>
          </a:prstGeom>
          <a:noFill/>
          <a:ln/>
        </p:spPr>
        <p:txBody>
          <a:bodyPr wrap="square" lIns="0" tIns="0" rIns="0" bIns="0" rtlCol="0" anchor="ctr"/>
          <a:lstStyle/>
          <a:p>
            <a:pPr indent="0" marL="0">
              <a:lnSpc>
                <a:spcPct val="120000"/>
              </a:lnSpc>
              <a:buNone/>
            </a:pPr>
            <a:r>
              <a:rPr lang="en-US" sz="1250" dirty="0">
                <a:solidFill>
                  <a:srgbClr val="5C6E82"/>
                </a:solidFill>
                <a:latin typeface="Calibri" pitchFamily="34" charset="0"/>
                <a:ea typeface="Calibri" pitchFamily="34" charset="-122"/>
                <a:cs typeface="Calibri" pitchFamily="34" charset="-120"/>
              </a:rPr>
              <a:t>Missing data is never shown as zero. Measured, estimated, and stale values are clearly distinguished; success requires device confirmation.</a:t>
            </a:r>
            <a:endParaRPr lang="en-US" sz="1250" dirty="0"/>
          </a:p>
        </p:txBody>
      </p:sp>
      <p:sp>
        <p:nvSpPr>
          <p:cNvPr id="14" name="Shape 10"/>
          <p:cNvSpPr/>
          <p:nvPr/>
        </p:nvSpPr>
        <p:spPr>
          <a:xfrm>
            <a:off x="640080" y="4526280"/>
            <a:ext cx="10908792" cy="1216152"/>
          </a:xfrm>
          <a:prstGeom prst="roundRect">
            <a:avLst>
              <a:gd name="adj" fmla="val 7519"/>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5" name="Shape 11"/>
          <p:cNvSpPr/>
          <p:nvPr/>
        </p:nvSpPr>
        <p:spPr>
          <a:xfrm>
            <a:off x="914400" y="4745736"/>
            <a:ext cx="777240" cy="777240"/>
          </a:xfrm>
          <a:prstGeom prst="ellipse">
            <a:avLst/>
          </a:prstGeom>
          <a:solidFill>
            <a:srgbClr val="005BEA"/>
          </a:solidFill>
          <a:ln/>
        </p:spPr>
      </p:sp>
      <p:pic>
        <p:nvPicPr>
          <p:cNvPr id="16" name="Image 2" descr="/private/tmp/claude-501/-Users-ji1wxs-PraditaProjects-AC-Project/3c2d6cf5-1769-4cbb-8b1c-24143069dbcc/scratchpad/icons/FiGitBranch_FFFFFF_300.png">    </p:cNvPr>
          <p:cNvPicPr>
            <a:picLocks noChangeAspect="1"/>
          </p:cNvPicPr>
          <p:nvPr/>
        </p:nvPicPr>
        <p:blipFill>
          <a:blip r:embed="rId3"/>
          <a:stretch>
            <a:fillRect/>
          </a:stretch>
        </p:blipFill>
        <p:spPr>
          <a:xfrm>
            <a:off x="1100938" y="4932274"/>
            <a:ext cx="404165" cy="404165"/>
          </a:xfrm>
          <a:prstGeom prst="rect">
            <a:avLst/>
          </a:prstGeom>
        </p:spPr>
      </p:pic>
      <p:sp>
        <p:nvSpPr>
          <p:cNvPr id="17" name="Text 12"/>
          <p:cNvSpPr txBox="1"/>
          <p:nvPr/>
        </p:nvSpPr>
        <p:spPr>
          <a:xfrm>
            <a:off x="1920240" y="4690872"/>
            <a:ext cx="9354312" cy="365760"/>
          </a:xfrm>
          <a:prstGeom prst="rect">
            <a:avLst/>
          </a:prstGeom>
          <a:noFill/>
          <a:ln/>
        </p:spPr>
        <p:txBody>
          <a:bodyPr wrap="square" lIns="0" tIns="0" rIns="0" bIns="0" rtlCol="0" anchor="ctr"/>
          <a:lstStyle/>
          <a:p>
            <a:pPr indent="0" marL="0">
              <a:buNone/>
            </a:pPr>
            <a:r>
              <a:rPr lang="en-US" sz="1700" b="1" dirty="0">
                <a:solidFill>
                  <a:srgbClr val="0D2238"/>
                </a:solidFill>
                <a:latin typeface="Cambria" pitchFamily="34" charset="0"/>
                <a:ea typeface="Cambria" pitchFamily="34" charset="-122"/>
                <a:cs typeface="Cambria" pitchFamily="34" charset="-120"/>
              </a:rPr>
              <a:t>Full Traceability</a:t>
            </a:r>
            <a:endParaRPr lang="en-US" sz="1700" dirty="0"/>
          </a:p>
        </p:txBody>
      </p:sp>
      <p:sp>
        <p:nvSpPr>
          <p:cNvPr id="18" name="Text 13"/>
          <p:cNvSpPr txBox="1"/>
          <p:nvPr/>
        </p:nvSpPr>
        <p:spPr>
          <a:xfrm>
            <a:off x="1920240" y="5056632"/>
            <a:ext cx="9308592" cy="640080"/>
          </a:xfrm>
          <a:prstGeom prst="rect">
            <a:avLst/>
          </a:prstGeom>
          <a:noFill/>
          <a:ln/>
        </p:spPr>
        <p:txBody>
          <a:bodyPr wrap="square" lIns="0" tIns="0" rIns="0" bIns="0" rtlCol="0" anchor="ctr"/>
          <a:lstStyle/>
          <a:p>
            <a:pPr indent="0" marL="0">
              <a:lnSpc>
                <a:spcPct val="120000"/>
              </a:lnSpc>
              <a:buNone/>
            </a:pPr>
            <a:r>
              <a:rPr lang="en-US" sz="1250" dirty="0">
                <a:solidFill>
                  <a:srgbClr val="5C6E82"/>
                </a:solidFill>
                <a:latin typeface="Calibri" pitchFamily="34" charset="0"/>
                <a:ea typeface="Calibri" pitchFamily="34" charset="-122"/>
                <a:cs typeface="Calibri" pitchFamily="34" charset="-120"/>
              </a:rPr>
              <a:t>Every requirement traces from the original company request through a business ID, functional requirement, design, and acceptance test.</a:t>
            </a:r>
            <a:endParaRPr lang="en-US" sz="1250" dirty="0"/>
          </a:p>
        </p:txBody>
      </p:sp>
      <p:sp>
        <p:nvSpPr>
          <p:cNvPr id="19" name="Text 14"/>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20" name="Text 15"/>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06 · UI/UX — VISUAL IDENTITY</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Visual Identity — From Reference to Tokens</a:t>
            </a:r>
            <a:endParaRPr lang="en-US" sz="3000" dirty="0"/>
          </a:p>
        </p:txBody>
      </p:sp>
      <p:sp>
        <p:nvSpPr>
          <p:cNvPr id="4" name="Text 2"/>
          <p:cNvSpPr txBox="1"/>
          <p:nvPr/>
        </p:nvSpPr>
        <p:spPr>
          <a:xfrm>
            <a:off x="640080" y="1572768"/>
            <a:ext cx="4892040" cy="1417320"/>
          </a:xfrm>
          <a:prstGeom prst="rect">
            <a:avLst/>
          </a:prstGeom>
          <a:noFill/>
          <a:ln/>
        </p:spPr>
        <p:txBody>
          <a:bodyPr wrap="square" lIns="0" tIns="0" rIns="0" bIns="0" rtlCol="0" anchor="ctr"/>
          <a:lstStyle/>
          <a:p>
            <a:pPr indent="0" marL="0">
              <a:lnSpc>
                <a:spcPct val="130000"/>
              </a:lnSpc>
              <a:buNone/>
            </a:pPr>
            <a:r>
              <a:rPr lang="en-US" sz="1400" dirty="0">
                <a:solidFill>
                  <a:srgbClr val="5C6E82"/>
                </a:solidFill>
                <a:latin typeface="Calibri" pitchFamily="34" charset="0"/>
                <a:ea typeface="Calibri" pitchFamily="34" charset="-122"/>
                <a:cs typeface="Calibri" pitchFamily="34" charset="-120"/>
              </a:rPr>
              <a:t>The product's appearance is grounded in the company's reference design (their Loyalty page). Colors, fonts, spacing, and card shapes were extracted into a reusable design-token system that every screen shares.</a:t>
            </a:r>
            <a:endParaRPr lang="en-US" sz="1400" dirty="0"/>
          </a:p>
        </p:txBody>
      </p:sp>
      <p:sp>
        <p:nvSpPr>
          <p:cNvPr id="5" name="Shape 3"/>
          <p:cNvSpPr/>
          <p:nvPr/>
        </p:nvSpPr>
        <p:spPr>
          <a:xfrm>
            <a:off x="640080" y="3154680"/>
            <a:ext cx="4892040" cy="960120"/>
          </a:xfrm>
          <a:prstGeom prst="roundRect">
            <a:avLst>
              <a:gd name="adj" fmla="val 952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6" name="Text 4"/>
          <p:cNvSpPr txBox="1"/>
          <p:nvPr/>
        </p:nvSpPr>
        <p:spPr>
          <a:xfrm>
            <a:off x="868680" y="3291840"/>
            <a:ext cx="4434840" cy="320040"/>
          </a:xfrm>
          <a:prstGeom prst="rect">
            <a:avLst/>
          </a:prstGeom>
          <a:noFill/>
          <a:ln/>
        </p:spPr>
        <p:txBody>
          <a:bodyPr wrap="square" lIns="0" tIns="0" rIns="0" bIns="0" rtlCol="0" anchor="ctr"/>
          <a:lstStyle/>
          <a:p>
            <a:pPr indent="0" marL="0">
              <a:buNone/>
            </a:pPr>
            <a:r>
              <a:rPr lang="en-US" sz="1500" b="1" dirty="0">
                <a:solidFill>
                  <a:srgbClr val="0D2238"/>
                </a:solidFill>
                <a:latin typeface="Cambria" pitchFamily="34" charset="0"/>
                <a:ea typeface="Cambria" pitchFamily="34" charset="-122"/>
                <a:cs typeface="Cambria" pitchFamily="34" charset="-120"/>
              </a:rPr>
              <a:t>Plus Jakarta Sans</a:t>
            </a:r>
            <a:endParaRPr lang="en-US" sz="1500" dirty="0"/>
          </a:p>
        </p:txBody>
      </p:sp>
      <p:sp>
        <p:nvSpPr>
          <p:cNvPr id="7" name="Text 5"/>
          <p:cNvSpPr txBox="1"/>
          <p:nvPr/>
        </p:nvSpPr>
        <p:spPr>
          <a:xfrm>
            <a:off x="868680" y="3611880"/>
            <a:ext cx="4434840" cy="320040"/>
          </a:xfrm>
          <a:prstGeom prst="rect">
            <a:avLst/>
          </a:prstGeom>
          <a:noFill/>
          <a:ln/>
        </p:spPr>
        <p:txBody>
          <a:bodyPr wrap="square" lIns="0" tIns="0" rIns="0" bIns="0" rtlCol="0" anchor="ctr"/>
          <a:lstStyle/>
          <a:p>
            <a:pPr indent="0" marL="0">
              <a:buNone/>
            </a:pPr>
            <a:r>
              <a:rPr lang="en-US" sz="1150" dirty="0">
                <a:solidFill>
                  <a:srgbClr val="5C6E82"/>
                </a:solidFill>
                <a:latin typeface="Calibri" pitchFamily="34" charset="0"/>
                <a:ea typeface="Calibri" pitchFamily="34" charset="-122"/>
                <a:cs typeface="Calibri" pitchFamily="34" charset="-120"/>
              </a:rPr>
              <a:t>Body text — English &amp; Malay, Latin script</a:t>
            </a:r>
            <a:endParaRPr lang="en-US" sz="1150" dirty="0"/>
          </a:p>
        </p:txBody>
      </p:sp>
      <p:sp>
        <p:nvSpPr>
          <p:cNvPr id="8" name="Shape 6"/>
          <p:cNvSpPr/>
          <p:nvPr/>
        </p:nvSpPr>
        <p:spPr>
          <a:xfrm>
            <a:off x="640080" y="4251960"/>
            <a:ext cx="4892040" cy="960120"/>
          </a:xfrm>
          <a:prstGeom prst="roundRect">
            <a:avLst>
              <a:gd name="adj" fmla="val 9524"/>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9" name="Text 7"/>
          <p:cNvSpPr txBox="1"/>
          <p:nvPr/>
        </p:nvSpPr>
        <p:spPr>
          <a:xfrm>
            <a:off x="868680" y="4389120"/>
            <a:ext cx="4434840" cy="320040"/>
          </a:xfrm>
          <a:prstGeom prst="rect">
            <a:avLst/>
          </a:prstGeom>
          <a:noFill/>
          <a:ln/>
        </p:spPr>
        <p:txBody>
          <a:bodyPr wrap="square" lIns="0" tIns="0" rIns="0" bIns="0" rtlCol="0" anchor="ctr"/>
          <a:lstStyle/>
          <a:p>
            <a:pPr indent="0" marL="0">
              <a:buNone/>
            </a:pPr>
            <a:r>
              <a:rPr lang="en-US" sz="1500" b="1" dirty="0">
                <a:solidFill>
                  <a:srgbClr val="0D2238"/>
                </a:solidFill>
                <a:latin typeface="Cambria" pitchFamily="34" charset="0"/>
                <a:ea typeface="Cambria" pitchFamily="34" charset="-122"/>
                <a:cs typeface="Cambria" pitchFamily="34" charset="-120"/>
              </a:rPr>
              <a:t>Geist Mono</a:t>
            </a:r>
            <a:endParaRPr lang="en-US" sz="1500" dirty="0"/>
          </a:p>
        </p:txBody>
      </p:sp>
      <p:sp>
        <p:nvSpPr>
          <p:cNvPr id="10" name="Text 8"/>
          <p:cNvSpPr txBox="1"/>
          <p:nvPr/>
        </p:nvSpPr>
        <p:spPr>
          <a:xfrm>
            <a:off x="868680" y="4709160"/>
            <a:ext cx="4434840" cy="320040"/>
          </a:xfrm>
          <a:prstGeom prst="rect">
            <a:avLst/>
          </a:prstGeom>
          <a:noFill/>
          <a:ln/>
        </p:spPr>
        <p:txBody>
          <a:bodyPr wrap="square" lIns="0" tIns="0" rIns="0" bIns="0" rtlCol="0" anchor="ctr"/>
          <a:lstStyle/>
          <a:p>
            <a:pPr indent="0" marL="0">
              <a:buNone/>
            </a:pPr>
            <a:r>
              <a:rPr lang="en-US" sz="1150" dirty="0">
                <a:solidFill>
                  <a:srgbClr val="5C6E82"/>
                </a:solidFill>
                <a:latin typeface="Calibri" pitchFamily="34" charset="0"/>
                <a:ea typeface="Calibri" pitchFamily="34" charset="-122"/>
                <a:cs typeface="Calibri" pitchFamily="34" charset="-120"/>
              </a:rPr>
              <a:t>Contract IDs &amp; device serial numbers</a:t>
            </a:r>
            <a:endParaRPr lang="en-US" sz="1150" dirty="0"/>
          </a:p>
        </p:txBody>
      </p:sp>
      <p:sp>
        <p:nvSpPr>
          <p:cNvPr id="11" name="Shape 9"/>
          <p:cNvSpPr/>
          <p:nvPr/>
        </p:nvSpPr>
        <p:spPr>
          <a:xfrm>
            <a:off x="5989320" y="1572768"/>
            <a:ext cx="1600200" cy="1463040"/>
          </a:xfrm>
          <a:prstGeom prst="roundRect">
            <a:avLst>
              <a:gd name="adj" fmla="val 6250"/>
            </a:avLst>
          </a:prstGeom>
          <a:solidFill>
            <a:srgbClr val="005BEA"/>
          </a:solidFill>
          <a:ln w="12700">
            <a:solidFill>
              <a:srgbClr val="D6E4F5"/>
            </a:solidFill>
            <a:prstDash val="solid"/>
          </a:ln>
          <a:effectLst>
            <a:outerShdw sx="100000" sy="100000" kx="0" ky="0" algn="bl" rotWithShape="0" blurRad="114300" dist="38100" dir="5400000">
              <a:srgbClr val="0D2238">
                <a:alpha val="16000"/>
              </a:srgbClr>
            </a:outerShdw>
          </a:effectLst>
        </p:spPr>
      </p:sp>
      <p:sp>
        <p:nvSpPr>
          <p:cNvPr id="12" name="Text 10"/>
          <p:cNvSpPr txBox="1"/>
          <p:nvPr/>
        </p:nvSpPr>
        <p:spPr>
          <a:xfrm>
            <a:off x="5989320" y="3127248"/>
            <a:ext cx="1600200" cy="274320"/>
          </a:xfrm>
          <a:prstGeom prst="rect">
            <a:avLst/>
          </a:prstGeom>
          <a:noFill/>
          <a:ln/>
        </p:spPr>
        <p:txBody>
          <a:bodyPr wrap="square" lIns="0" tIns="0" rIns="0" bIns="0" rtlCol="0" anchor="ctr"/>
          <a:lstStyle/>
          <a:p>
            <a:pPr algn="ctr" indent="0" marL="0">
              <a:buNone/>
            </a:pPr>
            <a:r>
              <a:rPr lang="en-US" sz="1050" b="1" dirty="0">
                <a:solidFill>
                  <a:srgbClr val="0D2238"/>
                </a:solidFill>
                <a:latin typeface="Calibri" pitchFamily="34" charset="0"/>
                <a:ea typeface="Calibri" pitchFamily="34" charset="-122"/>
                <a:cs typeface="Calibri" pitchFamily="34" charset="-120"/>
              </a:rPr>
              <a:t>Primary</a:t>
            </a:r>
            <a:endParaRPr lang="en-US" sz="1050" dirty="0"/>
          </a:p>
        </p:txBody>
      </p:sp>
      <p:sp>
        <p:nvSpPr>
          <p:cNvPr id="13" name="Text 11"/>
          <p:cNvSpPr txBox="1"/>
          <p:nvPr/>
        </p:nvSpPr>
        <p:spPr>
          <a:xfrm>
            <a:off x="5989320" y="3392424"/>
            <a:ext cx="1600200" cy="274320"/>
          </a:xfrm>
          <a:prstGeom prst="rect">
            <a:avLst/>
          </a:prstGeom>
          <a:noFill/>
          <a:ln/>
        </p:spPr>
        <p:txBody>
          <a:bodyPr wrap="square" lIns="0" tIns="0" rIns="0" bIns="0" rtlCol="0" anchor="ctr"/>
          <a:lstStyle/>
          <a:p>
            <a:pPr algn="ctr" indent="0" marL="0">
              <a:buNone/>
            </a:pPr>
            <a:r>
              <a:rPr lang="en-US" sz="950" dirty="0">
                <a:solidFill>
                  <a:srgbClr val="5C6E82"/>
                </a:solidFill>
                <a:latin typeface="Calibri" pitchFamily="34" charset="0"/>
                <a:ea typeface="Calibri" pitchFamily="34" charset="-122"/>
                <a:cs typeface="Calibri" pitchFamily="34" charset="-120"/>
              </a:rPr>
              <a:t>#005BEA</a:t>
            </a:r>
            <a:endParaRPr lang="en-US" sz="950" dirty="0"/>
          </a:p>
        </p:txBody>
      </p:sp>
      <p:sp>
        <p:nvSpPr>
          <p:cNvPr id="14" name="Shape 12"/>
          <p:cNvSpPr/>
          <p:nvPr/>
        </p:nvSpPr>
        <p:spPr>
          <a:xfrm>
            <a:off x="7790688" y="1572768"/>
            <a:ext cx="1600200" cy="1463040"/>
          </a:xfrm>
          <a:prstGeom prst="roundRect">
            <a:avLst>
              <a:gd name="adj" fmla="val 6250"/>
            </a:avLst>
          </a:prstGeom>
          <a:solidFill>
            <a:srgbClr val="0D2238"/>
          </a:solidFill>
          <a:ln w="12700">
            <a:solidFill>
              <a:srgbClr val="D6E4F5"/>
            </a:solidFill>
            <a:prstDash val="solid"/>
          </a:ln>
          <a:effectLst>
            <a:outerShdw sx="100000" sy="100000" kx="0" ky="0" algn="bl" rotWithShape="0" blurRad="114300" dist="38100" dir="5400000">
              <a:srgbClr val="0D2238">
                <a:alpha val="16000"/>
              </a:srgbClr>
            </a:outerShdw>
          </a:effectLst>
        </p:spPr>
      </p:sp>
      <p:sp>
        <p:nvSpPr>
          <p:cNvPr id="15" name="Text 13"/>
          <p:cNvSpPr txBox="1"/>
          <p:nvPr/>
        </p:nvSpPr>
        <p:spPr>
          <a:xfrm>
            <a:off x="7790688" y="3127248"/>
            <a:ext cx="1600200" cy="274320"/>
          </a:xfrm>
          <a:prstGeom prst="rect">
            <a:avLst/>
          </a:prstGeom>
          <a:noFill/>
          <a:ln/>
        </p:spPr>
        <p:txBody>
          <a:bodyPr wrap="square" lIns="0" tIns="0" rIns="0" bIns="0" rtlCol="0" anchor="ctr"/>
          <a:lstStyle/>
          <a:p>
            <a:pPr algn="ctr" indent="0" marL="0">
              <a:buNone/>
            </a:pPr>
            <a:r>
              <a:rPr lang="en-US" sz="1050" b="1" dirty="0">
                <a:solidFill>
                  <a:srgbClr val="0D2238"/>
                </a:solidFill>
                <a:latin typeface="Calibri" pitchFamily="34" charset="0"/>
                <a:ea typeface="Calibri" pitchFamily="34" charset="-122"/>
                <a:cs typeface="Calibri" pitchFamily="34" charset="-120"/>
              </a:rPr>
              <a:t>Text / Navy</a:t>
            </a:r>
            <a:endParaRPr lang="en-US" sz="1050" dirty="0"/>
          </a:p>
        </p:txBody>
      </p:sp>
      <p:sp>
        <p:nvSpPr>
          <p:cNvPr id="16" name="Text 14"/>
          <p:cNvSpPr txBox="1"/>
          <p:nvPr/>
        </p:nvSpPr>
        <p:spPr>
          <a:xfrm>
            <a:off x="7790688" y="3392424"/>
            <a:ext cx="1600200" cy="274320"/>
          </a:xfrm>
          <a:prstGeom prst="rect">
            <a:avLst/>
          </a:prstGeom>
          <a:noFill/>
          <a:ln/>
        </p:spPr>
        <p:txBody>
          <a:bodyPr wrap="square" lIns="0" tIns="0" rIns="0" bIns="0" rtlCol="0" anchor="ctr"/>
          <a:lstStyle/>
          <a:p>
            <a:pPr algn="ctr" indent="0" marL="0">
              <a:buNone/>
            </a:pPr>
            <a:r>
              <a:rPr lang="en-US" sz="950" dirty="0">
                <a:solidFill>
                  <a:srgbClr val="5C6E82"/>
                </a:solidFill>
                <a:latin typeface="Calibri" pitchFamily="34" charset="0"/>
                <a:ea typeface="Calibri" pitchFamily="34" charset="-122"/>
                <a:cs typeface="Calibri" pitchFamily="34" charset="-120"/>
              </a:rPr>
              <a:t>#0D2238</a:t>
            </a:r>
            <a:endParaRPr lang="en-US" sz="950" dirty="0"/>
          </a:p>
        </p:txBody>
      </p:sp>
      <p:sp>
        <p:nvSpPr>
          <p:cNvPr id="17" name="Shape 15"/>
          <p:cNvSpPr/>
          <p:nvPr/>
        </p:nvSpPr>
        <p:spPr>
          <a:xfrm>
            <a:off x="9592056" y="1572768"/>
            <a:ext cx="1600200" cy="1463040"/>
          </a:xfrm>
          <a:prstGeom prst="roundRect">
            <a:avLst>
              <a:gd name="adj" fmla="val 6250"/>
            </a:avLst>
          </a:prstGeom>
          <a:solidFill>
            <a:srgbClr val="F8FBFF"/>
          </a:solidFill>
          <a:ln w="12700">
            <a:solidFill>
              <a:srgbClr val="D6E4F5"/>
            </a:solidFill>
            <a:prstDash val="solid"/>
          </a:ln>
          <a:effectLst>
            <a:outerShdw sx="100000" sy="100000" kx="0" ky="0" algn="bl" rotWithShape="0" blurRad="114300" dist="38100" dir="5400000">
              <a:srgbClr val="0D2238">
                <a:alpha val="16000"/>
              </a:srgbClr>
            </a:outerShdw>
          </a:effectLst>
        </p:spPr>
      </p:sp>
      <p:sp>
        <p:nvSpPr>
          <p:cNvPr id="18" name="Text 16"/>
          <p:cNvSpPr txBox="1"/>
          <p:nvPr/>
        </p:nvSpPr>
        <p:spPr>
          <a:xfrm>
            <a:off x="9592056" y="3127248"/>
            <a:ext cx="1600200" cy="274320"/>
          </a:xfrm>
          <a:prstGeom prst="rect">
            <a:avLst/>
          </a:prstGeom>
          <a:noFill/>
          <a:ln/>
        </p:spPr>
        <p:txBody>
          <a:bodyPr wrap="square" lIns="0" tIns="0" rIns="0" bIns="0" rtlCol="0" anchor="ctr"/>
          <a:lstStyle/>
          <a:p>
            <a:pPr algn="ctr" indent="0" marL="0">
              <a:buNone/>
            </a:pPr>
            <a:r>
              <a:rPr lang="en-US" sz="1050" b="1" dirty="0">
                <a:solidFill>
                  <a:srgbClr val="0D2238"/>
                </a:solidFill>
                <a:latin typeface="Calibri" pitchFamily="34" charset="0"/>
                <a:ea typeface="Calibri" pitchFamily="34" charset="-122"/>
                <a:cs typeface="Calibri" pitchFamily="34" charset="-120"/>
              </a:rPr>
              <a:t>Background</a:t>
            </a:r>
            <a:endParaRPr lang="en-US" sz="1050" dirty="0"/>
          </a:p>
        </p:txBody>
      </p:sp>
      <p:sp>
        <p:nvSpPr>
          <p:cNvPr id="19" name="Text 17"/>
          <p:cNvSpPr txBox="1"/>
          <p:nvPr/>
        </p:nvSpPr>
        <p:spPr>
          <a:xfrm>
            <a:off x="9592056" y="3392424"/>
            <a:ext cx="1600200" cy="274320"/>
          </a:xfrm>
          <a:prstGeom prst="rect">
            <a:avLst/>
          </a:prstGeom>
          <a:noFill/>
          <a:ln/>
        </p:spPr>
        <p:txBody>
          <a:bodyPr wrap="square" lIns="0" tIns="0" rIns="0" bIns="0" rtlCol="0" anchor="ctr"/>
          <a:lstStyle/>
          <a:p>
            <a:pPr algn="ctr" indent="0" marL="0">
              <a:buNone/>
            </a:pPr>
            <a:r>
              <a:rPr lang="en-US" sz="950" dirty="0">
                <a:solidFill>
                  <a:srgbClr val="5C6E82"/>
                </a:solidFill>
                <a:latin typeface="Calibri" pitchFamily="34" charset="0"/>
                <a:ea typeface="Calibri" pitchFamily="34" charset="-122"/>
                <a:cs typeface="Calibri" pitchFamily="34" charset="-120"/>
              </a:rPr>
              <a:t>#F8FBFF</a:t>
            </a:r>
            <a:endParaRPr lang="en-US" sz="950" dirty="0"/>
          </a:p>
        </p:txBody>
      </p:sp>
      <p:sp>
        <p:nvSpPr>
          <p:cNvPr id="20" name="Shape 18"/>
          <p:cNvSpPr/>
          <p:nvPr/>
        </p:nvSpPr>
        <p:spPr>
          <a:xfrm>
            <a:off x="5989320" y="3794760"/>
            <a:ext cx="1600200" cy="1463040"/>
          </a:xfrm>
          <a:prstGeom prst="roundRect">
            <a:avLst>
              <a:gd name="adj" fmla="val 6250"/>
            </a:avLst>
          </a:prstGeom>
          <a:solidFill>
            <a:srgbClr val="059669"/>
          </a:solidFill>
          <a:ln w="12700">
            <a:solidFill>
              <a:srgbClr val="D6E4F5"/>
            </a:solidFill>
            <a:prstDash val="solid"/>
          </a:ln>
          <a:effectLst>
            <a:outerShdw sx="100000" sy="100000" kx="0" ky="0" algn="bl" rotWithShape="0" blurRad="114300" dist="38100" dir="5400000">
              <a:srgbClr val="0D2238">
                <a:alpha val="16000"/>
              </a:srgbClr>
            </a:outerShdw>
          </a:effectLst>
        </p:spPr>
      </p:sp>
      <p:sp>
        <p:nvSpPr>
          <p:cNvPr id="21" name="Text 19"/>
          <p:cNvSpPr txBox="1"/>
          <p:nvPr/>
        </p:nvSpPr>
        <p:spPr>
          <a:xfrm>
            <a:off x="5989320" y="5349240"/>
            <a:ext cx="1600200" cy="274320"/>
          </a:xfrm>
          <a:prstGeom prst="rect">
            <a:avLst/>
          </a:prstGeom>
          <a:noFill/>
          <a:ln/>
        </p:spPr>
        <p:txBody>
          <a:bodyPr wrap="square" lIns="0" tIns="0" rIns="0" bIns="0" rtlCol="0" anchor="ctr"/>
          <a:lstStyle/>
          <a:p>
            <a:pPr algn="ctr" indent="0" marL="0">
              <a:buNone/>
            </a:pPr>
            <a:r>
              <a:rPr lang="en-US" sz="1050" b="1" dirty="0">
                <a:solidFill>
                  <a:srgbClr val="0D2238"/>
                </a:solidFill>
                <a:latin typeface="Calibri" pitchFamily="34" charset="0"/>
                <a:ea typeface="Calibri" pitchFamily="34" charset="-122"/>
                <a:cs typeface="Calibri" pitchFamily="34" charset="-120"/>
              </a:rPr>
              <a:t>Success</a:t>
            </a:r>
            <a:endParaRPr lang="en-US" sz="1050" dirty="0"/>
          </a:p>
        </p:txBody>
      </p:sp>
      <p:sp>
        <p:nvSpPr>
          <p:cNvPr id="22" name="Text 20"/>
          <p:cNvSpPr txBox="1"/>
          <p:nvPr/>
        </p:nvSpPr>
        <p:spPr>
          <a:xfrm>
            <a:off x="5989320" y="5614416"/>
            <a:ext cx="1600200" cy="274320"/>
          </a:xfrm>
          <a:prstGeom prst="rect">
            <a:avLst/>
          </a:prstGeom>
          <a:noFill/>
          <a:ln/>
        </p:spPr>
        <p:txBody>
          <a:bodyPr wrap="square" lIns="0" tIns="0" rIns="0" bIns="0" rtlCol="0" anchor="ctr"/>
          <a:lstStyle/>
          <a:p>
            <a:pPr algn="ctr" indent="0" marL="0">
              <a:buNone/>
            </a:pPr>
            <a:r>
              <a:rPr lang="en-US" sz="950" dirty="0">
                <a:solidFill>
                  <a:srgbClr val="5C6E82"/>
                </a:solidFill>
                <a:latin typeface="Calibri" pitchFamily="34" charset="0"/>
                <a:ea typeface="Calibri" pitchFamily="34" charset="-122"/>
                <a:cs typeface="Calibri" pitchFamily="34" charset="-120"/>
              </a:rPr>
              <a:t>#059669</a:t>
            </a:r>
            <a:endParaRPr lang="en-US" sz="950" dirty="0"/>
          </a:p>
        </p:txBody>
      </p:sp>
      <p:sp>
        <p:nvSpPr>
          <p:cNvPr id="23" name="Shape 21"/>
          <p:cNvSpPr/>
          <p:nvPr/>
        </p:nvSpPr>
        <p:spPr>
          <a:xfrm>
            <a:off x="7790688" y="3794760"/>
            <a:ext cx="1600200" cy="1463040"/>
          </a:xfrm>
          <a:prstGeom prst="roundRect">
            <a:avLst>
              <a:gd name="adj" fmla="val 6250"/>
            </a:avLst>
          </a:prstGeom>
          <a:solidFill>
            <a:srgbClr val="9A3412"/>
          </a:solidFill>
          <a:ln w="12700">
            <a:solidFill>
              <a:srgbClr val="D6E4F5"/>
            </a:solidFill>
            <a:prstDash val="solid"/>
          </a:ln>
          <a:effectLst>
            <a:outerShdw sx="100000" sy="100000" kx="0" ky="0" algn="bl" rotWithShape="0" blurRad="114300" dist="38100" dir="5400000">
              <a:srgbClr val="0D2238">
                <a:alpha val="16000"/>
              </a:srgbClr>
            </a:outerShdw>
          </a:effectLst>
        </p:spPr>
      </p:sp>
      <p:sp>
        <p:nvSpPr>
          <p:cNvPr id="24" name="Text 22"/>
          <p:cNvSpPr txBox="1"/>
          <p:nvPr/>
        </p:nvSpPr>
        <p:spPr>
          <a:xfrm>
            <a:off x="7790688" y="5349240"/>
            <a:ext cx="1600200" cy="274320"/>
          </a:xfrm>
          <a:prstGeom prst="rect">
            <a:avLst/>
          </a:prstGeom>
          <a:noFill/>
          <a:ln/>
        </p:spPr>
        <p:txBody>
          <a:bodyPr wrap="square" lIns="0" tIns="0" rIns="0" bIns="0" rtlCol="0" anchor="ctr"/>
          <a:lstStyle/>
          <a:p>
            <a:pPr algn="ctr" indent="0" marL="0">
              <a:buNone/>
            </a:pPr>
            <a:r>
              <a:rPr lang="en-US" sz="1050" b="1" dirty="0">
                <a:solidFill>
                  <a:srgbClr val="0D2238"/>
                </a:solidFill>
                <a:latin typeface="Calibri" pitchFamily="34" charset="0"/>
                <a:ea typeface="Calibri" pitchFamily="34" charset="-122"/>
                <a:cs typeface="Calibri" pitchFamily="34" charset="-120"/>
              </a:rPr>
              <a:t>Warning</a:t>
            </a:r>
            <a:endParaRPr lang="en-US" sz="1050" dirty="0"/>
          </a:p>
        </p:txBody>
      </p:sp>
      <p:sp>
        <p:nvSpPr>
          <p:cNvPr id="25" name="Text 23"/>
          <p:cNvSpPr txBox="1"/>
          <p:nvPr/>
        </p:nvSpPr>
        <p:spPr>
          <a:xfrm>
            <a:off x="7790688" y="5614416"/>
            <a:ext cx="1600200" cy="274320"/>
          </a:xfrm>
          <a:prstGeom prst="rect">
            <a:avLst/>
          </a:prstGeom>
          <a:noFill/>
          <a:ln/>
        </p:spPr>
        <p:txBody>
          <a:bodyPr wrap="square" lIns="0" tIns="0" rIns="0" bIns="0" rtlCol="0" anchor="ctr"/>
          <a:lstStyle/>
          <a:p>
            <a:pPr algn="ctr" indent="0" marL="0">
              <a:buNone/>
            </a:pPr>
            <a:r>
              <a:rPr lang="en-US" sz="950" dirty="0">
                <a:solidFill>
                  <a:srgbClr val="5C6E82"/>
                </a:solidFill>
                <a:latin typeface="Calibri" pitchFamily="34" charset="0"/>
                <a:ea typeface="Calibri" pitchFamily="34" charset="-122"/>
                <a:cs typeface="Calibri" pitchFamily="34" charset="-120"/>
              </a:rPr>
              <a:t>#9A3412</a:t>
            </a:r>
            <a:endParaRPr lang="en-US" sz="950" dirty="0"/>
          </a:p>
        </p:txBody>
      </p:sp>
      <p:sp>
        <p:nvSpPr>
          <p:cNvPr id="26" name="Shape 24"/>
          <p:cNvSpPr/>
          <p:nvPr/>
        </p:nvSpPr>
        <p:spPr>
          <a:xfrm>
            <a:off x="9592056" y="3794760"/>
            <a:ext cx="1600200" cy="1463040"/>
          </a:xfrm>
          <a:prstGeom prst="roundRect">
            <a:avLst>
              <a:gd name="adj" fmla="val 6250"/>
            </a:avLst>
          </a:prstGeom>
          <a:solidFill>
            <a:srgbClr val="B91C1C"/>
          </a:solidFill>
          <a:ln w="12700">
            <a:solidFill>
              <a:srgbClr val="D6E4F5"/>
            </a:solidFill>
            <a:prstDash val="solid"/>
          </a:ln>
          <a:effectLst>
            <a:outerShdw sx="100000" sy="100000" kx="0" ky="0" algn="bl" rotWithShape="0" blurRad="114300" dist="38100" dir="5400000">
              <a:srgbClr val="0D2238">
                <a:alpha val="16000"/>
              </a:srgbClr>
            </a:outerShdw>
          </a:effectLst>
        </p:spPr>
      </p:sp>
      <p:sp>
        <p:nvSpPr>
          <p:cNvPr id="27" name="Text 25"/>
          <p:cNvSpPr txBox="1"/>
          <p:nvPr/>
        </p:nvSpPr>
        <p:spPr>
          <a:xfrm>
            <a:off x="9592056" y="5349240"/>
            <a:ext cx="1600200" cy="274320"/>
          </a:xfrm>
          <a:prstGeom prst="rect">
            <a:avLst/>
          </a:prstGeom>
          <a:noFill/>
          <a:ln/>
        </p:spPr>
        <p:txBody>
          <a:bodyPr wrap="square" lIns="0" tIns="0" rIns="0" bIns="0" rtlCol="0" anchor="ctr"/>
          <a:lstStyle/>
          <a:p>
            <a:pPr algn="ctr" indent="0" marL="0">
              <a:buNone/>
            </a:pPr>
            <a:r>
              <a:rPr lang="en-US" sz="1050" b="1" dirty="0">
                <a:solidFill>
                  <a:srgbClr val="0D2238"/>
                </a:solidFill>
                <a:latin typeface="Calibri" pitchFamily="34" charset="0"/>
                <a:ea typeface="Calibri" pitchFamily="34" charset="-122"/>
                <a:cs typeface="Calibri" pitchFamily="34" charset="-120"/>
              </a:rPr>
              <a:t>Critical</a:t>
            </a:r>
            <a:endParaRPr lang="en-US" sz="1050" dirty="0"/>
          </a:p>
        </p:txBody>
      </p:sp>
      <p:sp>
        <p:nvSpPr>
          <p:cNvPr id="28" name="Text 26"/>
          <p:cNvSpPr txBox="1"/>
          <p:nvPr/>
        </p:nvSpPr>
        <p:spPr>
          <a:xfrm>
            <a:off x="9592056" y="5614416"/>
            <a:ext cx="1600200" cy="274320"/>
          </a:xfrm>
          <a:prstGeom prst="rect">
            <a:avLst/>
          </a:prstGeom>
          <a:noFill/>
          <a:ln/>
        </p:spPr>
        <p:txBody>
          <a:bodyPr wrap="square" lIns="0" tIns="0" rIns="0" bIns="0" rtlCol="0" anchor="ctr"/>
          <a:lstStyle/>
          <a:p>
            <a:pPr algn="ctr" indent="0" marL="0">
              <a:buNone/>
            </a:pPr>
            <a:r>
              <a:rPr lang="en-US" sz="950" dirty="0">
                <a:solidFill>
                  <a:srgbClr val="5C6E82"/>
                </a:solidFill>
                <a:latin typeface="Calibri" pitchFamily="34" charset="0"/>
                <a:ea typeface="Calibri" pitchFamily="34" charset="-122"/>
                <a:cs typeface="Calibri" pitchFamily="34" charset="-120"/>
              </a:rPr>
              <a:t>#B91C1C</a:t>
            </a:r>
            <a:endParaRPr lang="en-US" sz="950" dirty="0"/>
          </a:p>
        </p:txBody>
      </p:sp>
      <p:sp>
        <p:nvSpPr>
          <p:cNvPr id="29" name="Text 27"/>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30" name="Text 28"/>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06 · UI/UX — PATTERNS</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Reusable Screen Patterns</a:t>
            </a:r>
            <a:endParaRPr lang="en-US" sz="3000" dirty="0"/>
          </a:p>
        </p:txBody>
      </p:sp>
      <p:sp>
        <p:nvSpPr>
          <p:cNvPr id="4" name="Shape 2"/>
          <p:cNvSpPr/>
          <p:nvPr/>
        </p:nvSpPr>
        <p:spPr>
          <a:xfrm>
            <a:off x="640080" y="1627632"/>
            <a:ext cx="3493008" cy="1691640"/>
          </a:xfrm>
          <a:prstGeom prst="roundRect">
            <a:avLst>
              <a:gd name="adj" fmla="val 5405"/>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5" name="Shape 3"/>
          <p:cNvSpPr/>
          <p:nvPr/>
        </p:nvSpPr>
        <p:spPr>
          <a:xfrm>
            <a:off x="859536" y="2176272"/>
            <a:ext cx="594360" cy="594360"/>
          </a:xfrm>
          <a:prstGeom prst="ellipse">
            <a:avLst/>
          </a:prstGeom>
          <a:solidFill>
            <a:srgbClr val="005BEA"/>
          </a:solidFill>
          <a:ln/>
        </p:spPr>
      </p:sp>
      <p:pic>
        <p:nvPicPr>
          <p:cNvPr id="6" name="Image 0" descr="/private/tmp/claude-501/-Users-ji1wxs-PraditaProjects-AC-Project/3c2d6cf5-1769-4cbb-8b1c-24143069dbcc/scratchpad/icons/FiGrid_FFFFFF_300.png">    </p:cNvPr>
          <p:cNvPicPr>
            <a:picLocks noChangeAspect="1"/>
          </p:cNvPicPr>
          <p:nvPr/>
        </p:nvPicPr>
        <p:blipFill>
          <a:blip r:embed="rId1"/>
          <a:stretch>
            <a:fillRect/>
          </a:stretch>
        </p:blipFill>
        <p:spPr>
          <a:xfrm>
            <a:off x="1002182" y="2318918"/>
            <a:ext cx="309067" cy="309067"/>
          </a:xfrm>
          <a:prstGeom prst="rect">
            <a:avLst/>
          </a:prstGeom>
        </p:spPr>
      </p:pic>
      <p:sp>
        <p:nvSpPr>
          <p:cNvPr id="7" name="Text 4"/>
          <p:cNvSpPr txBox="1"/>
          <p:nvPr/>
        </p:nvSpPr>
        <p:spPr>
          <a:xfrm>
            <a:off x="1600200" y="1883664"/>
            <a:ext cx="2395728" cy="347472"/>
          </a:xfrm>
          <a:prstGeom prst="rect">
            <a:avLst/>
          </a:prstGeom>
          <a:noFill/>
          <a:ln/>
        </p:spPr>
        <p:txBody>
          <a:bodyPr wrap="square" lIns="0" tIns="0" rIns="0" bIns="0" rtlCol="0" anchor="ctr"/>
          <a:lstStyle/>
          <a:p>
            <a:pPr indent="0" marL="0">
              <a:buNone/>
            </a:pPr>
            <a:r>
              <a:rPr lang="en-US" sz="1450" b="1" dirty="0">
                <a:solidFill>
                  <a:srgbClr val="0D2238"/>
                </a:solidFill>
                <a:latin typeface="Cambria" pitchFamily="34" charset="0"/>
                <a:ea typeface="Cambria" pitchFamily="34" charset="-122"/>
                <a:cs typeface="Cambria" pitchFamily="34" charset="-120"/>
              </a:rPr>
              <a:t>Overview</a:t>
            </a:r>
            <a:endParaRPr lang="en-US" sz="1450" dirty="0"/>
          </a:p>
        </p:txBody>
      </p:sp>
      <p:sp>
        <p:nvSpPr>
          <p:cNvPr id="8" name="Text 5"/>
          <p:cNvSpPr txBox="1"/>
          <p:nvPr/>
        </p:nvSpPr>
        <p:spPr>
          <a:xfrm>
            <a:off x="1600200" y="2249424"/>
            <a:ext cx="2395728" cy="914400"/>
          </a:xfrm>
          <a:prstGeom prst="rect">
            <a:avLst/>
          </a:prstGeom>
          <a:noFill/>
          <a:ln/>
        </p:spPr>
        <p:txBody>
          <a:bodyPr wrap="square" lIns="0" tIns="0" rIns="0" bIns="0" rtlCol="0" anchor="ctr"/>
          <a:lstStyle/>
          <a:p>
            <a:pPr indent="0" marL="0">
              <a:lnSpc>
                <a:spcPct val="115000"/>
              </a:lnSpc>
              <a:buNone/>
            </a:pPr>
            <a:r>
              <a:rPr lang="en-US" sz="1050" dirty="0">
                <a:solidFill>
                  <a:srgbClr val="5C6E82"/>
                </a:solidFill>
                <a:latin typeface="Calibri" pitchFamily="34" charset="0"/>
                <a:ea typeface="Calibri" pitchFamily="34" charset="-122"/>
                <a:cs typeface="Calibri" pitchFamily="34" charset="-120"/>
              </a:rPr>
              <a:t>Role dashboards with KPIs &amp; summaries</a:t>
            </a:r>
            <a:endParaRPr lang="en-US" sz="1050" dirty="0"/>
          </a:p>
        </p:txBody>
      </p:sp>
      <p:sp>
        <p:nvSpPr>
          <p:cNvPr id="9" name="Shape 6"/>
          <p:cNvSpPr/>
          <p:nvPr/>
        </p:nvSpPr>
        <p:spPr>
          <a:xfrm>
            <a:off x="4347972" y="1627632"/>
            <a:ext cx="3493008" cy="1691640"/>
          </a:xfrm>
          <a:prstGeom prst="roundRect">
            <a:avLst>
              <a:gd name="adj" fmla="val 5405"/>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0" name="Shape 7"/>
          <p:cNvSpPr/>
          <p:nvPr/>
        </p:nvSpPr>
        <p:spPr>
          <a:xfrm>
            <a:off x="4567428" y="2176272"/>
            <a:ext cx="594360" cy="594360"/>
          </a:xfrm>
          <a:prstGeom prst="ellipse">
            <a:avLst/>
          </a:prstGeom>
          <a:solidFill>
            <a:srgbClr val="005BEA"/>
          </a:solidFill>
          <a:ln/>
        </p:spPr>
      </p:sp>
      <p:pic>
        <p:nvPicPr>
          <p:cNvPr id="11" name="Image 1" descr="/private/tmp/claude-501/-Users-ji1wxs-PraditaProjects-AC-Project/3c2d6cf5-1769-4cbb-8b1c-24143069dbcc/scratchpad/icons/FiList_FFFFFF_300.png">    </p:cNvPr>
          <p:cNvPicPr>
            <a:picLocks noChangeAspect="1"/>
          </p:cNvPicPr>
          <p:nvPr/>
        </p:nvPicPr>
        <p:blipFill>
          <a:blip r:embed="rId2"/>
          <a:stretch>
            <a:fillRect/>
          </a:stretch>
        </p:blipFill>
        <p:spPr>
          <a:xfrm>
            <a:off x="4710074" y="2318918"/>
            <a:ext cx="309067" cy="309067"/>
          </a:xfrm>
          <a:prstGeom prst="rect">
            <a:avLst/>
          </a:prstGeom>
        </p:spPr>
      </p:pic>
      <p:sp>
        <p:nvSpPr>
          <p:cNvPr id="12" name="Text 8"/>
          <p:cNvSpPr txBox="1"/>
          <p:nvPr/>
        </p:nvSpPr>
        <p:spPr>
          <a:xfrm>
            <a:off x="5308092" y="1883664"/>
            <a:ext cx="2395728" cy="347472"/>
          </a:xfrm>
          <a:prstGeom prst="rect">
            <a:avLst/>
          </a:prstGeom>
          <a:noFill/>
          <a:ln/>
        </p:spPr>
        <p:txBody>
          <a:bodyPr wrap="square" lIns="0" tIns="0" rIns="0" bIns="0" rtlCol="0" anchor="ctr"/>
          <a:lstStyle/>
          <a:p>
            <a:pPr indent="0" marL="0">
              <a:buNone/>
            </a:pPr>
            <a:r>
              <a:rPr lang="en-US" sz="1450" b="1" dirty="0">
                <a:solidFill>
                  <a:srgbClr val="0D2238"/>
                </a:solidFill>
                <a:latin typeface="Cambria" pitchFamily="34" charset="0"/>
                <a:ea typeface="Cambria" pitchFamily="34" charset="-122"/>
                <a:cs typeface="Cambria" pitchFamily="34" charset="-120"/>
              </a:rPr>
              <a:t>List</a:t>
            </a:r>
            <a:endParaRPr lang="en-US" sz="1450" dirty="0"/>
          </a:p>
        </p:txBody>
      </p:sp>
      <p:sp>
        <p:nvSpPr>
          <p:cNvPr id="13" name="Text 9"/>
          <p:cNvSpPr txBox="1"/>
          <p:nvPr/>
        </p:nvSpPr>
        <p:spPr>
          <a:xfrm>
            <a:off x="5308092" y="2249424"/>
            <a:ext cx="2395728" cy="914400"/>
          </a:xfrm>
          <a:prstGeom prst="rect">
            <a:avLst/>
          </a:prstGeom>
          <a:noFill/>
          <a:ln/>
        </p:spPr>
        <p:txBody>
          <a:bodyPr wrap="square" lIns="0" tIns="0" rIns="0" bIns="0" rtlCol="0" anchor="ctr"/>
          <a:lstStyle/>
          <a:p>
            <a:pPr indent="0" marL="0">
              <a:lnSpc>
                <a:spcPct val="115000"/>
              </a:lnSpc>
              <a:buNone/>
            </a:pPr>
            <a:r>
              <a:rPr lang="en-US" sz="1050" dirty="0">
                <a:solidFill>
                  <a:srgbClr val="5C6E82"/>
                </a:solidFill>
                <a:latin typeface="Calibri" pitchFamily="34" charset="0"/>
                <a:ea typeface="Calibri" pitchFamily="34" charset="-122"/>
                <a:cs typeface="Calibri" pitchFamily="34" charset="-120"/>
              </a:rPr>
              <a:t>Units, jobs, invoices, devices</a:t>
            </a:r>
            <a:endParaRPr lang="en-US" sz="1050" dirty="0"/>
          </a:p>
        </p:txBody>
      </p:sp>
      <p:sp>
        <p:nvSpPr>
          <p:cNvPr id="14" name="Shape 10"/>
          <p:cNvSpPr/>
          <p:nvPr/>
        </p:nvSpPr>
        <p:spPr>
          <a:xfrm>
            <a:off x="8055864" y="1627632"/>
            <a:ext cx="3493008" cy="1691640"/>
          </a:xfrm>
          <a:prstGeom prst="roundRect">
            <a:avLst>
              <a:gd name="adj" fmla="val 5405"/>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5" name="Shape 11"/>
          <p:cNvSpPr/>
          <p:nvPr/>
        </p:nvSpPr>
        <p:spPr>
          <a:xfrm>
            <a:off x="8275320" y="2176272"/>
            <a:ext cx="594360" cy="594360"/>
          </a:xfrm>
          <a:prstGeom prst="ellipse">
            <a:avLst/>
          </a:prstGeom>
          <a:solidFill>
            <a:srgbClr val="005BEA"/>
          </a:solidFill>
          <a:ln/>
        </p:spPr>
      </p:sp>
      <p:pic>
        <p:nvPicPr>
          <p:cNvPr id="16" name="Image 2" descr="/private/tmp/claude-501/-Users-ji1wxs-PraditaProjects-AC-Project/3c2d6cf5-1769-4cbb-8b1c-24143069dbcc/scratchpad/icons/FiFileText_FFFFFF_300.png">    </p:cNvPr>
          <p:cNvPicPr>
            <a:picLocks noChangeAspect="1"/>
          </p:cNvPicPr>
          <p:nvPr/>
        </p:nvPicPr>
        <p:blipFill>
          <a:blip r:embed="rId3"/>
          <a:stretch>
            <a:fillRect/>
          </a:stretch>
        </p:blipFill>
        <p:spPr>
          <a:xfrm>
            <a:off x="8417966" y="2318918"/>
            <a:ext cx="309067" cy="309067"/>
          </a:xfrm>
          <a:prstGeom prst="rect">
            <a:avLst/>
          </a:prstGeom>
        </p:spPr>
      </p:pic>
      <p:sp>
        <p:nvSpPr>
          <p:cNvPr id="17" name="Text 12"/>
          <p:cNvSpPr txBox="1"/>
          <p:nvPr/>
        </p:nvSpPr>
        <p:spPr>
          <a:xfrm>
            <a:off x="9015984" y="1883664"/>
            <a:ext cx="2395728" cy="347472"/>
          </a:xfrm>
          <a:prstGeom prst="rect">
            <a:avLst/>
          </a:prstGeom>
          <a:noFill/>
          <a:ln/>
        </p:spPr>
        <p:txBody>
          <a:bodyPr wrap="square" lIns="0" tIns="0" rIns="0" bIns="0" rtlCol="0" anchor="ctr"/>
          <a:lstStyle/>
          <a:p>
            <a:pPr indent="0" marL="0">
              <a:buNone/>
            </a:pPr>
            <a:r>
              <a:rPr lang="en-US" sz="1450" b="1" dirty="0">
                <a:solidFill>
                  <a:srgbClr val="0D2238"/>
                </a:solidFill>
                <a:latin typeface="Cambria" pitchFamily="34" charset="0"/>
                <a:ea typeface="Cambria" pitchFamily="34" charset="-122"/>
                <a:cs typeface="Cambria" pitchFamily="34" charset="-120"/>
              </a:rPr>
              <a:t>Detail</a:t>
            </a:r>
            <a:endParaRPr lang="en-US" sz="1450" dirty="0"/>
          </a:p>
        </p:txBody>
      </p:sp>
      <p:sp>
        <p:nvSpPr>
          <p:cNvPr id="18" name="Text 13"/>
          <p:cNvSpPr txBox="1"/>
          <p:nvPr/>
        </p:nvSpPr>
        <p:spPr>
          <a:xfrm>
            <a:off x="9015984" y="2249424"/>
            <a:ext cx="2395728" cy="914400"/>
          </a:xfrm>
          <a:prstGeom prst="rect">
            <a:avLst/>
          </a:prstGeom>
          <a:noFill/>
          <a:ln/>
        </p:spPr>
        <p:txBody>
          <a:bodyPr wrap="square" lIns="0" tIns="0" rIns="0" bIns="0" rtlCol="0" anchor="ctr"/>
          <a:lstStyle/>
          <a:p>
            <a:pPr indent="0" marL="0">
              <a:lnSpc>
                <a:spcPct val="115000"/>
              </a:lnSpc>
              <a:buNone/>
            </a:pPr>
            <a:r>
              <a:rPr lang="en-US" sz="1050" dirty="0">
                <a:solidFill>
                  <a:srgbClr val="5C6E82"/>
                </a:solidFill>
                <a:latin typeface="Calibri" pitchFamily="34" charset="0"/>
                <a:ea typeface="Calibri" pitchFamily="34" charset="-122"/>
                <a:cs typeface="Calibri" pitchFamily="34" charset="-120"/>
              </a:rPr>
              <a:t>Unit, job &amp; invoice detail pages</a:t>
            </a:r>
            <a:endParaRPr lang="en-US" sz="1050" dirty="0"/>
          </a:p>
        </p:txBody>
      </p:sp>
      <p:sp>
        <p:nvSpPr>
          <p:cNvPr id="19" name="Shape 14"/>
          <p:cNvSpPr/>
          <p:nvPr/>
        </p:nvSpPr>
        <p:spPr>
          <a:xfrm>
            <a:off x="640080" y="3557016"/>
            <a:ext cx="3493008" cy="1691640"/>
          </a:xfrm>
          <a:prstGeom prst="roundRect">
            <a:avLst>
              <a:gd name="adj" fmla="val 5405"/>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0" name="Shape 15"/>
          <p:cNvSpPr/>
          <p:nvPr/>
        </p:nvSpPr>
        <p:spPr>
          <a:xfrm>
            <a:off x="859536" y="4105656"/>
            <a:ext cx="594360" cy="594360"/>
          </a:xfrm>
          <a:prstGeom prst="ellipse">
            <a:avLst/>
          </a:prstGeom>
          <a:solidFill>
            <a:srgbClr val="005BEA"/>
          </a:solidFill>
          <a:ln/>
        </p:spPr>
      </p:sp>
      <p:pic>
        <p:nvPicPr>
          <p:cNvPr id="21" name="Image 3" descr="/private/tmp/claude-501/-Users-ji1wxs-PraditaProjects-AC-Project/3c2d6cf5-1769-4cbb-8b1c-24143069dbcc/scratchpad/icons/FiEdit3_FFFFFF_300.png">    </p:cNvPr>
          <p:cNvPicPr>
            <a:picLocks noChangeAspect="1"/>
          </p:cNvPicPr>
          <p:nvPr/>
        </p:nvPicPr>
        <p:blipFill>
          <a:blip r:embed="rId4"/>
          <a:stretch>
            <a:fillRect/>
          </a:stretch>
        </p:blipFill>
        <p:spPr>
          <a:xfrm>
            <a:off x="1002182" y="4248302"/>
            <a:ext cx="309067" cy="309067"/>
          </a:xfrm>
          <a:prstGeom prst="rect">
            <a:avLst/>
          </a:prstGeom>
        </p:spPr>
      </p:pic>
      <p:sp>
        <p:nvSpPr>
          <p:cNvPr id="22" name="Text 16"/>
          <p:cNvSpPr txBox="1"/>
          <p:nvPr/>
        </p:nvSpPr>
        <p:spPr>
          <a:xfrm>
            <a:off x="1600200" y="3813048"/>
            <a:ext cx="2395728" cy="347472"/>
          </a:xfrm>
          <a:prstGeom prst="rect">
            <a:avLst/>
          </a:prstGeom>
          <a:noFill/>
          <a:ln/>
        </p:spPr>
        <p:txBody>
          <a:bodyPr wrap="square" lIns="0" tIns="0" rIns="0" bIns="0" rtlCol="0" anchor="ctr"/>
          <a:lstStyle/>
          <a:p>
            <a:pPr indent="0" marL="0">
              <a:buNone/>
            </a:pPr>
            <a:r>
              <a:rPr lang="en-US" sz="1450" b="1" dirty="0">
                <a:solidFill>
                  <a:srgbClr val="0D2238"/>
                </a:solidFill>
                <a:latin typeface="Cambria" pitchFamily="34" charset="0"/>
                <a:ea typeface="Cambria" pitchFamily="34" charset="-122"/>
                <a:cs typeface="Cambria" pitchFamily="34" charset="-120"/>
              </a:rPr>
              <a:t>Form</a:t>
            </a:r>
            <a:endParaRPr lang="en-US" sz="1450" dirty="0"/>
          </a:p>
        </p:txBody>
      </p:sp>
      <p:sp>
        <p:nvSpPr>
          <p:cNvPr id="23" name="Text 17"/>
          <p:cNvSpPr txBox="1"/>
          <p:nvPr/>
        </p:nvSpPr>
        <p:spPr>
          <a:xfrm>
            <a:off x="1600200" y="4178808"/>
            <a:ext cx="2395728" cy="914400"/>
          </a:xfrm>
          <a:prstGeom prst="rect">
            <a:avLst/>
          </a:prstGeom>
          <a:noFill/>
          <a:ln/>
        </p:spPr>
        <p:txBody>
          <a:bodyPr wrap="square" lIns="0" tIns="0" rIns="0" bIns="0" rtlCol="0" anchor="ctr"/>
          <a:lstStyle/>
          <a:p>
            <a:pPr indent="0" marL="0">
              <a:lnSpc>
                <a:spcPct val="115000"/>
              </a:lnSpc>
              <a:buNone/>
            </a:pPr>
            <a:r>
              <a:rPr lang="en-US" sz="1050" dirty="0">
                <a:solidFill>
                  <a:srgbClr val="5C6E82"/>
                </a:solidFill>
                <a:latin typeface="Calibri" pitchFamily="34" charset="0"/>
                <a:ea typeface="Calibri" pitchFamily="34" charset="-122"/>
                <a:cs typeface="Calibri" pitchFamily="34" charset="-120"/>
              </a:rPr>
              <a:t>Location, report, policy, contract forms</a:t>
            </a:r>
            <a:endParaRPr lang="en-US" sz="1050" dirty="0"/>
          </a:p>
        </p:txBody>
      </p:sp>
      <p:sp>
        <p:nvSpPr>
          <p:cNvPr id="24" name="Shape 18"/>
          <p:cNvSpPr/>
          <p:nvPr/>
        </p:nvSpPr>
        <p:spPr>
          <a:xfrm>
            <a:off x="4347972" y="3557016"/>
            <a:ext cx="3493008" cy="1691640"/>
          </a:xfrm>
          <a:prstGeom prst="roundRect">
            <a:avLst>
              <a:gd name="adj" fmla="val 5405"/>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5" name="Shape 19"/>
          <p:cNvSpPr/>
          <p:nvPr/>
        </p:nvSpPr>
        <p:spPr>
          <a:xfrm>
            <a:off x="4567428" y="4105656"/>
            <a:ext cx="594360" cy="594360"/>
          </a:xfrm>
          <a:prstGeom prst="ellipse">
            <a:avLst/>
          </a:prstGeom>
          <a:solidFill>
            <a:srgbClr val="005BEA"/>
          </a:solidFill>
          <a:ln/>
        </p:spPr>
      </p:sp>
      <p:pic>
        <p:nvPicPr>
          <p:cNvPr id="26" name="Image 4" descr="/private/tmp/claude-501/-Users-ji1wxs-PraditaProjects-AC-Project/3c2d6cf5-1769-4cbb-8b1c-24143069dbcc/scratchpad/icons/FiBarChart2_FFFFFF_300.png">    </p:cNvPr>
          <p:cNvPicPr>
            <a:picLocks noChangeAspect="1"/>
          </p:cNvPicPr>
          <p:nvPr/>
        </p:nvPicPr>
        <p:blipFill>
          <a:blip r:embed="rId5"/>
          <a:stretch>
            <a:fillRect/>
          </a:stretch>
        </p:blipFill>
        <p:spPr>
          <a:xfrm>
            <a:off x="4710074" y="4248302"/>
            <a:ext cx="309067" cy="309067"/>
          </a:xfrm>
          <a:prstGeom prst="rect">
            <a:avLst/>
          </a:prstGeom>
        </p:spPr>
      </p:pic>
      <p:sp>
        <p:nvSpPr>
          <p:cNvPr id="27" name="Text 20"/>
          <p:cNvSpPr txBox="1"/>
          <p:nvPr/>
        </p:nvSpPr>
        <p:spPr>
          <a:xfrm>
            <a:off x="5308092" y="3813048"/>
            <a:ext cx="2395728" cy="347472"/>
          </a:xfrm>
          <a:prstGeom prst="rect">
            <a:avLst/>
          </a:prstGeom>
          <a:noFill/>
          <a:ln/>
        </p:spPr>
        <p:txBody>
          <a:bodyPr wrap="square" lIns="0" tIns="0" rIns="0" bIns="0" rtlCol="0" anchor="ctr"/>
          <a:lstStyle/>
          <a:p>
            <a:pPr indent="0" marL="0">
              <a:buNone/>
            </a:pPr>
            <a:r>
              <a:rPr lang="en-US" sz="1450" b="1" dirty="0">
                <a:solidFill>
                  <a:srgbClr val="0D2238"/>
                </a:solidFill>
                <a:latin typeface="Cambria" pitchFamily="34" charset="0"/>
                <a:ea typeface="Cambria" pitchFamily="34" charset="-122"/>
                <a:cs typeface="Cambria" pitchFamily="34" charset="-120"/>
              </a:rPr>
              <a:t>Analysis</a:t>
            </a:r>
            <a:endParaRPr lang="en-US" sz="1450" dirty="0"/>
          </a:p>
        </p:txBody>
      </p:sp>
      <p:sp>
        <p:nvSpPr>
          <p:cNvPr id="28" name="Text 21"/>
          <p:cNvSpPr txBox="1"/>
          <p:nvPr/>
        </p:nvSpPr>
        <p:spPr>
          <a:xfrm>
            <a:off x="5308092" y="4178808"/>
            <a:ext cx="2395728" cy="914400"/>
          </a:xfrm>
          <a:prstGeom prst="rect">
            <a:avLst/>
          </a:prstGeom>
          <a:noFill/>
          <a:ln/>
        </p:spPr>
        <p:txBody>
          <a:bodyPr wrap="square" lIns="0" tIns="0" rIns="0" bIns="0" rtlCol="0" anchor="ctr"/>
          <a:lstStyle/>
          <a:p>
            <a:pPr indent="0" marL="0">
              <a:lnSpc>
                <a:spcPct val="115000"/>
              </a:lnSpc>
              <a:buNone/>
            </a:pPr>
            <a:r>
              <a:rPr lang="en-US" sz="1050" dirty="0">
                <a:solidFill>
                  <a:srgbClr val="5C6E82"/>
                </a:solidFill>
                <a:latin typeface="Calibri" pitchFamily="34" charset="0"/>
                <a:ea typeface="Calibri" pitchFamily="34" charset="-122"/>
                <a:cs typeface="Calibri" pitchFamily="34" charset="-120"/>
              </a:rPr>
              <a:t>Power, air quality &amp; MRV analysis</a:t>
            </a:r>
            <a:endParaRPr lang="en-US" sz="1050" dirty="0"/>
          </a:p>
        </p:txBody>
      </p:sp>
      <p:sp>
        <p:nvSpPr>
          <p:cNvPr id="29" name="Shape 22"/>
          <p:cNvSpPr/>
          <p:nvPr/>
        </p:nvSpPr>
        <p:spPr>
          <a:xfrm>
            <a:off x="8055864" y="3557016"/>
            <a:ext cx="3493008" cy="1691640"/>
          </a:xfrm>
          <a:prstGeom prst="roundRect">
            <a:avLst>
              <a:gd name="adj" fmla="val 5405"/>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30" name="Shape 23"/>
          <p:cNvSpPr/>
          <p:nvPr/>
        </p:nvSpPr>
        <p:spPr>
          <a:xfrm>
            <a:off x="8275320" y="4105656"/>
            <a:ext cx="594360" cy="594360"/>
          </a:xfrm>
          <a:prstGeom prst="ellipse">
            <a:avLst/>
          </a:prstGeom>
          <a:solidFill>
            <a:srgbClr val="005BEA"/>
          </a:solidFill>
          <a:ln/>
        </p:spPr>
      </p:sp>
      <p:pic>
        <p:nvPicPr>
          <p:cNvPr id="31" name="Image 5" descr="/private/tmp/claude-501/-Users-ji1wxs-PraditaProjects-AC-Project/3c2d6cf5-1769-4cbb-8b1c-24143069dbcc/scratchpad/icons/FiClock_FFFFFF_300.png">    </p:cNvPr>
          <p:cNvPicPr>
            <a:picLocks noChangeAspect="1"/>
          </p:cNvPicPr>
          <p:nvPr/>
        </p:nvPicPr>
        <p:blipFill>
          <a:blip r:embed="rId6"/>
          <a:stretch>
            <a:fillRect/>
          </a:stretch>
        </p:blipFill>
        <p:spPr>
          <a:xfrm>
            <a:off x="8417966" y="4248302"/>
            <a:ext cx="309067" cy="309067"/>
          </a:xfrm>
          <a:prstGeom prst="rect">
            <a:avLst/>
          </a:prstGeom>
        </p:spPr>
      </p:pic>
      <p:sp>
        <p:nvSpPr>
          <p:cNvPr id="32" name="Text 24"/>
          <p:cNvSpPr txBox="1"/>
          <p:nvPr/>
        </p:nvSpPr>
        <p:spPr>
          <a:xfrm>
            <a:off x="9015984" y="3813048"/>
            <a:ext cx="2395728" cy="347472"/>
          </a:xfrm>
          <a:prstGeom prst="rect">
            <a:avLst/>
          </a:prstGeom>
          <a:noFill/>
          <a:ln/>
        </p:spPr>
        <p:txBody>
          <a:bodyPr wrap="square" lIns="0" tIns="0" rIns="0" bIns="0" rtlCol="0" anchor="ctr"/>
          <a:lstStyle/>
          <a:p>
            <a:pPr indent="0" marL="0">
              <a:buNone/>
            </a:pPr>
            <a:r>
              <a:rPr lang="en-US" sz="1450" b="1" dirty="0">
                <a:solidFill>
                  <a:srgbClr val="0D2238"/>
                </a:solidFill>
                <a:latin typeface="Cambria" pitchFamily="34" charset="0"/>
                <a:ea typeface="Cambria" pitchFamily="34" charset="-122"/>
                <a:cs typeface="Cambria" pitchFamily="34" charset="-120"/>
              </a:rPr>
              <a:t>Timeline</a:t>
            </a:r>
            <a:endParaRPr lang="en-US" sz="1450" dirty="0"/>
          </a:p>
        </p:txBody>
      </p:sp>
      <p:sp>
        <p:nvSpPr>
          <p:cNvPr id="33" name="Text 25"/>
          <p:cNvSpPr txBox="1"/>
          <p:nvPr/>
        </p:nvSpPr>
        <p:spPr>
          <a:xfrm>
            <a:off x="9015984" y="4178808"/>
            <a:ext cx="2395728" cy="914400"/>
          </a:xfrm>
          <a:prstGeom prst="rect">
            <a:avLst/>
          </a:prstGeom>
          <a:noFill/>
          <a:ln/>
        </p:spPr>
        <p:txBody>
          <a:bodyPr wrap="square" lIns="0" tIns="0" rIns="0" bIns="0" rtlCol="0" anchor="ctr"/>
          <a:lstStyle/>
          <a:p>
            <a:pPr indent="0" marL="0">
              <a:lnSpc>
                <a:spcPct val="115000"/>
              </a:lnSpc>
              <a:buNone/>
            </a:pPr>
            <a:r>
              <a:rPr lang="en-US" sz="1050" dirty="0">
                <a:solidFill>
                  <a:srgbClr val="5C6E82"/>
                </a:solidFill>
                <a:latin typeface="Calibri" pitchFamily="34" charset="0"/>
                <a:ea typeface="Calibri" pitchFamily="34" charset="-122"/>
                <a:cs typeface="Calibri" pitchFamily="34" charset="-120"/>
              </a:rPr>
              <a:t>Audit logs &amp; job history</a:t>
            </a:r>
            <a:endParaRPr lang="en-US" sz="1050" dirty="0"/>
          </a:p>
        </p:txBody>
      </p:sp>
      <p:sp>
        <p:nvSpPr>
          <p:cNvPr id="34" name="Shape 26"/>
          <p:cNvSpPr/>
          <p:nvPr/>
        </p:nvSpPr>
        <p:spPr>
          <a:xfrm>
            <a:off x="640080" y="5715000"/>
            <a:ext cx="10908792" cy="502920"/>
          </a:xfrm>
          <a:prstGeom prst="roundRect">
            <a:avLst>
              <a:gd name="adj" fmla="val 18182"/>
            </a:avLst>
          </a:prstGeom>
          <a:solidFill>
            <a:srgbClr val="E6F0FF"/>
          </a:solidFill>
          <a:ln/>
          <a:effectLst>
            <a:outerShdw sx="100000" sy="100000" kx="0" ky="0" algn="bl" rotWithShape="0" blurRad="114300" dist="38100" dir="5400000">
              <a:srgbClr val="0D2238">
                <a:alpha val="16000"/>
              </a:srgbClr>
            </a:outerShdw>
          </a:effectLst>
        </p:spPr>
      </p:sp>
      <p:sp>
        <p:nvSpPr>
          <p:cNvPr id="35" name="Text 27"/>
          <p:cNvSpPr txBox="1"/>
          <p:nvPr/>
        </p:nvSpPr>
        <p:spPr>
          <a:xfrm>
            <a:off x="640080" y="5715000"/>
            <a:ext cx="10908792" cy="502920"/>
          </a:xfrm>
          <a:prstGeom prst="rect">
            <a:avLst/>
          </a:prstGeom>
          <a:noFill/>
          <a:ln/>
        </p:spPr>
        <p:txBody>
          <a:bodyPr wrap="square" lIns="0" tIns="0" rIns="0" bIns="0" rtlCol="0" anchor="ctr"/>
          <a:lstStyle/>
          <a:p>
            <a:pPr algn="ctr" indent="0" marL="0">
              <a:buNone/>
            </a:pPr>
            <a:r>
              <a:rPr lang="en-US" sz="1200" i="1" dirty="0">
                <a:solidFill>
                  <a:srgbClr val="0D2238"/>
                </a:solidFill>
                <a:latin typeface="Calibri" pitchFamily="34" charset="0"/>
                <a:ea typeface="Calibri" pitchFamily="34" charset="-122"/>
                <a:cs typeface="Calibri" pitchFamily="34" charset="-120"/>
              </a:rPr>
              <a:t>Shared component library:  shadcn/ui  ·  Lucide icons  ·  TanStack Query &amp; Table  ·  React Hook Form + Zod</a:t>
            </a:r>
            <a:endParaRPr lang="en-US" sz="1200" dirty="0"/>
          </a:p>
        </p:txBody>
      </p:sp>
      <p:sp>
        <p:nvSpPr>
          <p:cNvPr id="36" name="Text 28"/>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37" name="Text 29"/>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BFF"/>
        </a:solidFill>
      </p:bgPr>
    </p:bg>
    <p:spTree>
      <p:nvGrpSpPr>
        <p:cNvPr id="1" name=""/>
        <p:cNvGrpSpPr/>
        <p:nvPr/>
      </p:nvGrpSpPr>
      <p:grpSpPr>
        <a:xfrm>
          <a:off x="0" y="0"/>
          <a:ext cx="0" cy="0"/>
          <a:chOff x="0" y="0"/>
          <a:chExt cx="0" cy="0"/>
        </a:xfrm>
      </p:grpSpPr>
      <p:sp>
        <p:nvSpPr>
          <p:cNvPr id="2" name="Text 0"/>
          <p:cNvSpPr txBox="1"/>
          <p:nvPr/>
        </p:nvSpPr>
        <p:spPr>
          <a:xfrm>
            <a:off x="640080" y="457200"/>
            <a:ext cx="10908792" cy="274320"/>
          </a:xfrm>
          <a:prstGeom prst="rect">
            <a:avLst/>
          </a:prstGeom>
          <a:noFill/>
          <a:ln/>
        </p:spPr>
        <p:txBody>
          <a:bodyPr wrap="square" lIns="0" tIns="0" rIns="0" bIns="0" rtlCol="0" anchor="ctr"/>
          <a:lstStyle/>
          <a:p>
            <a:pPr indent="0" marL="0">
              <a:buNone/>
            </a:pPr>
            <a:r>
              <a:rPr lang="en-US" sz="1200" b="1" spc="200" kern="0" dirty="0">
                <a:solidFill>
                  <a:srgbClr val="005BEA"/>
                </a:solidFill>
                <a:latin typeface="Calibri" pitchFamily="34" charset="0"/>
                <a:ea typeface="Calibri" pitchFamily="34" charset="-122"/>
                <a:cs typeface="Calibri" pitchFamily="34" charset="-120"/>
              </a:rPr>
              <a:t>07 · AGENTIC SDLC</a:t>
            </a:r>
            <a:endParaRPr lang="en-US" sz="1200" dirty="0"/>
          </a:p>
        </p:txBody>
      </p:sp>
      <p:sp>
        <p:nvSpPr>
          <p:cNvPr id="3" name="Text 1"/>
          <p:cNvSpPr txBox="1"/>
          <p:nvPr/>
        </p:nvSpPr>
        <p:spPr>
          <a:xfrm>
            <a:off x="640080" y="731520"/>
            <a:ext cx="10908792" cy="685800"/>
          </a:xfrm>
          <a:prstGeom prst="rect">
            <a:avLst/>
          </a:prstGeom>
          <a:noFill/>
          <a:ln/>
        </p:spPr>
        <p:txBody>
          <a:bodyPr wrap="square" lIns="0" tIns="0" rIns="0" bIns="0" rtlCol="0" anchor="ctr"/>
          <a:lstStyle/>
          <a:p>
            <a:pPr indent="0" marL="0">
              <a:buNone/>
            </a:pPr>
            <a:r>
              <a:rPr lang="en-US" sz="3000" b="1" dirty="0">
                <a:solidFill>
                  <a:srgbClr val="0D2238"/>
                </a:solidFill>
                <a:latin typeface="Cambria" pitchFamily="34" charset="0"/>
                <a:ea typeface="Cambria" pitchFamily="34" charset="-122"/>
                <a:cs typeface="Cambria" pitchFamily="34" charset="-120"/>
              </a:rPr>
              <a:t>An Agentic SDLC Process</a:t>
            </a:r>
            <a:endParaRPr lang="en-US" sz="3000" dirty="0"/>
          </a:p>
        </p:txBody>
      </p:sp>
      <p:sp>
        <p:nvSpPr>
          <p:cNvPr id="4" name="Shape 2"/>
          <p:cNvSpPr/>
          <p:nvPr/>
        </p:nvSpPr>
        <p:spPr>
          <a:xfrm>
            <a:off x="640080" y="1554480"/>
            <a:ext cx="10908792" cy="777240"/>
          </a:xfrm>
          <a:prstGeom prst="roundRect">
            <a:avLst>
              <a:gd name="adj" fmla="val 11765"/>
            </a:avLst>
          </a:prstGeom>
          <a:solidFill>
            <a:srgbClr val="0D2238"/>
          </a:solidFill>
          <a:ln/>
          <a:effectLst>
            <a:outerShdw sx="100000" sy="100000" kx="0" ky="0" algn="bl" rotWithShape="0" blurRad="114300" dist="38100" dir="5400000">
              <a:srgbClr val="0D2238">
                <a:alpha val="16000"/>
              </a:srgbClr>
            </a:outerShdw>
          </a:effectLst>
        </p:spPr>
      </p:sp>
      <p:sp>
        <p:nvSpPr>
          <p:cNvPr id="5" name="Shape 3"/>
          <p:cNvSpPr/>
          <p:nvPr/>
        </p:nvSpPr>
        <p:spPr>
          <a:xfrm>
            <a:off x="841248" y="1691640"/>
            <a:ext cx="502920" cy="502920"/>
          </a:xfrm>
          <a:prstGeom prst="ellipse">
            <a:avLst/>
          </a:prstGeom>
          <a:solidFill>
            <a:srgbClr val="005BEA"/>
          </a:solidFill>
          <a:ln/>
        </p:spPr>
      </p:sp>
      <p:pic>
        <p:nvPicPr>
          <p:cNvPr id="6" name="Image 0" descr="/private/tmp/claude-501/-Users-ji1wxs-PraditaProjects-AC-Project/3c2d6cf5-1769-4cbb-8b1c-24143069dbcc/scratchpad/icons/FiCompass_FFFFFF_300.png">    </p:cNvPr>
          <p:cNvPicPr>
            <a:picLocks noChangeAspect="1"/>
          </p:cNvPicPr>
          <p:nvPr/>
        </p:nvPicPr>
        <p:blipFill>
          <a:blip r:embed="rId1"/>
          <a:stretch>
            <a:fillRect/>
          </a:stretch>
        </p:blipFill>
        <p:spPr>
          <a:xfrm>
            <a:off x="961949" y="1812341"/>
            <a:ext cx="261518" cy="261518"/>
          </a:xfrm>
          <a:prstGeom prst="rect">
            <a:avLst/>
          </a:prstGeom>
        </p:spPr>
      </p:pic>
      <p:sp>
        <p:nvSpPr>
          <p:cNvPr id="7" name="Text 4"/>
          <p:cNvSpPr txBox="1"/>
          <p:nvPr/>
        </p:nvSpPr>
        <p:spPr>
          <a:xfrm>
            <a:off x="1508760" y="1673352"/>
            <a:ext cx="237744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Orchestration</a:t>
            </a:r>
            <a:endParaRPr lang="en-US" sz="1400" dirty="0"/>
          </a:p>
        </p:txBody>
      </p:sp>
      <p:sp>
        <p:nvSpPr>
          <p:cNvPr id="8" name="Text 5"/>
          <p:cNvSpPr txBox="1"/>
          <p:nvPr/>
        </p:nvSpPr>
        <p:spPr>
          <a:xfrm>
            <a:off x="1508760" y="1956816"/>
            <a:ext cx="9811512" cy="274320"/>
          </a:xfrm>
          <a:prstGeom prst="rect">
            <a:avLst/>
          </a:prstGeom>
          <a:noFill/>
          <a:ln/>
        </p:spPr>
        <p:txBody>
          <a:bodyPr wrap="square" lIns="0" tIns="0" rIns="0" bIns="0" rtlCol="0" anchor="ctr"/>
          <a:lstStyle/>
          <a:p>
            <a:pPr indent="0" marL="0">
              <a:buNone/>
            </a:pPr>
            <a:r>
              <a:rPr lang="en-US" sz="1150" dirty="0">
                <a:solidFill>
                  <a:srgbClr val="AFC4DA"/>
                </a:solidFill>
                <a:latin typeface="Calibri" pitchFamily="34" charset="0"/>
                <a:ea typeface="Calibri" pitchFamily="34" charset="-122"/>
                <a:cs typeface="Calibri" pitchFamily="34" charset="-120"/>
              </a:rPr>
              <a:t>Plans, sequences &amp; tracks quality gates across every stage below</a:t>
            </a:r>
            <a:endParaRPr lang="en-US" sz="1150" dirty="0"/>
          </a:p>
        </p:txBody>
      </p:sp>
      <p:sp>
        <p:nvSpPr>
          <p:cNvPr id="9" name="Shape 6"/>
          <p:cNvSpPr/>
          <p:nvPr/>
        </p:nvSpPr>
        <p:spPr>
          <a:xfrm>
            <a:off x="640080" y="2606040"/>
            <a:ext cx="251460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0" name="Shape 7"/>
          <p:cNvSpPr/>
          <p:nvPr/>
        </p:nvSpPr>
        <p:spPr>
          <a:xfrm>
            <a:off x="1613916" y="2788920"/>
            <a:ext cx="566928" cy="566928"/>
          </a:xfrm>
          <a:prstGeom prst="ellipse">
            <a:avLst/>
          </a:prstGeom>
          <a:solidFill>
            <a:srgbClr val="005BEA"/>
          </a:solidFill>
          <a:ln/>
        </p:spPr>
      </p:sp>
      <p:pic>
        <p:nvPicPr>
          <p:cNvPr id="11" name="Image 1" descr="/private/tmp/claude-501/-Users-ji1wxs-PraditaProjects-AC-Project/3c2d6cf5-1769-4cbb-8b1c-24143069dbcc/scratchpad/icons/FiPenTool_FFFFFF_300.png">    </p:cNvPr>
          <p:cNvPicPr>
            <a:picLocks noChangeAspect="1"/>
          </p:cNvPicPr>
          <p:nvPr/>
        </p:nvPicPr>
        <p:blipFill>
          <a:blip r:embed="rId2"/>
          <a:stretch>
            <a:fillRect/>
          </a:stretch>
        </p:blipFill>
        <p:spPr>
          <a:xfrm>
            <a:off x="1749979" y="2924983"/>
            <a:ext cx="294803" cy="294803"/>
          </a:xfrm>
          <a:prstGeom prst="rect">
            <a:avLst/>
          </a:prstGeom>
        </p:spPr>
      </p:pic>
      <p:sp>
        <p:nvSpPr>
          <p:cNvPr id="12" name="Text 8"/>
          <p:cNvSpPr txBox="1"/>
          <p:nvPr/>
        </p:nvSpPr>
        <p:spPr>
          <a:xfrm>
            <a:off x="731520" y="3447288"/>
            <a:ext cx="2331720" cy="292608"/>
          </a:xfrm>
          <a:prstGeom prst="rect">
            <a:avLst/>
          </a:prstGeom>
          <a:noFill/>
          <a:ln/>
        </p:spPr>
        <p:txBody>
          <a:bodyPr wrap="square" lIns="0" tIns="0" rIns="0" bIns="0" rtlCol="0" anchor="ctr"/>
          <a:lstStyle/>
          <a:p>
            <a:pPr algn="ctr" indent="0" marL="0">
              <a:buNone/>
            </a:pPr>
            <a:r>
              <a:rPr lang="en-US" sz="1300" b="1" dirty="0">
                <a:solidFill>
                  <a:srgbClr val="0D2238"/>
                </a:solidFill>
                <a:latin typeface="Cambria" pitchFamily="34" charset="0"/>
                <a:ea typeface="Cambria" pitchFamily="34" charset="-122"/>
                <a:cs typeface="Cambria" pitchFamily="34" charset="-120"/>
              </a:rPr>
              <a:t>Design</a:t>
            </a:r>
            <a:endParaRPr lang="en-US" sz="1300" dirty="0"/>
          </a:p>
        </p:txBody>
      </p:sp>
      <p:sp>
        <p:nvSpPr>
          <p:cNvPr id="13" name="Text 9"/>
          <p:cNvSpPr txBox="1"/>
          <p:nvPr/>
        </p:nvSpPr>
        <p:spPr>
          <a:xfrm>
            <a:off x="777240" y="3721608"/>
            <a:ext cx="2240280" cy="274320"/>
          </a:xfrm>
          <a:prstGeom prst="rect">
            <a:avLst/>
          </a:prstGeom>
          <a:noFill/>
          <a:ln/>
        </p:spPr>
        <p:txBody>
          <a:bodyPr wrap="square" lIns="0" tIns="0" rIns="0" bIns="0" rtlCol="0" anchor="ctr"/>
          <a:lstStyle/>
          <a:p>
            <a:pPr algn="ctr" indent="0" marL="0">
              <a:lnSpc>
                <a:spcPct val="105000"/>
              </a:lnSpc>
              <a:buNone/>
            </a:pPr>
            <a:r>
              <a:rPr lang="en-US" sz="950" dirty="0">
                <a:solidFill>
                  <a:srgbClr val="5C6E82"/>
                </a:solidFill>
                <a:latin typeface="Calibri" pitchFamily="34" charset="0"/>
                <a:ea typeface="Calibri" pitchFamily="34" charset="-122"/>
                <a:cs typeface="Calibri" pitchFamily="34" charset="-120"/>
              </a:rPr>
              <a:t>Requirements, design &amp; UIUX consistency</a:t>
            </a:r>
            <a:endParaRPr lang="en-US" sz="950" dirty="0"/>
          </a:p>
        </p:txBody>
      </p:sp>
      <p:sp>
        <p:nvSpPr>
          <p:cNvPr id="14" name="Text 10"/>
          <p:cNvSpPr txBox="1"/>
          <p:nvPr/>
        </p:nvSpPr>
        <p:spPr>
          <a:xfrm>
            <a:off x="3172968" y="3131820"/>
            <a:ext cx="237744" cy="365760"/>
          </a:xfrm>
          <a:prstGeom prst="rect">
            <a:avLst/>
          </a:prstGeom>
          <a:noFill/>
          <a:ln/>
        </p:spPr>
        <p:txBody>
          <a:bodyPr wrap="square" lIns="0" tIns="0" rIns="0" bIns="0" rtlCol="0" anchor="ctr"/>
          <a:lstStyle/>
          <a:p>
            <a:pPr algn="ctr" indent="0" marL="0">
              <a:buNone/>
            </a:pPr>
            <a:r>
              <a:rPr lang="en-US" sz="1600" b="1" dirty="0">
                <a:solidFill>
                  <a:srgbClr val="9DB4CE"/>
                </a:solidFill>
                <a:latin typeface="Calibri" pitchFamily="34" charset="0"/>
                <a:ea typeface="Calibri" pitchFamily="34" charset="-122"/>
                <a:cs typeface="Calibri" pitchFamily="34" charset="-120"/>
              </a:rPr>
              <a:t>→</a:t>
            </a:r>
            <a:endParaRPr lang="en-US" sz="1600" dirty="0"/>
          </a:p>
        </p:txBody>
      </p:sp>
      <p:sp>
        <p:nvSpPr>
          <p:cNvPr id="15" name="Shape 11"/>
          <p:cNvSpPr/>
          <p:nvPr/>
        </p:nvSpPr>
        <p:spPr>
          <a:xfrm>
            <a:off x="3429000" y="2606040"/>
            <a:ext cx="251460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16" name="Shape 12"/>
          <p:cNvSpPr/>
          <p:nvPr/>
        </p:nvSpPr>
        <p:spPr>
          <a:xfrm>
            <a:off x="4402836" y="2788920"/>
            <a:ext cx="566928" cy="566928"/>
          </a:xfrm>
          <a:prstGeom prst="ellipse">
            <a:avLst/>
          </a:prstGeom>
          <a:solidFill>
            <a:srgbClr val="005BEA"/>
          </a:solidFill>
          <a:ln/>
        </p:spPr>
      </p:sp>
      <p:pic>
        <p:nvPicPr>
          <p:cNvPr id="17" name="Image 2" descr="/private/tmp/claude-501/-Users-ji1wxs-PraditaProjects-AC-Project/3c2d6cf5-1769-4cbb-8b1c-24143069dbcc/scratchpad/icons/FiCode_FFFFFF_300.png">    </p:cNvPr>
          <p:cNvPicPr>
            <a:picLocks noChangeAspect="1"/>
          </p:cNvPicPr>
          <p:nvPr/>
        </p:nvPicPr>
        <p:blipFill>
          <a:blip r:embed="rId3"/>
          <a:stretch>
            <a:fillRect/>
          </a:stretch>
        </p:blipFill>
        <p:spPr>
          <a:xfrm>
            <a:off x="4538899" y="2924983"/>
            <a:ext cx="294803" cy="294803"/>
          </a:xfrm>
          <a:prstGeom prst="rect">
            <a:avLst/>
          </a:prstGeom>
        </p:spPr>
      </p:pic>
      <p:sp>
        <p:nvSpPr>
          <p:cNvPr id="18" name="Text 13"/>
          <p:cNvSpPr txBox="1"/>
          <p:nvPr/>
        </p:nvSpPr>
        <p:spPr>
          <a:xfrm>
            <a:off x="3520440" y="3447288"/>
            <a:ext cx="2331720" cy="292608"/>
          </a:xfrm>
          <a:prstGeom prst="rect">
            <a:avLst/>
          </a:prstGeom>
          <a:noFill/>
          <a:ln/>
        </p:spPr>
        <p:txBody>
          <a:bodyPr wrap="square" lIns="0" tIns="0" rIns="0" bIns="0" rtlCol="0" anchor="ctr"/>
          <a:lstStyle/>
          <a:p>
            <a:pPr algn="ctr" indent="0" marL="0">
              <a:buNone/>
            </a:pPr>
            <a:r>
              <a:rPr lang="en-US" sz="1300" b="1" dirty="0">
                <a:solidFill>
                  <a:srgbClr val="0D2238"/>
                </a:solidFill>
                <a:latin typeface="Cambria" pitchFamily="34" charset="0"/>
                <a:ea typeface="Cambria" pitchFamily="34" charset="-122"/>
                <a:cs typeface="Cambria" pitchFamily="34" charset="-120"/>
              </a:rPr>
              <a:t>Implementation</a:t>
            </a:r>
            <a:endParaRPr lang="en-US" sz="1300" dirty="0"/>
          </a:p>
        </p:txBody>
      </p:sp>
      <p:sp>
        <p:nvSpPr>
          <p:cNvPr id="19" name="Text 14"/>
          <p:cNvSpPr txBox="1"/>
          <p:nvPr/>
        </p:nvSpPr>
        <p:spPr>
          <a:xfrm>
            <a:off x="3566160" y="3721608"/>
            <a:ext cx="2240280" cy="274320"/>
          </a:xfrm>
          <a:prstGeom prst="rect">
            <a:avLst/>
          </a:prstGeom>
          <a:noFill/>
          <a:ln/>
        </p:spPr>
        <p:txBody>
          <a:bodyPr wrap="square" lIns="0" tIns="0" rIns="0" bIns="0" rtlCol="0" anchor="ctr"/>
          <a:lstStyle/>
          <a:p>
            <a:pPr algn="ctr" indent="0" marL="0">
              <a:lnSpc>
                <a:spcPct val="105000"/>
              </a:lnSpc>
              <a:buNone/>
            </a:pPr>
            <a:r>
              <a:rPr lang="en-US" sz="950" dirty="0">
                <a:solidFill>
                  <a:srgbClr val="5C6E82"/>
                </a:solidFill>
                <a:latin typeface="Calibri" pitchFamily="34" charset="0"/>
                <a:ea typeface="Calibri" pitchFamily="34" charset="-122"/>
                <a:cs typeface="Calibri" pitchFamily="34" charset="-120"/>
              </a:rPr>
              <a:t>Builds the frontend from the design</a:t>
            </a:r>
            <a:endParaRPr lang="en-US" sz="950" dirty="0"/>
          </a:p>
        </p:txBody>
      </p:sp>
      <p:sp>
        <p:nvSpPr>
          <p:cNvPr id="20" name="Text 15"/>
          <p:cNvSpPr txBox="1"/>
          <p:nvPr/>
        </p:nvSpPr>
        <p:spPr>
          <a:xfrm>
            <a:off x="5961888" y="3131820"/>
            <a:ext cx="237744" cy="365760"/>
          </a:xfrm>
          <a:prstGeom prst="rect">
            <a:avLst/>
          </a:prstGeom>
          <a:noFill/>
          <a:ln/>
        </p:spPr>
        <p:txBody>
          <a:bodyPr wrap="square" lIns="0" tIns="0" rIns="0" bIns="0" rtlCol="0" anchor="ctr"/>
          <a:lstStyle/>
          <a:p>
            <a:pPr algn="ctr" indent="0" marL="0">
              <a:buNone/>
            </a:pPr>
            <a:r>
              <a:rPr lang="en-US" sz="1600" b="1" dirty="0">
                <a:solidFill>
                  <a:srgbClr val="9DB4CE"/>
                </a:solidFill>
                <a:latin typeface="Calibri" pitchFamily="34" charset="0"/>
                <a:ea typeface="Calibri" pitchFamily="34" charset="-122"/>
                <a:cs typeface="Calibri" pitchFamily="34" charset="-120"/>
              </a:rPr>
              <a:t>→</a:t>
            </a:r>
            <a:endParaRPr lang="en-US" sz="1600" dirty="0"/>
          </a:p>
        </p:txBody>
      </p:sp>
      <p:sp>
        <p:nvSpPr>
          <p:cNvPr id="21" name="Shape 16"/>
          <p:cNvSpPr/>
          <p:nvPr/>
        </p:nvSpPr>
        <p:spPr>
          <a:xfrm>
            <a:off x="6217920" y="2606040"/>
            <a:ext cx="251460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2" name="Shape 17"/>
          <p:cNvSpPr/>
          <p:nvPr/>
        </p:nvSpPr>
        <p:spPr>
          <a:xfrm>
            <a:off x="7191756" y="2788920"/>
            <a:ext cx="566928" cy="566928"/>
          </a:xfrm>
          <a:prstGeom prst="ellipse">
            <a:avLst/>
          </a:prstGeom>
          <a:solidFill>
            <a:srgbClr val="005BEA"/>
          </a:solidFill>
          <a:ln/>
        </p:spPr>
      </p:sp>
      <p:pic>
        <p:nvPicPr>
          <p:cNvPr id="23" name="Image 3" descr="/private/tmp/claude-501/-Users-ji1wxs-PraditaProjects-AC-Project/3c2d6cf5-1769-4cbb-8b1c-24143069dbcc/scratchpad/icons/FiCheckSquare_FFFFFF_300.png">    </p:cNvPr>
          <p:cNvPicPr>
            <a:picLocks noChangeAspect="1"/>
          </p:cNvPicPr>
          <p:nvPr/>
        </p:nvPicPr>
        <p:blipFill>
          <a:blip r:embed="rId4"/>
          <a:stretch>
            <a:fillRect/>
          </a:stretch>
        </p:blipFill>
        <p:spPr>
          <a:xfrm>
            <a:off x="7327819" y="2924983"/>
            <a:ext cx="294803" cy="294803"/>
          </a:xfrm>
          <a:prstGeom prst="rect">
            <a:avLst/>
          </a:prstGeom>
        </p:spPr>
      </p:pic>
      <p:sp>
        <p:nvSpPr>
          <p:cNvPr id="24" name="Text 18"/>
          <p:cNvSpPr txBox="1"/>
          <p:nvPr/>
        </p:nvSpPr>
        <p:spPr>
          <a:xfrm>
            <a:off x="6309360" y="3447288"/>
            <a:ext cx="2331720" cy="292608"/>
          </a:xfrm>
          <a:prstGeom prst="rect">
            <a:avLst/>
          </a:prstGeom>
          <a:noFill/>
          <a:ln/>
        </p:spPr>
        <p:txBody>
          <a:bodyPr wrap="square" lIns="0" tIns="0" rIns="0" bIns="0" rtlCol="0" anchor="ctr"/>
          <a:lstStyle/>
          <a:p>
            <a:pPr algn="ctr" indent="0" marL="0">
              <a:buNone/>
            </a:pPr>
            <a:r>
              <a:rPr lang="en-US" sz="1300" b="1" dirty="0">
                <a:solidFill>
                  <a:srgbClr val="0D2238"/>
                </a:solidFill>
                <a:latin typeface="Cambria" pitchFamily="34" charset="0"/>
                <a:ea typeface="Cambria" pitchFamily="34" charset="-122"/>
                <a:cs typeface="Cambria" pitchFamily="34" charset="-120"/>
              </a:rPr>
              <a:t>Test</a:t>
            </a:r>
            <a:endParaRPr lang="en-US" sz="1300" dirty="0"/>
          </a:p>
        </p:txBody>
      </p:sp>
      <p:sp>
        <p:nvSpPr>
          <p:cNvPr id="25" name="Text 19"/>
          <p:cNvSpPr txBox="1"/>
          <p:nvPr/>
        </p:nvSpPr>
        <p:spPr>
          <a:xfrm>
            <a:off x="6355080" y="3721608"/>
            <a:ext cx="2240280" cy="274320"/>
          </a:xfrm>
          <a:prstGeom prst="rect">
            <a:avLst/>
          </a:prstGeom>
          <a:noFill/>
          <a:ln/>
        </p:spPr>
        <p:txBody>
          <a:bodyPr wrap="square" lIns="0" tIns="0" rIns="0" bIns="0" rtlCol="0" anchor="ctr"/>
          <a:lstStyle/>
          <a:p>
            <a:pPr algn="ctr" indent="0" marL="0">
              <a:lnSpc>
                <a:spcPct val="105000"/>
              </a:lnSpc>
              <a:buNone/>
            </a:pPr>
            <a:r>
              <a:rPr lang="en-US" sz="950" dirty="0">
                <a:solidFill>
                  <a:srgbClr val="5C6E82"/>
                </a:solidFill>
                <a:latin typeface="Calibri" pitchFamily="34" charset="0"/>
                <a:ea typeface="Calibri" pitchFamily="34" charset="-122"/>
                <a:cs typeface="Calibri" pitchFamily="34" charset="-120"/>
              </a:rPr>
              <a:t>Verifies acceptance criteria &amp; scenarios</a:t>
            </a:r>
            <a:endParaRPr lang="en-US" sz="950" dirty="0"/>
          </a:p>
        </p:txBody>
      </p:sp>
      <p:sp>
        <p:nvSpPr>
          <p:cNvPr id="26" name="Text 20"/>
          <p:cNvSpPr txBox="1"/>
          <p:nvPr/>
        </p:nvSpPr>
        <p:spPr>
          <a:xfrm>
            <a:off x="8750808" y="3131820"/>
            <a:ext cx="237744" cy="365760"/>
          </a:xfrm>
          <a:prstGeom prst="rect">
            <a:avLst/>
          </a:prstGeom>
          <a:noFill/>
          <a:ln/>
        </p:spPr>
        <p:txBody>
          <a:bodyPr wrap="square" lIns="0" tIns="0" rIns="0" bIns="0" rtlCol="0" anchor="ctr"/>
          <a:lstStyle/>
          <a:p>
            <a:pPr algn="ctr" indent="0" marL="0">
              <a:buNone/>
            </a:pPr>
            <a:r>
              <a:rPr lang="en-US" sz="1600" b="1" dirty="0">
                <a:solidFill>
                  <a:srgbClr val="9DB4CE"/>
                </a:solidFill>
                <a:latin typeface="Calibri" pitchFamily="34" charset="0"/>
                <a:ea typeface="Calibri" pitchFamily="34" charset="-122"/>
                <a:cs typeface="Calibri" pitchFamily="34" charset="-120"/>
              </a:rPr>
              <a:t>→</a:t>
            </a:r>
            <a:endParaRPr lang="en-US" sz="1600" dirty="0"/>
          </a:p>
        </p:txBody>
      </p:sp>
      <p:sp>
        <p:nvSpPr>
          <p:cNvPr id="27" name="Shape 21"/>
          <p:cNvSpPr/>
          <p:nvPr/>
        </p:nvSpPr>
        <p:spPr>
          <a:xfrm>
            <a:off x="9006840" y="2606040"/>
            <a:ext cx="2514600" cy="1417320"/>
          </a:xfrm>
          <a:prstGeom prst="roundRect">
            <a:avLst>
              <a:gd name="adj" fmla="val 6452"/>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28" name="Shape 22"/>
          <p:cNvSpPr/>
          <p:nvPr/>
        </p:nvSpPr>
        <p:spPr>
          <a:xfrm>
            <a:off x="9980676" y="2788920"/>
            <a:ext cx="566928" cy="566928"/>
          </a:xfrm>
          <a:prstGeom prst="ellipse">
            <a:avLst/>
          </a:prstGeom>
          <a:solidFill>
            <a:srgbClr val="005BEA"/>
          </a:solidFill>
          <a:ln/>
        </p:spPr>
      </p:sp>
      <p:pic>
        <p:nvPicPr>
          <p:cNvPr id="29" name="Image 4" descr="/private/tmp/claude-501/-Users-ji1wxs-PraditaProjects-AC-Project/3c2d6cf5-1769-4cbb-8b1c-24143069dbcc/scratchpad/icons/FiSearch_FFFFFF_300.png">    </p:cNvPr>
          <p:cNvPicPr>
            <a:picLocks noChangeAspect="1"/>
          </p:cNvPicPr>
          <p:nvPr/>
        </p:nvPicPr>
        <p:blipFill>
          <a:blip r:embed="rId5"/>
          <a:stretch>
            <a:fillRect/>
          </a:stretch>
        </p:blipFill>
        <p:spPr>
          <a:xfrm>
            <a:off x="10116739" y="2924983"/>
            <a:ext cx="294803" cy="294803"/>
          </a:xfrm>
          <a:prstGeom prst="rect">
            <a:avLst/>
          </a:prstGeom>
        </p:spPr>
      </p:pic>
      <p:sp>
        <p:nvSpPr>
          <p:cNvPr id="30" name="Text 23"/>
          <p:cNvSpPr txBox="1"/>
          <p:nvPr/>
        </p:nvSpPr>
        <p:spPr>
          <a:xfrm>
            <a:off x="9098280" y="3447288"/>
            <a:ext cx="2331720" cy="292608"/>
          </a:xfrm>
          <a:prstGeom prst="rect">
            <a:avLst/>
          </a:prstGeom>
          <a:noFill/>
          <a:ln/>
        </p:spPr>
        <p:txBody>
          <a:bodyPr wrap="square" lIns="0" tIns="0" rIns="0" bIns="0" rtlCol="0" anchor="ctr"/>
          <a:lstStyle/>
          <a:p>
            <a:pPr algn="ctr" indent="0" marL="0">
              <a:buNone/>
            </a:pPr>
            <a:r>
              <a:rPr lang="en-US" sz="1300" b="1" dirty="0">
                <a:solidFill>
                  <a:srgbClr val="0D2238"/>
                </a:solidFill>
                <a:latin typeface="Cambria" pitchFamily="34" charset="0"/>
                <a:ea typeface="Cambria" pitchFamily="34" charset="-122"/>
                <a:cs typeface="Cambria" pitchFamily="34" charset="-120"/>
              </a:rPr>
              <a:t>Review</a:t>
            </a:r>
            <a:endParaRPr lang="en-US" sz="1300" dirty="0"/>
          </a:p>
        </p:txBody>
      </p:sp>
      <p:sp>
        <p:nvSpPr>
          <p:cNvPr id="31" name="Text 24"/>
          <p:cNvSpPr txBox="1"/>
          <p:nvPr/>
        </p:nvSpPr>
        <p:spPr>
          <a:xfrm>
            <a:off x="9144000" y="3721608"/>
            <a:ext cx="2240280" cy="274320"/>
          </a:xfrm>
          <a:prstGeom prst="rect">
            <a:avLst/>
          </a:prstGeom>
          <a:noFill/>
          <a:ln/>
        </p:spPr>
        <p:txBody>
          <a:bodyPr wrap="square" lIns="0" tIns="0" rIns="0" bIns="0" rtlCol="0" anchor="ctr"/>
          <a:lstStyle/>
          <a:p>
            <a:pPr algn="ctr" indent="0" marL="0">
              <a:lnSpc>
                <a:spcPct val="105000"/>
              </a:lnSpc>
              <a:buNone/>
            </a:pPr>
            <a:r>
              <a:rPr lang="en-US" sz="950" dirty="0">
                <a:solidFill>
                  <a:srgbClr val="5C6E82"/>
                </a:solidFill>
                <a:latin typeface="Calibri" pitchFamily="34" charset="0"/>
                <a:ea typeface="Calibri" pitchFamily="34" charset="-122"/>
                <a:cs typeface="Calibri" pitchFamily="34" charset="-120"/>
              </a:rPr>
              <a:t>Independently assesses evidence</a:t>
            </a:r>
            <a:endParaRPr lang="en-US" sz="950" dirty="0"/>
          </a:p>
        </p:txBody>
      </p:sp>
      <p:sp>
        <p:nvSpPr>
          <p:cNvPr id="32" name="Shape 25"/>
          <p:cNvSpPr/>
          <p:nvPr/>
        </p:nvSpPr>
        <p:spPr>
          <a:xfrm>
            <a:off x="640080" y="4434840"/>
            <a:ext cx="1680972" cy="868680"/>
          </a:xfrm>
          <a:prstGeom prst="roundRect">
            <a:avLst>
              <a:gd name="adj" fmla="val 10526"/>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33" name="Text 26"/>
          <p:cNvSpPr txBox="1"/>
          <p:nvPr/>
        </p:nvSpPr>
        <p:spPr>
          <a:xfrm>
            <a:off x="640080" y="4434840"/>
            <a:ext cx="1680972" cy="868680"/>
          </a:xfrm>
          <a:prstGeom prst="rect">
            <a:avLst/>
          </a:prstGeom>
          <a:noFill/>
          <a:ln/>
        </p:spPr>
        <p:txBody>
          <a:bodyPr wrap="square" lIns="0" tIns="0" rIns="0" bIns="0" rtlCol="0" anchor="ctr"/>
          <a:lstStyle/>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G0</a:t>
            </a:r>
            <a:endParaRPr lang="en-US" sz="1200" dirty="0"/>
          </a:p>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Analysis</a:t>
            </a:r>
            <a:endParaRPr lang="en-US" sz="1200" dirty="0"/>
          </a:p>
        </p:txBody>
      </p:sp>
      <p:sp>
        <p:nvSpPr>
          <p:cNvPr id="34" name="Text 27"/>
          <p:cNvSpPr txBox="1"/>
          <p:nvPr/>
        </p:nvSpPr>
        <p:spPr>
          <a:xfrm>
            <a:off x="2302764" y="4704588"/>
            <a:ext cx="201168" cy="365760"/>
          </a:xfrm>
          <a:prstGeom prst="rect">
            <a:avLst/>
          </a:prstGeom>
          <a:noFill/>
          <a:ln/>
        </p:spPr>
        <p:txBody>
          <a:bodyPr wrap="square" lIns="0" tIns="0" rIns="0" bIns="0" rtlCol="0" anchor="ctr"/>
          <a:lstStyle/>
          <a:p>
            <a:pPr algn="ctr" indent="0" marL="0">
              <a:buNone/>
            </a:pPr>
            <a:r>
              <a:rPr lang="en-US" sz="1300" b="1" dirty="0">
                <a:solidFill>
                  <a:srgbClr val="9DB4CE"/>
                </a:solidFill>
                <a:latin typeface="Calibri" pitchFamily="34" charset="0"/>
                <a:ea typeface="Calibri" pitchFamily="34" charset="-122"/>
                <a:cs typeface="Calibri" pitchFamily="34" charset="-120"/>
              </a:rPr>
              <a:t>→</a:t>
            </a:r>
            <a:endParaRPr lang="en-US" sz="1300" dirty="0"/>
          </a:p>
        </p:txBody>
      </p:sp>
      <p:sp>
        <p:nvSpPr>
          <p:cNvPr id="35" name="Shape 28"/>
          <p:cNvSpPr/>
          <p:nvPr/>
        </p:nvSpPr>
        <p:spPr>
          <a:xfrm>
            <a:off x="2485644" y="4434840"/>
            <a:ext cx="1680972" cy="868680"/>
          </a:xfrm>
          <a:prstGeom prst="roundRect">
            <a:avLst>
              <a:gd name="adj" fmla="val 10526"/>
            </a:avLst>
          </a:prstGeom>
          <a:solidFill>
            <a:srgbClr val="005BEA"/>
          </a:solidFill>
          <a:ln/>
          <a:effectLst>
            <a:outerShdw sx="100000" sy="100000" kx="0" ky="0" algn="bl" rotWithShape="0" blurRad="114300" dist="38100" dir="5400000">
              <a:srgbClr val="0D2238">
                <a:alpha val="16000"/>
              </a:srgbClr>
            </a:outerShdw>
          </a:effectLst>
        </p:spPr>
      </p:sp>
      <p:sp>
        <p:nvSpPr>
          <p:cNvPr id="36" name="Text 29"/>
          <p:cNvSpPr txBox="1"/>
          <p:nvPr/>
        </p:nvSpPr>
        <p:spPr>
          <a:xfrm>
            <a:off x="2485644" y="4434840"/>
            <a:ext cx="1680972" cy="868680"/>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G1</a:t>
            </a:r>
            <a:endParaRPr lang="en-US" sz="1200" dirty="0"/>
          </a:p>
          <a:p>
            <a:pPr algn="ctr" indent="0" marL="0">
              <a:lnSpc>
                <a:spcPct val="115000"/>
              </a:lnSpc>
              <a:buNone/>
            </a:pPr>
            <a:r>
              <a:rPr lang="en-US" sz="1200" b="1" dirty="0">
                <a:solidFill>
                  <a:srgbClr val="FFFFFF"/>
                </a:solidFill>
                <a:latin typeface="Calibri" pitchFamily="34" charset="0"/>
                <a:ea typeface="Calibri" pitchFamily="34" charset="-122"/>
                <a:cs typeface="Calibri" pitchFamily="34" charset="-120"/>
              </a:rPr>
              <a:t>Design</a:t>
            </a:r>
            <a:endParaRPr lang="en-US" sz="1200" dirty="0"/>
          </a:p>
        </p:txBody>
      </p:sp>
      <p:sp>
        <p:nvSpPr>
          <p:cNvPr id="37" name="Text 30"/>
          <p:cNvSpPr txBox="1"/>
          <p:nvPr/>
        </p:nvSpPr>
        <p:spPr>
          <a:xfrm>
            <a:off x="4148328" y="4704588"/>
            <a:ext cx="201168" cy="365760"/>
          </a:xfrm>
          <a:prstGeom prst="rect">
            <a:avLst/>
          </a:prstGeom>
          <a:noFill/>
          <a:ln/>
        </p:spPr>
        <p:txBody>
          <a:bodyPr wrap="square" lIns="0" tIns="0" rIns="0" bIns="0" rtlCol="0" anchor="ctr"/>
          <a:lstStyle/>
          <a:p>
            <a:pPr algn="ctr" indent="0" marL="0">
              <a:buNone/>
            </a:pPr>
            <a:r>
              <a:rPr lang="en-US" sz="1300" b="1" dirty="0">
                <a:solidFill>
                  <a:srgbClr val="9DB4CE"/>
                </a:solidFill>
                <a:latin typeface="Calibri" pitchFamily="34" charset="0"/>
                <a:ea typeface="Calibri" pitchFamily="34" charset="-122"/>
                <a:cs typeface="Calibri" pitchFamily="34" charset="-120"/>
              </a:rPr>
              <a:t>→</a:t>
            </a:r>
            <a:endParaRPr lang="en-US" sz="1300" dirty="0"/>
          </a:p>
        </p:txBody>
      </p:sp>
      <p:sp>
        <p:nvSpPr>
          <p:cNvPr id="38" name="Shape 31"/>
          <p:cNvSpPr/>
          <p:nvPr/>
        </p:nvSpPr>
        <p:spPr>
          <a:xfrm>
            <a:off x="4331208" y="4434840"/>
            <a:ext cx="1680972" cy="868680"/>
          </a:xfrm>
          <a:prstGeom prst="roundRect">
            <a:avLst>
              <a:gd name="adj" fmla="val 10526"/>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39" name="Text 32"/>
          <p:cNvSpPr txBox="1"/>
          <p:nvPr/>
        </p:nvSpPr>
        <p:spPr>
          <a:xfrm>
            <a:off x="4331208" y="4434840"/>
            <a:ext cx="1680972" cy="868680"/>
          </a:xfrm>
          <a:prstGeom prst="rect">
            <a:avLst/>
          </a:prstGeom>
          <a:noFill/>
          <a:ln/>
        </p:spPr>
        <p:txBody>
          <a:bodyPr wrap="square" lIns="0" tIns="0" rIns="0" bIns="0" rtlCol="0" anchor="ctr"/>
          <a:lstStyle/>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G2</a:t>
            </a:r>
            <a:endParaRPr lang="en-US" sz="1200" dirty="0"/>
          </a:p>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Build</a:t>
            </a:r>
            <a:endParaRPr lang="en-US" sz="1200" dirty="0"/>
          </a:p>
        </p:txBody>
      </p:sp>
      <p:sp>
        <p:nvSpPr>
          <p:cNvPr id="40" name="Text 33"/>
          <p:cNvSpPr txBox="1"/>
          <p:nvPr/>
        </p:nvSpPr>
        <p:spPr>
          <a:xfrm>
            <a:off x="5993892" y="4704588"/>
            <a:ext cx="201168" cy="365760"/>
          </a:xfrm>
          <a:prstGeom prst="rect">
            <a:avLst/>
          </a:prstGeom>
          <a:noFill/>
          <a:ln/>
        </p:spPr>
        <p:txBody>
          <a:bodyPr wrap="square" lIns="0" tIns="0" rIns="0" bIns="0" rtlCol="0" anchor="ctr"/>
          <a:lstStyle/>
          <a:p>
            <a:pPr algn="ctr" indent="0" marL="0">
              <a:buNone/>
            </a:pPr>
            <a:r>
              <a:rPr lang="en-US" sz="1300" b="1" dirty="0">
                <a:solidFill>
                  <a:srgbClr val="9DB4CE"/>
                </a:solidFill>
                <a:latin typeface="Calibri" pitchFamily="34" charset="0"/>
                <a:ea typeface="Calibri" pitchFamily="34" charset="-122"/>
                <a:cs typeface="Calibri" pitchFamily="34" charset="-120"/>
              </a:rPr>
              <a:t>→</a:t>
            </a:r>
            <a:endParaRPr lang="en-US" sz="1300" dirty="0"/>
          </a:p>
        </p:txBody>
      </p:sp>
      <p:sp>
        <p:nvSpPr>
          <p:cNvPr id="41" name="Shape 34"/>
          <p:cNvSpPr/>
          <p:nvPr/>
        </p:nvSpPr>
        <p:spPr>
          <a:xfrm>
            <a:off x="6176772" y="4434840"/>
            <a:ext cx="1680972" cy="868680"/>
          </a:xfrm>
          <a:prstGeom prst="roundRect">
            <a:avLst>
              <a:gd name="adj" fmla="val 10526"/>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42" name="Text 35"/>
          <p:cNvSpPr txBox="1"/>
          <p:nvPr/>
        </p:nvSpPr>
        <p:spPr>
          <a:xfrm>
            <a:off x="6176772" y="4434840"/>
            <a:ext cx="1680972" cy="868680"/>
          </a:xfrm>
          <a:prstGeom prst="rect">
            <a:avLst/>
          </a:prstGeom>
          <a:noFill/>
          <a:ln/>
        </p:spPr>
        <p:txBody>
          <a:bodyPr wrap="square" lIns="0" tIns="0" rIns="0" bIns="0" rtlCol="0" anchor="ctr"/>
          <a:lstStyle/>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G3</a:t>
            </a:r>
            <a:endParaRPr lang="en-US" sz="1200" dirty="0"/>
          </a:p>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Verify</a:t>
            </a:r>
            <a:endParaRPr lang="en-US" sz="1200" dirty="0"/>
          </a:p>
        </p:txBody>
      </p:sp>
      <p:sp>
        <p:nvSpPr>
          <p:cNvPr id="43" name="Text 36"/>
          <p:cNvSpPr txBox="1"/>
          <p:nvPr/>
        </p:nvSpPr>
        <p:spPr>
          <a:xfrm>
            <a:off x="7839456" y="4704588"/>
            <a:ext cx="201168" cy="365760"/>
          </a:xfrm>
          <a:prstGeom prst="rect">
            <a:avLst/>
          </a:prstGeom>
          <a:noFill/>
          <a:ln/>
        </p:spPr>
        <p:txBody>
          <a:bodyPr wrap="square" lIns="0" tIns="0" rIns="0" bIns="0" rtlCol="0" anchor="ctr"/>
          <a:lstStyle/>
          <a:p>
            <a:pPr algn="ctr" indent="0" marL="0">
              <a:buNone/>
            </a:pPr>
            <a:r>
              <a:rPr lang="en-US" sz="1300" b="1" dirty="0">
                <a:solidFill>
                  <a:srgbClr val="9DB4CE"/>
                </a:solidFill>
                <a:latin typeface="Calibri" pitchFamily="34" charset="0"/>
                <a:ea typeface="Calibri" pitchFamily="34" charset="-122"/>
                <a:cs typeface="Calibri" pitchFamily="34" charset="-120"/>
              </a:rPr>
              <a:t>→</a:t>
            </a:r>
            <a:endParaRPr lang="en-US" sz="1300" dirty="0"/>
          </a:p>
        </p:txBody>
      </p:sp>
      <p:sp>
        <p:nvSpPr>
          <p:cNvPr id="44" name="Shape 37"/>
          <p:cNvSpPr/>
          <p:nvPr/>
        </p:nvSpPr>
        <p:spPr>
          <a:xfrm>
            <a:off x="8022336" y="4434840"/>
            <a:ext cx="1680972" cy="868680"/>
          </a:xfrm>
          <a:prstGeom prst="roundRect">
            <a:avLst>
              <a:gd name="adj" fmla="val 10526"/>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45" name="Text 38"/>
          <p:cNvSpPr txBox="1"/>
          <p:nvPr/>
        </p:nvSpPr>
        <p:spPr>
          <a:xfrm>
            <a:off x="8022336" y="4434840"/>
            <a:ext cx="1680972" cy="868680"/>
          </a:xfrm>
          <a:prstGeom prst="rect">
            <a:avLst/>
          </a:prstGeom>
          <a:noFill/>
          <a:ln/>
        </p:spPr>
        <p:txBody>
          <a:bodyPr wrap="square" lIns="0" tIns="0" rIns="0" bIns="0" rtlCol="0" anchor="ctr"/>
          <a:lstStyle/>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G4</a:t>
            </a:r>
            <a:endParaRPr lang="en-US" sz="1200" dirty="0"/>
          </a:p>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Review</a:t>
            </a:r>
            <a:endParaRPr lang="en-US" sz="1200" dirty="0"/>
          </a:p>
        </p:txBody>
      </p:sp>
      <p:sp>
        <p:nvSpPr>
          <p:cNvPr id="46" name="Text 39"/>
          <p:cNvSpPr txBox="1"/>
          <p:nvPr/>
        </p:nvSpPr>
        <p:spPr>
          <a:xfrm>
            <a:off x="9685020" y="4704588"/>
            <a:ext cx="201168" cy="365760"/>
          </a:xfrm>
          <a:prstGeom prst="rect">
            <a:avLst/>
          </a:prstGeom>
          <a:noFill/>
          <a:ln/>
        </p:spPr>
        <p:txBody>
          <a:bodyPr wrap="square" lIns="0" tIns="0" rIns="0" bIns="0" rtlCol="0" anchor="ctr"/>
          <a:lstStyle/>
          <a:p>
            <a:pPr algn="ctr" indent="0" marL="0">
              <a:buNone/>
            </a:pPr>
            <a:r>
              <a:rPr lang="en-US" sz="1300" b="1" dirty="0">
                <a:solidFill>
                  <a:srgbClr val="9DB4CE"/>
                </a:solidFill>
                <a:latin typeface="Calibri" pitchFamily="34" charset="0"/>
                <a:ea typeface="Calibri" pitchFamily="34" charset="-122"/>
                <a:cs typeface="Calibri" pitchFamily="34" charset="-120"/>
              </a:rPr>
              <a:t>→</a:t>
            </a:r>
            <a:endParaRPr lang="en-US" sz="1300" dirty="0"/>
          </a:p>
        </p:txBody>
      </p:sp>
      <p:sp>
        <p:nvSpPr>
          <p:cNvPr id="47" name="Shape 40"/>
          <p:cNvSpPr/>
          <p:nvPr/>
        </p:nvSpPr>
        <p:spPr>
          <a:xfrm>
            <a:off x="9867900" y="4434840"/>
            <a:ext cx="1680972" cy="868680"/>
          </a:xfrm>
          <a:prstGeom prst="roundRect">
            <a:avLst>
              <a:gd name="adj" fmla="val 10526"/>
            </a:avLst>
          </a:prstGeom>
          <a:solidFill>
            <a:srgbClr val="FFFFFF"/>
          </a:solidFill>
          <a:ln w="9525">
            <a:solidFill>
              <a:srgbClr val="D6E4F5"/>
            </a:solidFill>
            <a:prstDash val="solid"/>
          </a:ln>
          <a:effectLst>
            <a:outerShdw sx="100000" sy="100000" kx="0" ky="0" algn="bl" rotWithShape="0" blurRad="114300" dist="38100" dir="5400000">
              <a:srgbClr val="0D2238">
                <a:alpha val="16000"/>
              </a:srgbClr>
            </a:outerShdw>
          </a:effectLst>
        </p:spPr>
      </p:sp>
      <p:sp>
        <p:nvSpPr>
          <p:cNvPr id="48" name="Text 41"/>
          <p:cNvSpPr txBox="1"/>
          <p:nvPr/>
        </p:nvSpPr>
        <p:spPr>
          <a:xfrm>
            <a:off x="9867900" y="4434840"/>
            <a:ext cx="1680972" cy="868680"/>
          </a:xfrm>
          <a:prstGeom prst="rect">
            <a:avLst/>
          </a:prstGeom>
          <a:noFill/>
          <a:ln/>
        </p:spPr>
        <p:txBody>
          <a:bodyPr wrap="square" lIns="0" tIns="0" rIns="0" bIns="0" rtlCol="0" anchor="ctr"/>
          <a:lstStyle/>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G5</a:t>
            </a:r>
            <a:endParaRPr lang="en-US" sz="1200" dirty="0"/>
          </a:p>
          <a:p>
            <a:pPr algn="ctr" indent="0" marL="0">
              <a:lnSpc>
                <a:spcPct val="115000"/>
              </a:lnSpc>
              <a:buNone/>
            </a:pPr>
            <a:r>
              <a:rPr lang="en-US" sz="1200" b="1" dirty="0">
                <a:solidFill>
                  <a:srgbClr val="0D2238"/>
                </a:solidFill>
                <a:latin typeface="Calibri" pitchFamily="34" charset="0"/>
                <a:ea typeface="Calibri" pitchFamily="34" charset="-122"/>
                <a:cs typeface="Calibri" pitchFamily="34" charset="-120"/>
              </a:rPr>
              <a:t>Accept</a:t>
            </a:r>
            <a:endParaRPr lang="en-US" sz="1200" dirty="0"/>
          </a:p>
        </p:txBody>
      </p:sp>
      <p:sp>
        <p:nvSpPr>
          <p:cNvPr id="49" name="Text 42"/>
          <p:cNvSpPr txBox="1"/>
          <p:nvPr/>
        </p:nvSpPr>
        <p:spPr>
          <a:xfrm>
            <a:off x="2485644" y="4142232"/>
            <a:ext cx="1680972" cy="237744"/>
          </a:xfrm>
          <a:prstGeom prst="rect">
            <a:avLst/>
          </a:prstGeom>
          <a:noFill/>
          <a:ln/>
        </p:spPr>
        <p:txBody>
          <a:bodyPr wrap="square" lIns="0" tIns="0" rIns="0" bIns="0" rtlCol="0" anchor="ctr"/>
          <a:lstStyle/>
          <a:p>
            <a:pPr algn="ctr" indent="0" marL="0">
              <a:buNone/>
            </a:pPr>
            <a:r>
              <a:rPr lang="en-US" sz="900" b="1" spc="100" kern="0" dirty="0">
                <a:solidFill>
                  <a:srgbClr val="005BEA"/>
                </a:solidFill>
                <a:latin typeface="Calibri" pitchFamily="34" charset="0"/>
                <a:ea typeface="Calibri" pitchFamily="34" charset="-122"/>
                <a:cs typeface="Calibri" pitchFamily="34" charset="-120"/>
              </a:rPr>
              <a:t>WE ARE HERE</a:t>
            </a:r>
            <a:endParaRPr lang="en-US" sz="900" dirty="0"/>
          </a:p>
        </p:txBody>
      </p:sp>
      <p:sp>
        <p:nvSpPr>
          <p:cNvPr id="50" name="Text 43"/>
          <p:cNvSpPr txBox="1"/>
          <p:nvPr/>
        </p:nvSpPr>
        <p:spPr>
          <a:xfrm>
            <a:off x="640080" y="5504688"/>
            <a:ext cx="10908792" cy="365760"/>
          </a:xfrm>
          <a:prstGeom prst="rect">
            <a:avLst/>
          </a:prstGeom>
          <a:noFill/>
          <a:ln/>
        </p:spPr>
        <p:txBody>
          <a:bodyPr wrap="square" lIns="0" tIns="0" rIns="0" bIns="0" rtlCol="0" anchor="ctr"/>
          <a:lstStyle/>
          <a:p>
            <a:pPr algn="ctr" indent="0" marL="0">
              <a:buNone/>
            </a:pPr>
            <a:r>
              <a:rPr lang="en-US" sz="1250" i="1" dirty="0">
                <a:solidFill>
                  <a:srgbClr val="5C6E82"/>
                </a:solidFill>
                <a:latin typeface="Calibri" pitchFamily="34" charset="0"/>
                <a:ea typeface="Calibri" pitchFamily="34" charset="-122"/>
                <a:cs typeface="Calibri" pitchFamily="34" charset="-120"/>
              </a:rPr>
              <a:t>Today: design &amp; independent review stage — implementation (actual coding) has not started yet.</a:t>
            </a:r>
            <a:endParaRPr lang="en-US" sz="1250" dirty="0"/>
          </a:p>
        </p:txBody>
      </p:sp>
      <p:sp>
        <p:nvSpPr>
          <p:cNvPr id="51" name="Text 44"/>
          <p:cNvSpPr txBox="1"/>
          <p:nvPr/>
        </p:nvSpPr>
        <p:spPr>
          <a:xfrm>
            <a:off x="640080" y="6492240"/>
            <a:ext cx="7315200" cy="274320"/>
          </a:xfrm>
          <a:prstGeom prst="rect">
            <a:avLst/>
          </a:prstGeom>
          <a:noFill/>
          <a:ln/>
        </p:spPr>
        <p:txBody>
          <a:bodyPr wrap="square" lIns="0" tIns="0" rIns="0" bIns="0" rtlCol="0" anchor="ctr"/>
          <a:lstStyle/>
          <a:p>
            <a:pPr indent="0" marL="0">
              <a:buNone/>
            </a:pPr>
            <a:r>
              <a:rPr lang="en-US" sz="900" dirty="0">
                <a:solidFill>
                  <a:srgbClr val="8CA0B6"/>
                </a:solidFill>
                <a:latin typeface="Calibri" pitchFamily="34" charset="0"/>
                <a:ea typeface="Calibri" pitchFamily="34" charset="-122"/>
                <a:cs typeface="Calibri" pitchFamily="34" charset="-120"/>
              </a:rPr>
              <a:t>AC Project  ·  Frontend Design Overview</a:t>
            </a:r>
            <a:endParaRPr lang="en-US" sz="900" dirty="0"/>
          </a:p>
        </p:txBody>
      </p:sp>
      <p:sp>
        <p:nvSpPr>
          <p:cNvPr id="52" name="Text 45"/>
          <p:cNvSpPr txBox="1"/>
          <p:nvPr/>
        </p:nvSpPr>
        <p:spPr>
          <a:xfrm>
            <a:off x="10972800" y="6492240"/>
            <a:ext cx="576072" cy="274320"/>
          </a:xfrm>
          <a:prstGeom prst="rect">
            <a:avLst/>
          </a:prstGeom>
          <a:noFill/>
          <a:ln/>
        </p:spPr>
        <p:txBody>
          <a:bodyPr wrap="square" lIns="0" tIns="0" rIns="0" bIns="0" rtlCol="0" anchor="ctr"/>
          <a:lstStyle/>
          <a:p>
            <a:pPr algn="r" indent="0" marL="0">
              <a:buNone/>
            </a:pPr>
            <a:r>
              <a:rPr lang="en-US" sz="900" dirty="0">
                <a:solidFill>
                  <a:srgbClr val="8CA0B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2238"/>
        </a:solidFill>
      </p:bgPr>
    </p:bg>
    <p:spTree>
      <p:nvGrpSpPr>
        <p:cNvPr id="1" name=""/>
        <p:cNvGrpSpPr/>
        <p:nvPr/>
      </p:nvGrpSpPr>
      <p:grpSpPr>
        <a:xfrm>
          <a:off x="0" y="0"/>
          <a:ext cx="0" cy="0"/>
          <a:chOff x="0" y="0"/>
          <a:chExt cx="0" cy="0"/>
        </a:xfrm>
      </p:grpSpPr>
      <p:pic>
        <p:nvPicPr>
          <p:cNvPr id="2" name="Image 0" descr="/private/tmp/claude-501/-Users-ji1wxs-PraditaProjects-AC-Project/3c2d6cf5-1769-4cbb-8b1c-24143069dbcc/scratchpad/icons/FiArrowUpRight_9DB4CE_300.png">    </p:cNvPr>
          <p:cNvPicPr>
            <a:picLocks noChangeAspect="1"/>
          </p:cNvPicPr>
          <p:nvPr/>
        </p:nvPicPr>
        <p:blipFill>
          <a:blip r:embed="rId1">
            <a:alphaModFix amt="18000"/>
          </a:blip>
          <a:stretch>
            <a:fillRect/>
          </a:stretch>
        </p:blipFill>
        <p:spPr>
          <a:xfrm>
            <a:off x="8778240" y="-548640"/>
            <a:ext cx="3291840" cy="3291840"/>
          </a:xfrm>
          <a:prstGeom prst="rect">
            <a:avLst/>
          </a:prstGeom>
        </p:spPr>
      </p:pic>
      <p:sp>
        <p:nvSpPr>
          <p:cNvPr id="3" name="Text 0"/>
          <p:cNvSpPr txBox="1"/>
          <p:nvPr/>
        </p:nvSpPr>
        <p:spPr>
          <a:xfrm>
            <a:off x="822960" y="685800"/>
            <a:ext cx="8229600" cy="274320"/>
          </a:xfrm>
          <a:prstGeom prst="rect">
            <a:avLst/>
          </a:prstGeom>
          <a:noFill/>
          <a:ln/>
        </p:spPr>
        <p:txBody>
          <a:bodyPr wrap="square" lIns="0" tIns="0" rIns="0" bIns="0" rtlCol="0" anchor="ctr"/>
          <a:lstStyle/>
          <a:p>
            <a:pPr indent="0" marL="0">
              <a:buNone/>
            </a:pPr>
            <a:r>
              <a:rPr lang="en-US" sz="1300" b="1" spc="250" kern="0" dirty="0">
                <a:solidFill>
                  <a:srgbClr val="8FB3EA"/>
                </a:solidFill>
                <a:latin typeface="Calibri" pitchFamily="34" charset="0"/>
                <a:ea typeface="Calibri" pitchFamily="34" charset="-122"/>
                <a:cs typeface="Calibri" pitchFamily="34" charset="-120"/>
              </a:rPr>
              <a:t>WHERE WE ARE</a:t>
            </a:r>
            <a:endParaRPr lang="en-US" sz="1300" dirty="0"/>
          </a:p>
        </p:txBody>
      </p:sp>
      <p:sp>
        <p:nvSpPr>
          <p:cNvPr id="4" name="Text 1"/>
          <p:cNvSpPr txBox="1"/>
          <p:nvPr/>
        </p:nvSpPr>
        <p:spPr>
          <a:xfrm>
            <a:off x="777240" y="960120"/>
            <a:ext cx="8686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Status &amp; Next Steps</a:t>
            </a:r>
            <a:endParaRPr lang="en-US" sz="3400" dirty="0"/>
          </a:p>
        </p:txBody>
      </p:sp>
      <p:sp>
        <p:nvSpPr>
          <p:cNvPr id="5" name="Text 2"/>
          <p:cNvSpPr txBox="1"/>
          <p:nvPr/>
        </p:nvSpPr>
        <p:spPr>
          <a:xfrm>
            <a:off x="822960" y="2011680"/>
            <a:ext cx="4937760" cy="274320"/>
          </a:xfrm>
          <a:prstGeom prst="rect">
            <a:avLst/>
          </a:prstGeom>
          <a:noFill/>
          <a:ln/>
        </p:spPr>
        <p:txBody>
          <a:bodyPr wrap="square" lIns="0" tIns="0" rIns="0" bIns="0" rtlCol="0" anchor="ctr"/>
          <a:lstStyle/>
          <a:p>
            <a:pPr indent="0" marL="0">
              <a:buNone/>
            </a:pPr>
            <a:r>
              <a:rPr lang="en-US" sz="1150" b="1" spc="150" kern="0" dirty="0">
                <a:solidFill>
                  <a:srgbClr val="FF7A45"/>
                </a:solidFill>
                <a:latin typeface="Calibri" pitchFamily="34" charset="0"/>
                <a:ea typeface="Calibri" pitchFamily="34" charset="-122"/>
                <a:cs typeface="Calibri" pitchFamily="34" charset="-120"/>
              </a:rPr>
              <a:t>CURRENT STATUS</a:t>
            </a:r>
            <a:endParaRPr lang="en-US" sz="1150" dirty="0"/>
          </a:p>
        </p:txBody>
      </p:sp>
      <p:pic>
        <p:nvPicPr>
          <p:cNvPr id="6" name="Image 1" descr="/private/tmp/claude-501/-Users-ji1wxs-PraditaProjects-AC-Project/3c2d6cf5-1769-4cbb-8b1c-24143069dbcc/scratchpad/icons/FiCheckCircle_FFFFFF_300.png">    </p:cNvPr>
          <p:cNvPicPr>
            <a:picLocks noChangeAspect="1"/>
          </p:cNvPicPr>
          <p:nvPr/>
        </p:nvPicPr>
        <p:blipFill>
          <a:blip r:embed="rId2"/>
          <a:stretch>
            <a:fillRect/>
          </a:stretch>
        </p:blipFill>
        <p:spPr>
          <a:xfrm>
            <a:off x="822960" y="2404872"/>
            <a:ext cx="219456" cy="219456"/>
          </a:xfrm>
          <a:prstGeom prst="rect">
            <a:avLst/>
          </a:prstGeom>
        </p:spPr>
      </p:pic>
      <p:sp>
        <p:nvSpPr>
          <p:cNvPr id="7" name="Text 3"/>
          <p:cNvSpPr txBox="1"/>
          <p:nvPr/>
        </p:nvSpPr>
        <p:spPr>
          <a:xfrm>
            <a:off x="1170432" y="2304288"/>
            <a:ext cx="4526280" cy="685800"/>
          </a:xfrm>
          <a:prstGeom prst="rect">
            <a:avLst/>
          </a:prstGeom>
          <a:noFill/>
          <a:ln/>
        </p:spPr>
        <p:txBody>
          <a:bodyPr wrap="square" lIns="0" tIns="0" rIns="0" bIns="0" rtlCol="0" anchor="ctr"/>
          <a:lstStyle/>
          <a:p>
            <a:pPr indent="0" marL="0">
              <a:lnSpc>
                <a:spcPct val="120000"/>
              </a:lnSpc>
              <a:buNone/>
            </a:pPr>
            <a:r>
              <a:rPr lang="en-US" sz="1300" dirty="0">
                <a:solidFill>
                  <a:srgbClr val="D6E4F5"/>
                </a:solidFill>
                <a:latin typeface="Calibri" pitchFamily="34" charset="0"/>
                <a:ea typeface="Calibri" pitchFamily="34" charset="-122"/>
                <a:cs typeface="Calibri" pitchFamily="34" charset="-120"/>
              </a:rPr>
              <a:t>Version 0.21.0 — English translation of the finalized specification baseline</a:t>
            </a:r>
            <a:endParaRPr lang="en-US" sz="1300" dirty="0"/>
          </a:p>
        </p:txBody>
      </p:sp>
      <p:pic>
        <p:nvPicPr>
          <p:cNvPr id="8" name="Image 2" descr="/private/tmp/claude-501/-Users-ji1wxs-PraditaProjects-AC-Project/3c2d6cf5-1769-4cbb-8b1c-24143069dbcc/scratchpad/icons/FiCheckCircle_FFFFFF_300.png">    </p:cNvPr>
          <p:cNvPicPr>
            <a:picLocks noChangeAspect="1"/>
          </p:cNvPicPr>
          <p:nvPr/>
        </p:nvPicPr>
        <p:blipFill>
          <a:blip r:embed="rId3"/>
          <a:stretch>
            <a:fillRect/>
          </a:stretch>
        </p:blipFill>
        <p:spPr>
          <a:xfrm>
            <a:off x="822960" y="3273552"/>
            <a:ext cx="219456" cy="219456"/>
          </a:xfrm>
          <a:prstGeom prst="rect">
            <a:avLst/>
          </a:prstGeom>
        </p:spPr>
      </p:pic>
      <p:sp>
        <p:nvSpPr>
          <p:cNvPr id="9" name="Text 4"/>
          <p:cNvSpPr txBox="1"/>
          <p:nvPr/>
        </p:nvSpPr>
        <p:spPr>
          <a:xfrm>
            <a:off x="1170432" y="3172968"/>
            <a:ext cx="4526280" cy="685800"/>
          </a:xfrm>
          <a:prstGeom prst="rect">
            <a:avLst/>
          </a:prstGeom>
          <a:noFill/>
          <a:ln/>
        </p:spPr>
        <p:txBody>
          <a:bodyPr wrap="square" lIns="0" tIns="0" rIns="0" bIns="0" rtlCol="0" anchor="ctr"/>
          <a:lstStyle/>
          <a:p>
            <a:pPr indent="0" marL="0">
              <a:lnSpc>
                <a:spcPct val="120000"/>
              </a:lnSpc>
              <a:buNone/>
            </a:pPr>
            <a:r>
              <a:rPr lang="en-US" sz="1300" dirty="0">
                <a:solidFill>
                  <a:srgbClr val="D6E4F5"/>
                </a:solidFill>
                <a:latin typeface="Calibri" pitchFamily="34" charset="0"/>
                <a:ea typeface="Calibri" pitchFamily="34" charset="-122"/>
                <a:cs typeface="Calibri" pitchFamily="34" charset="-120"/>
              </a:rPr>
              <a:t>Multiple rounds of independent AI review &amp; correction completed</a:t>
            </a:r>
            <a:endParaRPr lang="en-US" sz="1300" dirty="0"/>
          </a:p>
        </p:txBody>
      </p:sp>
      <p:sp>
        <p:nvSpPr>
          <p:cNvPr id="10" name="Text 5"/>
          <p:cNvSpPr txBox="1"/>
          <p:nvPr/>
        </p:nvSpPr>
        <p:spPr>
          <a:xfrm>
            <a:off x="6263640" y="2011680"/>
            <a:ext cx="4937760" cy="274320"/>
          </a:xfrm>
          <a:prstGeom prst="rect">
            <a:avLst/>
          </a:prstGeom>
          <a:noFill/>
          <a:ln/>
        </p:spPr>
        <p:txBody>
          <a:bodyPr wrap="square" lIns="0" tIns="0" rIns="0" bIns="0" rtlCol="0" anchor="ctr"/>
          <a:lstStyle/>
          <a:p>
            <a:pPr indent="0" marL="0">
              <a:buNone/>
            </a:pPr>
            <a:r>
              <a:rPr lang="en-US" sz="1150" b="1" spc="150" kern="0" dirty="0">
                <a:solidFill>
                  <a:srgbClr val="FF7A45"/>
                </a:solidFill>
                <a:latin typeface="Calibri" pitchFamily="34" charset="0"/>
                <a:ea typeface="Calibri" pitchFamily="34" charset="-122"/>
                <a:cs typeface="Calibri" pitchFamily="34" charset="-120"/>
              </a:rPr>
              <a:t>NEXT STEPS</a:t>
            </a:r>
            <a:endParaRPr lang="en-US" sz="1150" dirty="0"/>
          </a:p>
        </p:txBody>
      </p:sp>
      <p:sp>
        <p:nvSpPr>
          <p:cNvPr id="11" name="Shape 6"/>
          <p:cNvSpPr/>
          <p:nvPr/>
        </p:nvSpPr>
        <p:spPr>
          <a:xfrm>
            <a:off x="6263640" y="2377440"/>
            <a:ext cx="292608" cy="292608"/>
          </a:xfrm>
          <a:prstGeom prst="ellipse">
            <a:avLst/>
          </a:prstGeom>
          <a:solidFill>
            <a:srgbClr val="005BEA"/>
          </a:solidFill>
          <a:ln/>
        </p:spPr>
      </p:sp>
      <p:sp>
        <p:nvSpPr>
          <p:cNvPr id="12" name="Text 7"/>
          <p:cNvSpPr txBox="1"/>
          <p:nvPr/>
        </p:nvSpPr>
        <p:spPr>
          <a:xfrm>
            <a:off x="6263640" y="23774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8"/>
          <p:cNvSpPr txBox="1"/>
          <p:nvPr/>
        </p:nvSpPr>
        <p:spPr>
          <a:xfrm>
            <a:off x="6693408" y="2359152"/>
            <a:ext cx="4480560" cy="457200"/>
          </a:xfrm>
          <a:prstGeom prst="rect">
            <a:avLst/>
          </a:prstGeom>
          <a:noFill/>
          <a:ln/>
        </p:spPr>
        <p:txBody>
          <a:bodyPr wrap="square" lIns="0" tIns="0" rIns="0" bIns="0" rtlCol="0" anchor="ctr"/>
          <a:lstStyle/>
          <a:p>
            <a:pPr indent="0" marL="0">
              <a:buNone/>
            </a:pPr>
            <a:r>
              <a:rPr lang="en-US" sz="1300" dirty="0">
                <a:solidFill>
                  <a:srgbClr val="D6E4F5"/>
                </a:solidFill>
                <a:latin typeface="Calibri" pitchFamily="34" charset="0"/>
                <a:ea typeface="Calibri" pitchFamily="34" charset="-122"/>
                <a:cs typeface="Calibri" pitchFamily="34" charset="-120"/>
              </a:rPr>
              <a:t>Independent G1 re-assessment of the English baseline</a:t>
            </a:r>
            <a:endParaRPr lang="en-US" sz="1300" dirty="0"/>
          </a:p>
        </p:txBody>
      </p:sp>
      <p:sp>
        <p:nvSpPr>
          <p:cNvPr id="14" name="Shape 9"/>
          <p:cNvSpPr/>
          <p:nvPr/>
        </p:nvSpPr>
        <p:spPr>
          <a:xfrm>
            <a:off x="6263640" y="2971800"/>
            <a:ext cx="292608" cy="292608"/>
          </a:xfrm>
          <a:prstGeom prst="ellipse">
            <a:avLst/>
          </a:prstGeom>
          <a:solidFill>
            <a:srgbClr val="005BEA"/>
          </a:solidFill>
          <a:ln/>
        </p:spPr>
      </p:sp>
      <p:sp>
        <p:nvSpPr>
          <p:cNvPr id="15" name="Text 10"/>
          <p:cNvSpPr txBox="1"/>
          <p:nvPr/>
        </p:nvSpPr>
        <p:spPr>
          <a:xfrm>
            <a:off x="6263640" y="29718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1"/>
          <p:cNvSpPr txBox="1"/>
          <p:nvPr/>
        </p:nvSpPr>
        <p:spPr>
          <a:xfrm>
            <a:off x="6693408" y="2953512"/>
            <a:ext cx="4480560" cy="457200"/>
          </a:xfrm>
          <a:prstGeom prst="rect">
            <a:avLst/>
          </a:prstGeom>
          <a:noFill/>
          <a:ln/>
        </p:spPr>
        <p:txBody>
          <a:bodyPr wrap="square" lIns="0" tIns="0" rIns="0" bIns="0" rtlCol="0" anchor="ctr"/>
          <a:lstStyle/>
          <a:p>
            <a:pPr indent="0" marL="0">
              <a:buNone/>
            </a:pPr>
            <a:r>
              <a:rPr lang="en-US" sz="1300" dirty="0">
                <a:solidFill>
                  <a:srgbClr val="D6E4F5"/>
                </a:solidFill>
                <a:latin typeface="Calibri" pitchFamily="34" charset="0"/>
                <a:ea typeface="Calibri" pitchFamily="34" charset="-122"/>
                <a:cs typeface="Calibri" pitchFamily="34" charset="-120"/>
              </a:rPr>
              <a:t>Formal business acceptance decision</a:t>
            </a:r>
            <a:endParaRPr lang="en-US" sz="1300" dirty="0"/>
          </a:p>
        </p:txBody>
      </p:sp>
      <p:sp>
        <p:nvSpPr>
          <p:cNvPr id="17" name="Shape 12"/>
          <p:cNvSpPr/>
          <p:nvPr/>
        </p:nvSpPr>
        <p:spPr>
          <a:xfrm>
            <a:off x="6263640" y="3566160"/>
            <a:ext cx="292608" cy="292608"/>
          </a:xfrm>
          <a:prstGeom prst="ellipse">
            <a:avLst/>
          </a:prstGeom>
          <a:solidFill>
            <a:srgbClr val="005BEA"/>
          </a:solidFill>
          <a:ln/>
        </p:spPr>
      </p:sp>
      <p:sp>
        <p:nvSpPr>
          <p:cNvPr id="18" name="Text 13"/>
          <p:cNvSpPr txBox="1"/>
          <p:nvPr/>
        </p:nvSpPr>
        <p:spPr>
          <a:xfrm>
            <a:off x="6263640" y="35661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4"/>
          <p:cNvSpPr txBox="1"/>
          <p:nvPr/>
        </p:nvSpPr>
        <p:spPr>
          <a:xfrm>
            <a:off x="6693408" y="3547872"/>
            <a:ext cx="4480560" cy="457200"/>
          </a:xfrm>
          <a:prstGeom prst="rect">
            <a:avLst/>
          </a:prstGeom>
          <a:noFill/>
          <a:ln/>
        </p:spPr>
        <p:txBody>
          <a:bodyPr wrap="square" lIns="0" tIns="0" rIns="0" bIns="0" rtlCol="0" anchor="ctr"/>
          <a:lstStyle/>
          <a:p>
            <a:pPr indent="0" marL="0">
              <a:buNone/>
            </a:pPr>
            <a:r>
              <a:rPr lang="en-US" sz="1300" dirty="0">
                <a:solidFill>
                  <a:srgbClr val="D6E4F5"/>
                </a:solidFill>
                <a:latin typeface="Calibri" pitchFamily="34" charset="0"/>
                <a:ea typeface="Calibri" pitchFamily="34" charset="-122"/>
                <a:cs typeface="Calibri" pitchFamily="34" charset="-120"/>
              </a:rPr>
              <a:t>Implementation begins</a:t>
            </a:r>
            <a:endParaRPr lang="en-US" sz="1300" dirty="0"/>
          </a:p>
        </p:txBody>
      </p:sp>
      <p:sp>
        <p:nvSpPr>
          <p:cNvPr id="20" name="Shape 15"/>
          <p:cNvSpPr/>
          <p:nvPr/>
        </p:nvSpPr>
        <p:spPr>
          <a:xfrm>
            <a:off x="841248" y="5074920"/>
            <a:ext cx="10515600" cy="0"/>
          </a:xfrm>
          <a:prstGeom prst="line">
            <a:avLst/>
          </a:prstGeom>
          <a:noFill/>
          <a:ln w="12700">
            <a:solidFill>
              <a:srgbClr val="24405E"/>
            </a:solidFill>
            <a:prstDash val="solid"/>
          </a:ln>
        </p:spPr>
      </p:sp>
      <p:sp>
        <p:nvSpPr>
          <p:cNvPr id="21" name="Text 16"/>
          <p:cNvSpPr txBox="1"/>
          <p:nvPr/>
        </p:nvSpPr>
        <p:spPr>
          <a:xfrm>
            <a:off x="822960" y="5257800"/>
            <a:ext cx="10515600" cy="457200"/>
          </a:xfrm>
          <a:prstGeom prst="rect">
            <a:avLst/>
          </a:prstGeom>
          <a:noFill/>
          <a:ln/>
        </p:spPr>
        <p:txBody>
          <a:bodyPr wrap="square" lIns="0" tIns="0" rIns="0" bIns="0" rtlCol="0" anchor="ctr"/>
          <a:lstStyle/>
          <a:p>
            <a:pPr indent="0" marL="0">
              <a:buNone/>
            </a:pPr>
            <a:r>
              <a:rPr lang="en-US" sz="1400" i="1" dirty="0">
                <a:solidFill>
                  <a:srgbClr val="9DB4CE"/>
                </a:solidFill>
                <a:latin typeface="Calibri" pitchFamily="34" charset="0"/>
                <a:ea typeface="Calibri" pitchFamily="34" charset="-122"/>
                <a:cs typeface="Calibri" pitchFamily="34" charset="-120"/>
              </a:rPr>
              <a:t>Full detail — every acceptance test and edge case — lives in the five source documents.</a:t>
            </a:r>
            <a:endParaRPr lang="en-US" sz="1400" dirty="0"/>
          </a:p>
        </p:txBody>
      </p:sp>
      <p:sp>
        <p:nvSpPr>
          <p:cNvPr id="22" name="Text 17"/>
          <p:cNvSpPr txBox="1"/>
          <p:nvPr/>
        </p:nvSpPr>
        <p:spPr>
          <a:xfrm>
            <a:off x="822960" y="5989320"/>
            <a:ext cx="54864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2026-09-18T05:25:46Z</dcterms:created>
  <dcterms:modified xsi:type="dcterms:W3CDTF">2026-09-18T05:25:46Z</dcterms:modified>
</cp:coreProperties>
</file>